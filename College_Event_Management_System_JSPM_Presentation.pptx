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final-year project: a web application for publishing JSPM campus events, registering students, and helping administrators manage participation. Replace the editable presenter and guide placeholders before presenting. Campus photograph and logo are supplied in the user’s project folder.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system in one minute. The website has a public student-facing event listing and a protected administration area. It stores event and participant data in MySQL.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project goals rather than claiming that it replaces every campus communication channel. The current scope covers event discovery, registration, administration, and a CSV summary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uses HTML, CSS, Bootstrap, and JavaScript in the browser. Flask handles routes and application logic. MySQL stores users, events, students, and registrations. The web app connects to MySQL using the Python MySQL connector.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student side does not require an account in the current project flow. Admin accounts are created separately, then use the login form. All admins work with the same event and registration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student journey. The application checks the event capacity under a transaction and the database has a unique student-event constraint. A successful registration creates or updates the student record and inserts the registration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administration sequence. The admin_required decorator redirects users who are not signed in. Admin actions include event management, participant lists, and CSV reports.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architecture from left to right. The browser sends requests to Flask. Flask reads and writes MySQL records, and serves event image files from the static uploads folder. The report route returns a CSV download.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four tables and their responsibilities. Registrations contains foreign keys to students and events, making the relationship many-to-many through the registration records. The unique student-event key blocks duplicate registrations.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event form captures the details students need to decide whether to attend. Uploaded artwork from the project’s static uploads folder illustrates event imagery; it is cropped to keep poster contact details out of the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endpoint calculates a count per event using a left join and returns a CSV file. The participant page separately shows student details for a selected event. Do not present the CSV as a full participant-detail export; the current CSV is an event summary.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safeguards visible in the Python and SQL code. The presentation does not claim a formal security audit. For a real deployment, the default Flask secret should be replaced with a private value and debug mode should be disabled.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these as future enhancements, not as features that are already implemented. A production release would also require deployment configuration, secure secrets, HTTPS, backups, and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summarizing the system’s main contribution: event information, student registration, and administrator reporting in a single web application. Invite questions. Campus image and logo are supplied with the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C18F21-992D-44DA-A9B1-0CA46999627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5E574FB-0DFA-4672-8DE0-BEBD4AB8A3A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8445DCA-1BF0-4FE3-8249-3B2C1B7E36B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CA880A-B413-4817-84A6-2916654F0A2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7161E8E-2B1C-49B2-9C05-B0C0664C592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FACAEAC-37E5-4400-8347-A8A9D76BE3C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BB04730-B60D-4687-A2CC-03A207BBD2E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CB485706-45C8-4C46-A993-9A9F1C15CDB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74D65B-C169-4891-9EAF-9466C49417D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B545D32-BB5F-4EBF-B8FE-2C9518DB8E1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4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963D7FB-E3A8-4BA0-BC61-C99FDED8DCCE}"/>
              </a:ext>
            </a:extLst>
          </p:cNvPr>
          <p:cNvSpPr>
            <a:spLocks noGrp="1"/>
          </p:cNvSpPr>
          <p:nvPr/>
        </p:nvSpPr>
        <p:spPr>
          <a:xfrm>
            <a:off x="0" y="0"/>
            <a:ext cx="5715000" cy="6858000"/>
          </a:xfrm>
          <a:prstGeom prst="rect">
            <a:avLst/>
          </a:prstGeom>
          <a:solidFill>
            <a:srgbClr val="102B4D"/>
          </a:solidFill>
          <a:ln w="0">
            <a:noFill/>
            <a:prstDash val="solid"/>
          </a:ln>
        </p:spPr>
      </p:sp>
      <p:pic>
        <p:nvPicPr>
          <p:cNvPr id="2" name="Picture 1">
            <a:extLst>
              <a:ext uri="{FF2B5EF4-FFF2-40B4-BE49-F238E27FC236}">
                <a16:creationId xmlns:a16="http://schemas.microsoft.com/office/drawing/2014/main" id="{1656641F-6D04-4D93-8764-8C117DA2F0E5}"/>
              </a:ext>
            </a:extLst>
          </p:cNvPr>
          <p:cNvPicPr>
            <a:picLocks noChangeAspect="1"/>
          </p:cNvPicPr>
          <p:nvPr/>
        </p:nvPicPr>
        <p:blipFill>
          <a:blip r:embed="rId3"/>
          <a:srcRect l="18565" r="18565"/>
          <a:stretch>
            <a:fillRect/>
          </a:stretch>
        </p:blipFill>
        <p:spPr>
          <a:xfrm>
            <a:off x="5715000" y="0"/>
            <a:ext cx="6477000" cy="6858000"/>
          </a:xfrm>
          <a:prstGeom prst="rect">
            <a:avLst/>
          </a:prstGeom>
        </p:spPr>
      </p:pic>
      <p:sp>
        <p:nvSpPr>
          <p:cNvPr id="3" name="Rectangle 2">
            <a:extLst>
              <a:ext uri="{FF2B5EF4-FFF2-40B4-BE49-F238E27FC236}">
                <a16:creationId xmlns:a16="http://schemas.microsoft.com/office/drawing/2014/main" id="{D0E5011D-2A9E-4ED5-8F73-A5D506D661C0}"/>
              </a:ext>
            </a:extLst>
          </p:cNvPr>
          <p:cNvSpPr>
            <a:spLocks noGrp="1"/>
          </p:cNvSpPr>
          <p:nvPr/>
        </p:nvSpPr>
        <p:spPr>
          <a:xfrm>
            <a:off x="5715000" y="0"/>
            <a:ext cx="6477000" cy="6858000"/>
          </a:xfrm>
          <a:prstGeom prst="rect">
            <a:avLst/>
          </a:prstGeom>
          <a:solidFill>
            <a:srgbClr val="102B4D">
              <a:alpha val="28000"/>
            </a:srgbClr>
          </a:solidFill>
          <a:ln w="0">
            <a:noFill/>
            <a:prstDash val="solid"/>
          </a:ln>
        </p:spPr>
      </p:sp>
      <p:pic>
        <p:nvPicPr>
          <p:cNvPr id="4" name="Picture 3">
            <a:extLst>
              <a:ext uri="{FF2B5EF4-FFF2-40B4-BE49-F238E27FC236}">
                <a16:creationId xmlns:a16="http://schemas.microsoft.com/office/drawing/2014/main" id="{E38B70E7-34BB-40F8-B00D-C3523251AC5C}"/>
              </a:ext>
            </a:extLst>
          </p:cNvPr>
          <p:cNvPicPr>
            <a:picLocks noChangeAspect="1"/>
          </p:cNvPicPr>
          <p:nvPr/>
        </p:nvPicPr>
        <p:blipFill>
          <a:blip r:embed="rId4"/>
          <a:stretch/>
        </p:blipFill>
        <p:spPr>
          <a:xfrm>
            <a:off x="736562" y="628650"/>
            <a:ext cx="546176" cy="685800"/>
          </a:xfrm>
          <a:prstGeom prst="rect">
            <a:avLst/>
          </a:prstGeom>
        </p:spPr>
      </p:pic>
      <p:sp>
        <p:nvSpPr>
          <p:cNvPr id="5" name="Rectangle 4">
            <a:extLst>
              <a:ext uri="{FF2B5EF4-FFF2-40B4-BE49-F238E27FC236}">
                <a16:creationId xmlns:a16="http://schemas.microsoft.com/office/drawing/2014/main" id="{ED5F6181-A664-40BD-9461-4B14CF3616F0}"/>
              </a:ext>
            </a:extLst>
          </p:cNvPr>
          <p:cNvSpPr>
            <a:spLocks noGrp="1"/>
          </p:cNvSpPr>
          <p:nvPr/>
        </p:nvSpPr>
        <p:spPr>
          <a:xfrm>
            <a:off x="1562100" y="723900"/>
            <a:ext cx="3524250" cy="190500"/>
          </a:xfrm>
          <a:prstGeom prst="rect">
            <a:avLst/>
          </a:prstGeom>
          <a:noFill/>
          <a:ln w="0">
            <a:noFill/>
            <a:prstDash val="solid"/>
          </a:ln>
        </p:spPr>
        <p:txBody>
          <a:bodyPr wrap="square" lIns="0" tIns="0" rIns="0" bIns="0" anchor="t">
            <a:normAutofit/>
          </a:bodyPr>
          <a:lstStyle>
            <a:defPPr algn="l">
              <a:defRPr sz="1125" b="1">
                <a:solidFill>
                  <a:srgbClr val="D9E6FF"/>
                </a:solidFill>
                <a:latin typeface="Arial"/>
                <a:ea typeface="Arial"/>
                <a:cs typeface="Arial"/>
              </a:defRPr>
            </a:defPPr>
          </a:lstStyle>
          <a:p>
            <a:pPr algn="l">
              <a:defRPr sz="1125" b="1">
                <a:solidFill>
                  <a:srgbClr val="D9E6FF"/>
                </a:solidFill>
                <a:latin typeface="Arial"/>
                <a:ea typeface="Arial"/>
                <a:cs typeface="Arial"/>
              </a:defRPr>
            </a:pPr>
            <a:r>
              <a:rPr sz="1125" b="1">
                <a:solidFill>
                  <a:srgbClr val="D9E6FF"/>
                </a:solidFill>
                <a:latin typeface="Arial"/>
                <a:ea typeface="Arial"/>
                <a:cs typeface="Arial"/>
              </a:rPr>
              <a:t>JSPM UNIVERSITY PUNE</a:t>
            </a:r>
          </a:p>
        </p:txBody>
      </p:sp>
      <p:sp>
        <p:nvSpPr>
          <p:cNvPr id="6" name="Rectangle 5">
            <a:extLst>
              <a:ext uri="{FF2B5EF4-FFF2-40B4-BE49-F238E27FC236}">
                <a16:creationId xmlns:a16="http://schemas.microsoft.com/office/drawing/2014/main" id="{06ED6DDA-4AEE-48A9-9D4C-D2F73AC1938E}"/>
              </a:ext>
            </a:extLst>
          </p:cNvPr>
          <p:cNvSpPr>
            <a:spLocks noGrp="1"/>
          </p:cNvSpPr>
          <p:nvPr/>
        </p:nvSpPr>
        <p:spPr>
          <a:xfrm>
            <a:off x="666750" y="1943100"/>
            <a:ext cx="4381500" cy="238125"/>
          </a:xfrm>
          <a:prstGeom prst="rect">
            <a:avLst/>
          </a:prstGeom>
          <a:noFill/>
          <a:ln w="0">
            <a:noFill/>
            <a:prstDash val="solid"/>
          </a:ln>
        </p:spPr>
        <p:txBody>
          <a:bodyPr wrap="square" lIns="0" tIns="0" rIns="0" bIns="0" anchor="t">
            <a:normAutofit/>
          </a:bodyPr>
          <a:lstStyle>
            <a:defPPr algn="l">
              <a:defRPr sz="1125" b="1">
                <a:solidFill>
                  <a:srgbClr val="F4BD54"/>
                </a:solidFill>
                <a:latin typeface="Arial"/>
                <a:ea typeface="Arial"/>
                <a:cs typeface="Arial"/>
              </a:defRPr>
            </a:defPPr>
          </a:lstStyle>
          <a:p>
            <a:pPr algn="l">
              <a:defRPr sz="1125" b="1">
                <a:solidFill>
                  <a:srgbClr val="F4BD54"/>
                </a:solidFill>
                <a:latin typeface="Arial"/>
                <a:ea typeface="Arial"/>
                <a:cs typeface="Arial"/>
              </a:defRPr>
            </a:pPr>
            <a:r>
              <a:rPr sz="1125" b="1">
                <a:solidFill>
                  <a:srgbClr val="F4BD54"/>
                </a:solidFill>
                <a:latin typeface="Arial"/>
                <a:ea typeface="Arial"/>
                <a:cs typeface="Arial"/>
              </a:rPr>
              <a:t>FINAL-YEAR PROJECT</a:t>
            </a:r>
          </a:p>
        </p:txBody>
      </p:sp>
      <p:sp>
        <p:nvSpPr>
          <p:cNvPr id="7" name="Rectangle 6">
            <a:extLst>
              <a:ext uri="{FF2B5EF4-FFF2-40B4-BE49-F238E27FC236}">
                <a16:creationId xmlns:a16="http://schemas.microsoft.com/office/drawing/2014/main" id="{EF99968B-D7CC-4C8D-BD6C-6B5E3F12BD60}"/>
              </a:ext>
            </a:extLst>
          </p:cNvPr>
          <p:cNvSpPr>
            <a:spLocks noGrp="1"/>
          </p:cNvSpPr>
          <p:nvPr/>
        </p:nvSpPr>
        <p:spPr>
          <a:xfrm>
            <a:off x="666750" y="2343150"/>
            <a:ext cx="4762500" cy="2095500"/>
          </a:xfrm>
          <a:prstGeom prst="rect">
            <a:avLst/>
          </a:prstGeom>
          <a:noFill/>
          <a:ln w="0">
            <a:noFill/>
            <a:prstDash val="solid"/>
          </a:ln>
        </p:spPr>
        <p:txBody>
          <a:bodyPr wrap="square" lIns="0" tIns="0" rIns="0" bIns="0" anchor="t">
            <a:normAutofit/>
          </a:bodyPr>
          <a:lstStyle>
            <a:defPPr algn="l">
              <a:defRPr sz="4200" b="1">
                <a:solidFill>
                  <a:srgbClr val="FFFFFF"/>
                </a:solidFill>
                <a:latin typeface="Arial"/>
                <a:ea typeface="Arial"/>
                <a:cs typeface="Arial"/>
              </a:defRPr>
            </a:defPPr>
          </a:lstStyle>
          <a:p>
            <a:pPr algn="l">
              <a:lnSpc>
                <a:spcPct val="94000"/>
              </a:lnSpc>
              <a:buNone/>
              <a:defRPr sz="4200" b="1">
                <a:solidFill>
                  <a:srgbClr val="FFFFFF"/>
                </a:solidFill>
                <a:latin typeface="Arial"/>
                <a:ea typeface="Arial"/>
                <a:cs typeface="Arial"/>
              </a:defRPr>
            </a:pPr>
            <a:r>
              <a:rPr sz="4200" b="1">
                <a:solidFill>
                  <a:srgbClr val="FFFFFF"/>
                </a:solidFill>
                <a:latin typeface="Arial"/>
                <a:ea typeface="Arial"/>
                <a:cs typeface="Arial"/>
              </a:rPr>
              <a:t>College Event</a:t>
            </a:r>
          </a:p>
          <a:p>
            <a:pPr algn="l">
              <a:lnSpc>
                <a:spcPct val="94000"/>
              </a:lnSpc>
              <a:buNone/>
              <a:defRPr sz="4200" b="1">
                <a:solidFill>
                  <a:srgbClr val="FFFFFF"/>
                </a:solidFill>
                <a:latin typeface="Arial"/>
                <a:ea typeface="Arial"/>
                <a:cs typeface="Arial"/>
              </a:defRPr>
            </a:pPr>
            <a:r>
              <a:rPr sz="4200" b="1">
                <a:solidFill>
                  <a:srgbClr val="FFFFFF"/>
                </a:solidFill>
                <a:latin typeface="Arial"/>
                <a:ea typeface="Arial"/>
                <a:cs typeface="Arial"/>
              </a:rPr>
              <a:t>Management</a:t>
            </a:r>
          </a:p>
          <a:p>
            <a:pPr algn="l">
              <a:lnSpc>
                <a:spcPct val="94000"/>
              </a:lnSpc>
              <a:buNone/>
              <a:defRPr sz="4200" b="1">
                <a:solidFill>
                  <a:srgbClr val="FFFFFF"/>
                </a:solidFill>
                <a:latin typeface="Arial"/>
                <a:ea typeface="Arial"/>
                <a:cs typeface="Arial"/>
              </a:defRPr>
            </a:pPr>
            <a:r>
              <a:rPr sz="4200" b="1">
                <a:solidFill>
                  <a:srgbClr val="FFFFFF"/>
                </a:solidFill>
                <a:latin typeface="Arial"/>
                <a:ea typeface="Arial"/>
                <a:cs typeface="Arial"/>
              </a:rPr>
              <a:t>System</a:t>
            </a:r>
          </a:p>
        </p:txBody>
      </p:sp>
      <p:sp>
        <p:nvSpPr>
          <p:cNvPr id="8" name="Rectangle 7">
            <a:extLst>
              <a:ext uri="{FF2B5EF4-FFF2-40B4-BE49-F238E27FC236}">
                <a16:creationId xmlns:a16="http://schemas.microsoft.com/office/drawing/2014/main" id="{07D617E4-7441-46E9-B456-2A1CAB16BDE1}"/>
              </a:ext>
            </a:extLst>
          </p:cNvPr>
          <p:cNvSpPr>
            <a:spLocks noGrp="1"/>
          </p:cNvSpPr>
          <p:nvPr/>
        </p:nvSpPr>
        <p:spPr>
          <a:xfrm>
            <a:off x="666750" y="4695825"/>
            <a:ext cx="723900" cy="47625"/>
          </a:xfrm>
          <a:prstGeom prst="rect">
            <a:avLst/>
          </a:prstGeom>
          <a:solidFill>
            <a:srgbClr val="11A8A0"/>
          </a:solidFill>
          <a:ln w="0">
            <a:noFill/>
            <a:prstDash val="solid"/>
          </a:ln>
        </p:spPr>
      </p:sp>
      <p:sp>
        <p:nvSpPr>
          <p:cNvPr id="9" name="Rectangle 8">
            <a:extLst>
              <a:ext uri="{FF2B5EF4-FFF2-40B4-BE49-F238E27FC236}">
                <a16:creationId xmlns:a16="http://schemas.microsoft.com/office/drawing/2014/main" id="{33975B8D-B2F0-4149-8831-B875E7051B25}"/>
              </a:ext>
            </a:extLst>
          </p:cNvPr>
          <p:cNvSpPr>
            <a:spLocks noGrp="1"/>
          </p:cNvSpPr>
          <p:nvPr/>
        </p:nvSpPr>
        <p:spPr>
          <a:xfrm>
            <a:off x="666750" y="4972050"/>
            <a:ext cx="4286250" cy="619125"/>
          </a:xfrm>
          <a:prstGeom prst="rect">
            <a:avLst/>
          </a:prstGeom>
          <a:noFill/>
          <a:ln w="0">
            <a:noFill/>
            <a:prstDash val="solid"/>
          </a:ln>
        </p:spPr>
        <p:txBody>
          <a:bodyPr wrap="square" lIns="0" tIns="0" rIns="0" bIns="0" anchor="t">
            <a:normAutofit/>
          </a:bodyPr>
          <a:lstStyle>
            <a:defPPr algn="l">
              <a:defRPr sz="1575" b="0">
                <a:solidFill>
                  <a:srgbClr val="D8E2F0"/>
                </a:solidFill>
                <a:latin typeface="Arial"/>
                <a:ea typeface="Arial"/>
                <a:cs typeface="Arial"/>
              </a:defRPr>
            </a:defPPr>
          </a:lstStyle>
          <a:p>
            <a:pPr algn="l">
              <a:defRPr sz="1575" b="0">
                <a:solidFill>
                  <a:srgbClr val="D8E2F0"/>
                </a:solidFill>
                <a:latin typeface="Arial"/>
                <a:ea typeface="Arial"/>
                <a:cs typeface="Arial"/>
              </a:defRPr>
            </a:pPr>
            <a:r>
              <a:rPr sz="1575" b="0">
                <a:solidFill>
                  <a:srgbClr val="D8E2F0"/>
                </a:solidFill>
                <a:latin typeface="Arial"/>
                <a:ea typeface="Arial"/>
                <a:cs typeface="Arial"/>
              </a:rPr>
              <a:t>A web platform for campus events and student participation</a:t>
            </a:r>
          </a:p>
        </p:txBody>
      </p:sp>
      <p:sp>
        <p:nvSpPr>
          <p:cNvPr id="10" name="Rectangle 9">
            <a:extLst>
              <a:ext uri="{FF2B5EF4-FFF2-40B4-BE49-F238E27FC236}">
                <a16:creationId xmlns:a16="http://schemas.microsoft.com/office/drawing/2014/main" id="{FED233A5-ABAE-49EA-B8A2-A0F72FFCA6FA}"/>
              </a:ext>
            </a:extLst>
          </p:cNvPr>
          <p:cNvSpPr>
            <a:spLocks noGrp="1"/>
          </p:cNvSpPr>
          <p:nvPr/>
        </p:nvSpPr>
        <p:spPr>
          <a:xfrm>
            <a:off x="666750" y="5943600"/>
            <a:ext cx="2381250" cy="200025"/>
          </a:xfrm>
          <a:prstGeom prst="rect">
            <a:avLst/>
          </a:prstGeom>
          <a:noFill/>
          <a:ln w="0">
            <a:noFill/>
            <a:prstDash val="solid"/>
          </a:ln>
        </p:spPr>
        <p:txBody>
          <a:bodyPr wrap="square" lIns="0" tIns="0" rIns="0" bIns="0" anchor="t">
            <a:normAutofit/>
          </a:bodyPr>
          <a:lstStyle>
            <a:defPPr algn="l">
              <a:defRPr sz="1125" b="1">
                <a:solidFill>
                  <a:srgbClr val="FFFFFF"/>
                </a:solidFill>
                <a:latin typeface="Arial"/>
                <a:ea typeface="Arial"/>
                <a:cs typeface="Arial"/>
              </a:defRPr>
            </a:defPPr>
          </a:lstStyle>
          <a:p>
            <a:pPr algn="l">
              <a:defRPr sz="1125" b="1">
                <a:solidFill>
                  <a:srgbClr val="FFFFFF"/>
                </a:solidFill>
                <a:latin typeface="Arial"/>
                <a:ea typeface="Arial"/>
                <a:cs typeface="Arial"/>
              </a:defRPr>
            </a:pPr>
            <a:endParaRPr sz="1125" b="1" dirty="0">
              <a:solidFill>
                <a:srgbClr val="FFFFFF"/>
              </a:solidFill>
              <a:latin typeface="Arial"/>
              <a:ea typeface="Arial"/>
              <a:cs typeface="Arial"/>
            </a:endParaRPr>
          </a:p>
        </p:txBody>
      </p:sp>
      <p:sp>
        <p:nvSpPr>
          <p:cNvPr id="11" name="Rectangle 10">
            <a:extLst>
              <a:ext uri="{FF2B5EF4-FFF2-40B4-BE49-F238E27FC236}">
                <a16:creationId xmlns:a16="http://schemas.microsoft.com/office/drawing/2014/main" id="{BCE00E03-05F9-47F5-9CD0-26E5AA4DD0CB}"/>
              </a:ext>
            </a:extLst>
          </p:cNvPr>
          <p:cNvSpPr>
            <a:spLocks noGrp="1"/>
          </p:cNvSpPr>
          <p:nvPr/>
        </p:nvSpPr>
        <p:spPr>
          <a:xfrm>
            <a:off x="3143250" y="5943600"/>
            <a:ext cx="2333625" cy="200025"/>
          </a:xfrm>
          <a:prstGeom prst="rect">
            <a:avLst/>
          </a:prstGeom>
          <a:noFill/>
          <a:ln w="0">
            <a:noFill/>
            <a:prstDash val="solid"/>
          </a:ln>
        </p:spPr>
        <p:txBody>
          <a:bodyPr wrap="square" lIns="0" tIns="0" rIns="0" bIns="0" anchor="t">
            <a:normAutofit/>
          </a:bodyPr>
          <a:lstStyle>
            <a:defPPr algn="l">
              <a:defRPr sz="1125" b="0">
                <a:solidFill>
                  <a:srgbClr val="D8E2F0"/>
                </a:solidFill>
                <a:latin typeface="Arial"/>
                <a:ea typeface="Arial"/>
                <a:cs typeface="Arial"/>
              </a:defRPr>
            </a:defPPr>
          </a:lstStyle>
          <a:p>
            <a:pPr algn="l">
              <a:defRPr sz="1125" b="0">
                <a:solidFill>
                  <a:srgbClr val="D8E2F0"/>
                </a:solidFill>
                <a:latin typeface="Arial"/>
                <a:ea typeface="Arial"/>
                <a:cs typeface="Arial"/>
              </a:defRPr>
            </a:pPr>
            <a:endParaRPr sz="1125" b="0" dirty="0">
              <a:solidFill>
                <a:srgbClr val="D8E2F0"/>
              </a:solidFill>
              <a:latin typeface="Arial"/>
              <a:ea typeface="Arial"/>
              <a:cs typeface="Arial"/>
            </a:endParaRPr>
          </a:p>
        </p:txBody>
      </p:sp>
      <p:sp>
        <p:nvSpPr>
          <p:cNvPr id="12" name="Rectangle 11">
            <a:extLst>
              <a:ext uri="{FF2B5EF4-FFF2-40B4-BE49-F238E27FC236}">
                <a16:creationId xmlns:a16="http://schemas.microsoft.com/office/drawing/2014/main" id="{4B3A5777-C1D4-4BF2-9325-21ADEA994F0C}"/>
              </a:ext>
            </a:extLst>
          </p:cNvPr>
          <p:cNvSpPr>
            <a:spLocks noGrp="1"/>
          </p:cNvSpPr>
          <p:nvPr/>
        </p:nvSpPr>
        <p:spPr>
          <a:xfrm>
            <a:off x="666750" y="6429375"/>
            <a:ext cx="2095500" cy="171450"/>
          </a:xfrm>
          <a:prstGeom prst="rect">
            <a:avLst/>
          </a:prstGeom>
          <a:noFill/>
          <a:ln w="0">
            <a:noFill/>
            <a:prstDash val="solid"/>
          </a:ln>
        </p:spPr>
        <p:txBody>
          <a:bodyPr wrap="square" lIns="0" tIns="0" rIns="0" bIns="0" anchor="t">
            <a:normAutofit/>
          </a:bodyPr>
          <a:lstStyle>
            <a:defPPr algn="l">
              <a:defRPr sz="900" b="1">
                <a:solidFill>
                  <a:srgbClr val="9FB1C8"/>
                </a:solidFill>
                <a:latin typeface="Arial"/>
                <a:ea typeface="Arial"/>
                <a:cs typeface="Arial"/>
              </a:defRPr>
            </a:defPPr>
          </a:lstStyle>
          <a:p>
            <a:pPr algn="l">
              <a:defRPr sz="900" b="1">
                <a:solidFill>
                  <a:srgbClr val="9FB1C8"/>
                </a:solidFill>
                <a:latin typeface="Arial"/>
                <a:ea typeface="Arial"/>
                <a:cs typeface="Arial"/>
              </a:defRPr>
            </a:pPr>
            <a:r>
              <a:rPr sz="900" b="1">
                <a:solidFill>
                  <a:srgbClr val="9FB1C8"/>
                </a:solidFill>
                <a:latin typeface="Arial"/>
                <a:ea typeface="Arial"/>
                <a:cs typeface="Arial"/>
              </a:rPr>
              <a:t>PUNE  ·  2026</a:t>
            </a:r>
          </a:p>
        </p:txBody>
      </p:sp>
    </p:spTree>
    <p:extLst>
      <p:ext uri="{BB962C8B-B14F-4D97-AF65-F5344CB8AC3E}">
        <p14:creationId xmlns:p14="http://schemas.microsoft.com/office/powerpoint/2010/main" val="815898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1828524-C096-4754-8B37-F7AF91461B94}"/>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01  PROJECT OVERVIEW</a:t>
            </a:r>
          </a:p>
        </p:txBody>
      </p:sp>
      <p:sp>
        <p:nvSpPr>
          <p:cNvPr id="2" name="Rectangle 1">
            <a:extLst>
              <a:ext uri="{FF2B5EF4-FFF2-40B4-BE49-F238E27FC236}">
                <a16:creationId xmlns:a16="http://schemas.microsoft.com/office/drawing/2014/main" id="{E3E8B91A-A400-4C84-A2C3-B9590ED222E1}"/>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A shared place for campus events</a:t>
            </a:r>
          </a:p>
        </p:txBody>
      </p:sp>
      <p:sp>
        <p:nvSpPr>
          <p:cNvPr id="3" name="Rectangle 2">
            <a:extLst>
              <a:ext uri="{FF2B5EF4-FFF2-40B4-BE49-F238E27FC236}">
                <a16:creationId xmlns:a16="http://schemas.microsoft.com/office/drawing/2014/main" id="{C3DE3383-D90C-468E-83C2-66EB5B70707F}"/>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The system connects event discovery, student registration, and administration</a:t>
            </a:r>
          </a:p>
        </p:txBody>
      </p:sp>
      <p:sp>
        <p:nvSpPr>
          <p:cNvPr id="4" name="Straight Connector 3">
            <a:extLst>
              <a:ext uri="{FF2B5EF4-FFF2-40B4-BE49-F238E27FC236}">
                <a16:creationId xmlns:a16="http://schemas.microsoft.com/office/drawing/2014/main" id="{37559D38-5E7B-4757-AFD5-EB4C74003E3B}"/>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857AFA65-D1D0-46D0-B5FF-BDD9D2D00EEE}"/>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ADB8B3BD-2FF7-449C-B2BC-E06565D66983}"/>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3E0D23AD-F3D7-45E1-A397-53E14317B6FC}"/>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02</a:t>
            </a:r>
          </a:p>
        </p:txBody>
      </p:sp>
      <p:sp>
        <p:nvSpPr>
          <p:cNvPr id="8" name="Rectangle 7">
            <a:extLst>
              <a:ext uri="{FF2B5EF4-FFF2-40B4-BE49-F238E27FC236}">
                <a16:creationId xmlns:a16="http://schemas.microsoft.com/office/drawing/2014/main" id="{C4651A37-069A-4D98-8719-9CB0870C151B}"/>
              </a:ext>
            </a:extLst>
          </p:cNvPr>
          <p:cNvSpPr>
            <a:spLocks noGrp="1"/>
          </p:cNvSpPr>
          <p:nvPr/>
        </p:nvSpPr>
        <p:spPr>
          <a:xfrm>
            <a:off x="609600" y="2095500"/>
            <a:ext cx="2381250" cy="190500"/>
          </a:xfrm>
          <a:prstGeom prst="rect">
            <a:avLst/>
          </a:prstGeom>
          <a:noFill/>
          <a:ln w="0">
            <a:noFill/>
            <a:prstDash val="solid"/>
          </a:ln>
        </p:spPr>
        <p:txBody>
          <a:bodyPr wrap="square" lIns="0" tIns="0" rIns="0" bIns="0" anchor="t">
            <a:normAutofit/>
          </a:bodyPr>
          <a:lstStyle>
            <a:defPPr algn="l">
              <a:defRPr sz="975" b="1">
                <a:solidFill>
                  <a:srgbClr val="246BCE"/>
                </a:solidFill>
                <a:latin typeface="Arial"/>
                <a:ea typeface="Arial"/>
                <a:cs typeface="Arial"/>
              </a:defRPr>
            </a:defPPr>
          </a:lstStyle>
          <a:p>
            <a:pPr algn="l">
              <a:defRPr sz="975" b="1">
                <a:solidFill>
                  <a:srgbClr val="246BCE"/>
                </a:solidFill>
                <a:latin typeface="Arial"/>
                <a:ea typeface="Arial"/>
                <a:cs typeface="Arial"/>
              </a:defRPr>
            </a:pPr>
            <a:r>
              <a:rPr sz="975" b="1">
                <a:solidFill>
                  <a:srgbClr val="246BCE"/>
                </a:solidFill>
                <a:latin typeface="Arial"/>
                <a:ea typeface="Arial"/>
                <a:cs typeface="Arial"/>
              </a:rPr>
              <a:t>PROJECT SUMMARY</a:t>
            </a:r>
          </a:p>
        </p:txBody>
      </p:sp>
      <p:sp>
        <p:nvSpPr>
          <p:cNvPr id="9" name="Rectangle 8">
            <a:extLst>
              <a:ext uri="{FF2B5EF4-FFF2-40B4-BE49-F238E27FC236}">
                <a16:creationId xmlns:a16="http://schemas.microsoft.com/office/drawing/2014/main" id="{80263CD1-E123-490E-90DA-94A2E50CA0C6}"/>
              </a:ext>
            </a:extLst>
          </p:cNvPr>
          <p:cNvSpPr>
            <a:spLocks noGrp="1"/>
          </p:cNvSpPr>
          <p:nvPr/>
        </p:nvSpPr>
        <p:spPr>
          <a:xfrm>
            <a:off x="609600" y="2419350"/>
            <a:ext cx="5334000" cy="1285875"/>
          </a:xfrm>
          <a:prstGeom prst="rect">
            <a:avLst/>
          </a:prstGeom>
          <a:noFill/>
          <a:ln w="0">
            <a:noFill/>
            <a:prstDash val="solid"/>
          </a:ln>
        </p:spPr>
        <p:txBody>
          <a:bodyPr wrap="square" lIns="0" tIns="0" rIns="0" bIns="0" anchor="t">
            <a:normAutofit fontScale="89684"/>
          </a:bodyPr>
          <a:lstStyle>
            <a:defPPr algn="l">
              <a:defRPr sz="2100" b="1">
                <a:solidFill>
                  <a:srgbClr val="102B4D"/>
                </a:solidFill>
                <a:latin typeface="Arial"/>
                <a:ea typeface="Arial"/>
                <a:cs typeface="Arial"/>
              </a:defRPr>
            </a:defPPr>
          </a:lstStyle>
          <a:p>
            <a:pPr algn="l">
              <a:lnSpc>
                <a:spcPct val="112000"/>
              </a:lnSpc>
              <a:buNone/>
              <a:defRPr sz="2100" b="1">
                <a:solidFill>
                  <a:srgbClr val="102B4D"/>
                </a:solidFill>
                <a:latin typeface="Arial"/>
                <a:ea typeface="Arial"/>
                <a:cs typeface="Arial"/>
              </a:defRPr>
            </a:pPr>
            <a:r>
              <a:rPr sz="2100" b="1">
                <a:solidFill>
                  <a:srgbClr val="102B4D"/>
                </a:solidFill>
                <a:latin typeface="Arial"/>
                <a:ea typeface="Arial"/>
                <a:cs typeface="Arial"/>
              </a:rPr>
              <a:t>Students browse published events and register online. Administrators manage event details, review participants, and export registration summaries.</a:t>
            </a:r>
          </a:p>
        </p:txBody>
      </p:sp>
      <p:sp>
        <p:nvSpPr>
          <p:cNvPr id="10" name="Rectangle 9">
            <a:extLst>
              <a:ext uri="{FF2B5EF4-FFF2-40B4-BE49-F238E27FC236}">
                <a16:creationId xmlns:a16="http://schemas.microsoft.com/office/drawing/2014/main" id="{D1DE46C2-6D4F-48E5-AB6D-E57C08704F88}"/>
              </a:ext>
            </a:extLst>
          </p:cNvPr>
          <p:cNvSpPr>
            <a:spLocks noGrp="1"/>
          </p:cNvSpPr>
          <p:nvPr/>
        </p:nvSpPr>
        <p:spPr>
          <a:xfrm>
            <a:off x="609600" y="3962400"/>
            <a:ext cx="5334000" cy="6858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Built for a JSPM University Pune campus context, with event photos, status, venue, date, capacity, and registration information.</a:t>
            </a:r>
          </a:p>
        </p:txBody>
      </p:sp>
      <p:sp>
        <p:nvSpPr>
          <p:cNvPr id="11" name="Straight Connector 10">
            <a:extLst>
              <a:ext uri="{FF2B5EF4-FFF2-40B4-BE49-F238E27FC236}">
                <a16:creationId xmlns:a16="http://schemas.microsoft.com/office/drawing/2014/main" id="{75BAE92F-746C-4B07-92AE-A20ED830DA79}"/>
              </a:ext>
            </a:extLst>
          </p:cNvPr>
          <p:cNvSpPr>
            <a:spLocks noGrp="1"/>
          </p:cNvSpPr>
          <p:nvPr/>
        </p:nvSpPr>
        <p:spPr>
          <a:xfrm>
            <a:off x="6477000" y="2114550"/>
            <a:ext cx="9525" cy="3286125"/>
          </a:xfrm>
          <a:prstGeom prst="line">
            <a:avLst/>
          </a:prstGeom>
          <a:noFill/>
          <a:ln w="19050">
            <a:solidFill>
              <a:srgbClr val="DDE4EF"/>
            </a:solidFill>
            <a:prstDash val="solid"/>
          </a:ln>
        </p:spPr>
      </p:sp>
      <p:sp>
        <p:nvSpPr>
          <p:cNvPr id="12" name="Rectangle 11">
            <a:extLst>
              <a:ext uri="{FF2B5EF4-FFF2-40B4-BE49-F238E27FC236}">
                <a16:creationId xmlns:a16="http://schemas.microsoft.com/office/drawing/2014/main" id="{D7FDBBC0-C504-40E9-8B90-78E1B95262FA}"/>
              </a:ext>
            </a:extLst>
          </p:cNvPr>
          <p:cNvSpPr>
            <a:spLocks noGrp="1"/>
          </p:cNvSpPr>
          <p:nvPr/>
        </p:nvSpPr>
        <p:spPr>
          <a:xfrm>
            <a:off x="6915150" y="2143125"/>
            <a:ext cx="428625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THE EXPERIENCE</a:t>
            </a:r>
          </a:p>
        </p:txBody>
      </p:sp>
      <p:sp>
        <p:nvSpPr>
          <p:cNvPr id="13" name="Oval 12">
            <a:extLst>
              <a:ext uri="{FF2B5EF4-FFF2-40B4-BE49-F238E27FC236}">
                <a16:creationId xmlns:a16="http://schemas.microsoft.com/office/drawing/2014/main" id="{48EE00E2-0907-46F0-9481-634B2F0D843F}"/>
              </a:ext>
            </a:extLst>
          </p:cNvPr>
          <p:cNvSpPr>
            <a:spLocks noGrp="1"/>
          </p:cNvSpPr>
          <p:nvPr/>
        </p:nvSpPr>
        <p:spPr>
          <a:xfrm>
            <a:off x="6915150" y="2638425"/>
            <a:ext cx="114300" cy="114300"/>
          </a:xfrm>
          <a:prstGeom prst="ellipse">
            <a:avLst/>
          </a:prstGeom>
          <a:solidFill>
            <a:srgbClr val="7048E8"/>
          </a:solidFill>
          <a:ln w="0">
            <a:noFill/>
            <a:prstDash val="solid"/>
          </a:ln>
        </p:spPr>
      </p:sp>
      <p:sp>
        <p:nvSpPr>
          <p:cNvPr id="14" name="Rectangle 13">
            <a:extLst>
              <a:ext uri="{FF2B5EF4-FFF2-40B4-BE49-F238E27FC236}">
                <a16:creationId xmlns:a16="http://schemas.microsoft.com/office/drawing/2014/main" id="{C5082202-B5B3-44FE-AD7D-8E5AF05D116B}"/>
              </a:ext>
            </a:extLst>
          </p:cNvPr>
          <p:cNvSpPr>
            <a:spLocks noGrp="1"/>
          </p:cNvSpPr>
          <p:nvPr/>
        </p:nvSpPr>
        <p:spPr>
          <a:xfrm>
            <a:off x="7162800" y="2571750"/>
            <a:ext cx="4229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Discover</a:t>
            </a:r>
          </a:p>
        </p:txBody>
      </p:sp>
      <p:sp>
        <p:nvSpPr>
          <p:cNvPr id="15" name="Rectangle 14">
            <a:extLst>
              <a:ext uri="{FF2B5EF4-FFF2-40B4-BE49-F238E27FC236}">
                <a16:creationId xmlns:a16="http://schemas.microsoft.com/office/drawing/2014/main" id="{6770D959-092E-4396-8045-6BE724295912}"/>
              </a:ext>
            </a:extLst>
          </p:cNvPr>
          <p:cNvSpPr>
            <a:spLocks noGrp="1"/>
          </p:cNvSpPr>
          <p:nvPr/>
        </p:nvSpPr>
        <p:spPr>
          <a:xfrm>
            <a:off x="7162800" y="2867025"/>
            <a:ext cx="4229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Search published events by title, category, or venue.</a:t>
            </a:r>
          </a:p>
        </p:txBody>
      </p:sp>
      <p:sp>
        <p:nvSpPr>
          <p:cNvPr id="16" name="Oval 15">
            <a:extLst>
              <a:ext uri="{FF2B5EF4-FFF2-40B4-BE49-F238E27FC236}">
                <a16:creationId xmlns:a16="http://schemas.microsoft.com/office/drawing/2014/main" id="{70D9F99F-6032-49F1-8E95-A4A610F5B996}"/>
              </a:ext>
            </a:extLst>
          </p:cNvPr>
          <p:cNvSpPr>
            <a:spLocks noGrp="1"/>
          </p:cNvSpPr>
          <p:nvPr/>
        </p:nvSpPr>
        <p:spPr>
          <a:xfrm>
            <a:off x="6915150" y="3590925"/>
            <a:ext cx="114300" cy="114300"/>
          </a:xfrm>
          <a:prstGeom prst="ellipse">
            <a:avLst/>
          </a:prstGeom>
          <a:solidFill>
            <a:srgbClr val="11A8A0"/>
          </a:solidFill>
          <a:ln w="0">
            <a:noFill/>
            <a:prstDash val="solid"/>
          </a:ln>
        </p:spPr>
      </p:sp>
      <p:sp>
        <p:nvSpPr>
          <p:cNvPr id="17" name="Rectangle 16">
            <a:extLst>
              <a:ext uri="{FF2B5EF4-FFF2-40B4-BE49-F238E27FC236}">
                <a16:creationId xmlns:a16="http://schemas.microsoft.com/office/drawing/2014/main" id="{254A8A23-E688-4F23-B1BD-6AF4101B6B47}"/>
              </a:ext>
            </a:extLst>
          </p:cNvPr>
          <p:cNvSpPr>
            <a:spLocks noGrp="1"/>
          </p:cNvSpPr>
          <p:nvPr/>
        </p:nvSpPr>
        <p:spPr>
          <a:xfrm>
            <a:off x="7162800" y="3524250"/>
            <a:ext cx="4229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Register</a:t>
            </a:r>
          </a:p>
        </p:txBody>
      </p:sp>
      <p:sp>
        <p:nvSpPr>
          <p:cNvPr id="18" name="Rectangle 17">
            <a:extLst>
              <a:ext uri="{FF2B5EF4-FFF2-40B4-BE49-F238E27FC236}">
                <a16:creationId xmlns:a16="http://schemas.microsoft.com/office/drawing/2014/main" id="{D0DD41C3-CBB6-49D9-99A2-E371A3B4985C}"/>
              </a:ext>
            </a:extLst>
          </p:cNvPr>
          <p:cNvSpPr>
            <a:spLocks noGrp="1"/>
          </p:cNvSpPr>
          <p:nvPr/>
        </p:nvSpPr>
        <p:spPr>
          <a:xfrm>
            <a:off x="7162800" y="3819525"/>
            <a:ext cx="4229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Submit student details for a selected event.</a:t>
            </a:r>
          </a:p>
        </p:txBody>
      </p:sp>
      <p:sp>
        <p:nvSpPr>
          <p:cNvPr id="19" name="Oval 18">
            <a:extLst>
              <a:ext uri="{FF2B5EF4-FFF2-40B4-BE49-F238E27FC236}">
                <a16:creationId xmlns:a16="http://schemas.microsoft.com/office/drawing/2014/main" id="{A9626285-87CD-4A42-AE93-63659AB8BD14}"/>
              </a:ext>
            </a:extLst>
          </p:cNvPr>
          <p:cNvSpPr>
            <a:spLocks noGrp="1"/>
          </p:cNvSpPr>
          <p:nvPr/>
        </p:nvSpPr>
        <p:spPr>
          <a:xfrm>
            <a:off x="6915150" y="4543425"/>
            <a:ext cx="114300" cy="114300"/>
          </a:xfrm>
          <a:prstGeom prst="ellipse">
            <a:avLst/>
          </a:prstGeom>
          <a:solidFill>
            <a:srgbClr val="F4BD54"/>
          </a:solidFill>
          <a:ln w="0">
            <a:noFill/>
            <a:prstDash val="solid"/>
          </a:ln>
        </p:spPr>
      </p:sp>
      <p:sp>
        <p:nvSpPr>
          <p:cNvPr id="20" name="Rectangle 19">
            <a:extLst>
              <a:ext uri="{FF2B5EF4-FFF2-40B4-BE49-F238E27FC236}">
                <a16:creationId xmlns:a16="http://schemas.microsoft.com/office/drawing/2014/main" id="{36298D03-61AA-46DA-9D6D-09C1AD431402}"/>
              </a:ext>
            </a:extLst>
          </p:cNvPr>
          <p:cNvSpPr>
            <a:spLocks noGrp="1"/>
          </p:cNvSpPr>
          <p:nvPr/>
        </p:nvSpPr>
        <p:spPr>
          <a:xfrm>
            <a:off x="7162800" y="4476750"/>
            <a:ext cx="4229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Manage</a:t>
            </a:r>
          </a:p>
        </p:txBody>
      </p:sp>
      <p:sp>
        <p:nvSpPr>
          <p:cNvPr id="21" name="Rectangle 20">
            <a:extLst>
              <a:ext uri="{FF2B5EF4-FFF2-40B4-BE49-F238E27FC236}">
                <a16:creationId xmlns:a16="http://schemas.microsoft.com/office/drawing/2014/main" id="{37E18DB5-F97D-4DBF-A3DC-5781BE5E4AF4}"/>
              </a:ext>
            </a:extLst>
          </p:cNvPr>
          <p:cNvSpPr>
            <a:spLocks noGrp="1"/>
          </p:cNvSpPr>
          <p:nvPr/>
        </p:nvSpPr>
        <p:spPr>
          <a:xfrm>
            <a:off x="7162800" y="4772025"/>
            <a:ext cx="4229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Admins maintain events and review participation.</a:t>
            </a:r>
          </a:p>
        </p:txBody>
      </p:sp>
    </p:spTree>
    <p:extLst>
      <p:ext uri="{BB962C8B-B14F-4D97-AF65-F5344CB8AC3E}">
        <p14:creationId xmlns:p14="http://schemas.microsoft.com/office/powerpoint/2010/main" val="760075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2E0357E-62A8-4CE8-A2AD-2275235AE692}"/>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02  PURPOSE</a:t>
            </a:r>
          </a:p>
        </p:txBody>
      </p:sp>
      <p:sp>
        <p:nvSpPr>
          <p:cNvPr id="2" name="Rectangle 1">
            <a:extLst>
              <a:ext uri="{FF2B5EF4-FFF2-40B4-BE49-F238E27FC236}">
                <a16:creationId xmlns:a16="http://schemas.microsoft.com/office/drawing/2014/main" id="{D77F1B01-631D-473C-83AC-D3DE519D3D40}"/>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Project goals and scope</a:t>
            </a:r>
          </a:p>
        </p:txBody>
      </p:sp>
      <p:sp>
        <p:nvSpPr>
          <p:cNvPr id="3" name="Rectangle 2">
            <a:extLst>
              <a:ext uri="{FF2B5EF4-FFF2-40B4-BE49-F238E27FC236}">
                <a16:creationId xmlns:a16="http://schemas.microsoft.com/office/drawing/2014/main" id="{85DF7AA5-5A5F-4074-AEC8-09B99568A69A}"/>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Focus on a simple, reliable flow for publishing campus events and recording participation</a:t>
            </a:r>
          </a:p>
        </p:txBody>
      </p:sp>
      <p:sp>
        <p:nvSpPr>
          <p:cNvPr id="4" name="Straight Connector 3">
            <a:extLst>
              <a:ext uri="{FF2B5EF4-FFF2-40B4-BE49-F238E27FC236}">
                <a16:creationId xmlns:a16="http://schemas.microsoft.com/office/drawing/2014/main" id="{3F7B9979-9AAF-48C2-A997-0B98B47274D0}"/>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6AE8480B-FAB5-492D-AEA5-CF7039C7F8C2}"/>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47BA6D9D-AFFB-461C-A985-8313CA347DC6}"/>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5981F2DF-F59F-4598-B375-35EDFA56794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03</a:t>
            </a:r>
          </a:p>
        </p:txBody>
      </p:sp>
      <p:sp>
        <p:nvSpPr>
          <p:cNvPr id="8" name="Rectangle 7">
            <a:extLst>
              <a:ext uri="{FF2B5EF4-FFF2-40B4-BE49-F238E27FC236}">
                <a16:creationId xmlns:a16="http://schemas.microsoft.com/office/drawing/2014/main" id="{311B9138-825A-443B-93B8-6E718F923971}"/>
              </a:ext>
            </a:extLst>
          </p:cNvPr>
          <p:cNvSpPr>
            <a:spLocks noGrp="1"/>
          </p:cNvSpPr>
          <p:nvPr/>
        </p:nvSpPr>
        <p:spPr>
          <a:xfrm>
            <a:off x="609600" y="2038350"/>
            <a:ext cx="3810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WHY THIS PROJECT</a:t>
            </a:r>
          </a:p>
        </p:txBody>
      </p:sp>
      <p:sp>
        <p:nvSpPr>
          <p:cNvPr id="9" name="Rectangle 8">
            <a:extLst>
              <a:ext uri="{FF2B5EF4-FFF2-40B4-BE49-F238E27FC236}">
                <a16:creationId xmlns:a16="http://schemas.microsoft.com/office/drawing/2014/main" id="{CBAAAA91-F4C1-490D-8D41-207FEA93B06E}"/>
              </a:ext>
            </a:extLst>
          </p:cNvPr>
          <p:cNvSpPr>
            <a:spLocks noGrp="1"/>
          </p:cNvSpPr>
          <p:nvPr/>
        </p:nvSpPr>
        <p:spPr>
          <a:xfrm>
            <a:off x="609600" y="2381250"/>
            <a:ext cx="4905375" cy="1257300"/>
          </a:xfrm>
          <a:prstGeom prst="rect">
            <a:avLst/>
          </a:prstGeom>
          <a:noFill/>
          <a:ln w="0">
            <a:noFill/>
            <a:prstDash val="solid"/>
          </a:ln>
        </p:spPr>
        <p:txBody>
          <a:bodyPr wrap="square" lIns="0" tIns="0" rIns="0" bIns="0" anchor="t">
            <a:normAutofit/>
          </a:bodyPr>
          <a:lstStyle>
            <a:defPPr algn="l">
              <a:defRPr sz="1725" b="1">
                <a:solidFill>
                  <a:srgbClr val="102B4D"/>
                </a:solidFill>
                <a:latin typeface="Arial"/>
                <a:ea typeface="Arial"/>
                <a:cs typeface="Arial"/>
              </a:defRPr>
            </a:defPPr>
          </a:lstStyle>
          <a:p>
            <a:pPr algn="l">
              <a:defRPr sz="1725" b="1">
                <a:solidFill>
                  <a:srgbClr val="102B4D"/>
                </a:solidFill>
                <a:latin typeface="Arial"/>
                <a:ea typeface="Arial"/>
                <a:cs typeface="Arial"/>
              </a:defRPr>
            </a:pPr>
            <a:r>
              <a:rPr sz="1725" b="1">
                <a:solidFill>
                  <a:srgbClr val="102B4D"/>
                </a:solidFill>
                <a:latin typeface="Arial"/>
                <a:ea typeface="Arial"/>
                <a:cs typeface="Arial"/>
              </a:rPr>
              <a:t>Event information can be difficult to find when announcements sit across separate channels. Manual sign-ups also make it harder to keep participant lists and counts current.</a:t>
            </a:r>
          </a:p>
        </p:txBody>
      </p:sp>
      <p:sp>
        <p:nvSpPr>
          <p:cNvPr id="10" name="Rectangle 9">
            <a:extLst>
              <a:ext uri="{FF2B5EF4-FFF2-40B4-BE49-F238E27FC236}">
                <a16:creationId xmlns:a16="http://schemas.microsoft.com/office/drawing/2014/main" id="{92C37DC3-56C8-4885-9EA1-63DC8C4C1F0D}"/>
              </a:ext>
            </a:extLst>
          </p:cNvPr>
          <p:cNvSpPr>
            <a:spLocks noGrp="1"/>
          </p:cNvSpPr>
          <p:nvPr/>
        </p:nvSpPr>
        <p:spPr>
          <a:xfrm>
            <a:off x="609600" y="3886200"/>
            <a:ext cx="4905375" cy="6858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The project brings event details and registration records into one database-backed website.</a:t>
            </a:r>
          </a:p>
        </p:txBody>
      </p:sp>
      <p:sp>
        <p:nvSpPr>
          <p:cNvPr id="11" name="Straight Connector 10">
            <a:extLst>
              <a:ext uri="{FF2B5EF4-FFF2-40B4-BE49-F238E27FC236}">
                <a16:creationId xmlns:a16="http://schemas.microsoft.com/office/drawing/2014/main" id="{A1CCE317-A909-464D-8EFD-7FEC5174C376}"/>
              </a:ext>
            </a:extLst>
          </p:cNvPr>
          <p:cNvSpPr>
            <a:spLocks noGrp="1"/>
          </p:cNvSpPr>
          <p:nvPr/>
        </p:nvSpPr>
        <p:spPr>
          <a:xfrm>
            <a:off x="6000750" y="2047875"/>
            <a:ext cx="9525" cy="3476625"/>
          </a:xfrm>
          <a:prstGeom prst="line">
            <a:avLst/>
          </a:prstGeom>
          <a:noFill/>
          <a:ln w="19050">
            <a:solidFill>
              <a:srgbClr val="DDE4EF"/>
            </a:solidFill>
            <a:prstDash val="solid"/>
          </a:ln>
        </p:spPr>
      </p:sp>
      <p:sp>
        <p:nvSpPr>
          <p:cNvPr id="12" name="Rectangle 11">
            <a:extLst>
              <a:ext uri="{FF2B5EF4-FFF2-40B4-BE49-F238E27FC236}">
                <a16:creationId xmlns:a16="http://schemas.microsoft.com/office/drawing/2014/main" id="{BCBD1B5E-741F-4C47-834D-4CE3C4527F78}"/>
              </a:ext>
            </a:extLst>
          </p:cNvPr>
          <p:cNvSpPr>
            <a:spLocks noGrp="1"/>
          </p:cNvSpPr>
          <p:nvPr/>
        </p:nvSpPr>
        <p:spPr>
          <a:xfrm>
            <a:off x="6496050" y="2038350"/>
            <a:ext cx="4762500" cy="190500"/>
          </a:xfrm>
          <a:prstGeom prst="rect">
            <a:avLst/>
          </a:prstGeom>
          <a:noFill/>
          <a:ln w="0">
            <a:noFill/>
            <a:prstDash val="solid"/>
          </a:ln>
        </p:spPr>
        <p:txBody>
          <a:bodyPr wrap="square" lIns="0" tIns="0" rIns="0" bIns="0" anchor="t">
            <a:normAutofit/>
          </a:bodyPr>
          <a:lstStyle>
            <a:defPPr algn="l">
              <a:defRPr sz="975" b="1">
                <a:solidFill>
                  <a:srgbClr val="246BCE"/>
                </a:solidFill>
                <a:latin typeface="Arial"/>
                <a:ea typeface="Arial"/>
                <a:cs typeface="Arial"/>
              </a:defRPr>
            </a:defPPr>
          </a:lstStyle>
          <a:p>
            <a:pPr algn="l">
              <a:defRPr sz="975" b="1">
                <a:solidFill>
                  <a:srgbClr val="246BCE"/>
                </a:solidFill>
                <a:latin typeface="Arial"/>
                <a:ea typeface="Arial"/>
                <a:cs typeface="Arial"/>
              </a:defRPr>
            </a:pPr>
            <a:r>
              <a:rPr sz="975" b="1">
                <a:solidFill>
                  <a:srgbClr val="246BCE"/>
                </a:solidFill>
                <a:latin typeface="Arial"/>
                <a:ea typeface="Arial"/>
                <a:cs typeface="Arial"/>
              </a:rPr>
              <a:t>PROJECT OBJECTIVES</a:t>
            </a:r>
          </a:p>
        </p:txBody>
      </p:sp>
      <p:sp>
        <p:nvSpPr>
          <p:cNvPr id="13" name="Oval 12">
            <a:extLst>
              <a:ext uri="{FF2B5EF4-FFF2-40B4-BE49-F238E27FC236}">
                <a16:creationId xmlns:a16="http://schemas.microsoft.com/office/drawing/2014/main" id="{8A200462-CF4E-4432-A383-B86748A52D70}"/>
              </a:ext>
            </a:extLst>
          </p:cNvPr>
          <p:cNvSpPr>
            <a:spLocks noGrp="1"/>
          </p:cNvSpPr>
          <p:nvPr/>
        </p:nvSpPr>
        <p:spPr>
          <a:xfrm>
            <a:off x="6496050" y="2514600"/>
            <a:ext cx="114300" cy="114300"/>
          </a:xfrm>
          <a:prstGeom prst="ellipse">
            <a:avLst/>
          </a:prstGeom>
          <a:solidFill>
            <a:srgbClr val="246BCE"/>
          </a:solidFill>
          <a:ln w="0">
            <a:noFill/>
            <a:prstDash val="solid"/>
          </a:ln>
        </p:spPr>
      </p:sp>
      <p:sp>
        <p:nvSpPr>
          <p:cNvPr id="14" name="Rectangle 13">
            <a:extLst>
              <a:ext uri="{FF2B5EF4-FFF2-40B4-BE49-F238E27FC236}">
                <a16:creationId xmlns:a16="http://schemas.microsoft.com/office/drawing/2014/main" id="{618ADDC8-A8E2-468B-928E-DD411AA99B66}"/>
              </a:ext>
            </a:extLst>
          </p:cNvPr>
          <p:cNvSpPr>
            <a:spLocks noGrp="1"/>
          </p:cNvSpPr>
          <p:nvPr/>
        </p:nvSpPr>
        <p:spPr>
          <a:xfrm>
            <a:off x="6743700" y="2447925"/>
            <a:ext cx="470535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Centralize event details</a:t>
            </a:r>
          </a:p>
        </p:txBody>
      </p:sp>
      <p:sp>
        <p:nvSpPr>
          <p:cNvPr id="15" name="Rectangle 14">
            <a:extLst>
              <a:ext uri="{FF2B5EF4-FFF2-40B4-BE49-F238E27FC236}">
                <a16:creationId xmlns:a16="http://schemas.microsoft.com/office/drawing/2014/main" id="{83DA7B0A-B6A9-42A7-B8CB-E6BFF266D168}"/>
              </a:ext>
            </a:extLst>
          </p:cNvPr>
          <p:cNvSpPr>
            <a:spLocks noGrp="1"/>
          </p:cNvSpPr>
          <p:nvPr/>
        </p:nvSpPr>
        <p:spPr>
          <a:xfrm>
            <a:off x="6743700" y="2743200"/>
            <a:ext cx="470535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Show dates, venues, categories, status, capacity, and photos.</a:t>
            </a:r>
          </a:p>
        </p:txBody>
      </p:sp>
      <p:sp>
        <p:nvSpPr>
          <p:cNvPr id="16" name="Oval 15">
            <a:extLst>
              <a:ext uri="{FF2B5EF4-FFF2-40B4-BE49-F238E27FC236}">
                <a16:creationId xmlns:a16="http://schemas.microsoft.com/office/drawing/2014/main" id="{B447F28D-959E-4D88-A688-EAC794E46375}"/>
              </a:ext>
            </a:extLst>
          </p:cNvPr>
          <p:cNvSpPr>
            <a:spLocks noGrp="1"/>
          </p:cNvSpPr>
          <p:nvPr/>
        </p:nvSpPr>
        <p:spPr>
          <a:xfrm>
            <a:off x="6496050" y="3467100"/>
            <a:ext cx="114300" cy="114300"/>
          </a:xfrm>
          <a:prstGeom prst="ellipse">
            <a:avLst/>
          </a:prstGeom>
          <a:solidFill>
            <a:srgbClr val="11A8A0"/>
          </a:solidFill>
          <a:ln w="0">
            <a:noFill/>
            <a:prstDash val="solid"/>
          </a:ln>
        </p:spPr>
      </p:sp>
      <p:sp>
        <p:nvSpPr>
          <p:cNvPr id="17" name="Rectangle 16">
            <a:extLst>
              <a:ext uri="{FF2B5EF4-FFF2-40B4-BE49-F238E27FC236}">
                <a16:creationId xmlns:a16="http://schemas.microsoft.com/office/drawing/2014/main" id="{C2C0DE38-C45F-41E5-AF28-CD29ADB98F8C}"/>
              </a:ext>
            </a:extLst>
          </p:cNvPr>
          <p:cNvSpPr>
            <a:spLocks noGrp="1"/>
          </p:cNvSpPr>
          <p:nvPr/>
        </p:nvSpPr>
        <p:spPr>
          <a:xfrm>
            <a:off x="6743700" y="3400425"/>
            <a:ext cx="470535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Support student sign-up</a:t>
            </a:r>
          </a:p>
        </p:txBody>
      </p:sp>
      <p:sp>
        <p:nvSpPr>
          <p:cNvPr id="18" name="Rectangle 17">
            <a:extLst>
              <a:ext uri="{FF2B5EF4-FFF2-40B4-BE49-F238E27FC236}">
                <a16:creationId xmlns:a16="http://schemas.microsoft.com/office/drawing/2014/main" id="{C5500700-665B-4886-B3C1-997D7D756C7E}"/>
              </a:ext>
            </a:extLst>
          </p:cNvPr>
          <p:cNvSpPr>
            <a:spLocks noGrp="1"/>
          </p:cNvSpPr>
          <p:nvPr/>
        </p:nvSpPr>
        <p:spPr>
          <a:xfrm>
            <a:off x="6743700" y="3695700"/>
            <a:ext cx="470535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Collect student information and connect it to an event.</a:t>
            </a:r>
          </a:p>
        </p:txBody>
      </p:sp>
      <p:sp>
        <p:nvSpPr>
          <p:cNvPr id="19" name="Oval 18">
            <a:extLst>
              <a:ext uri="{FF2B5EF4-FFF2-40B4-BE49-F238E27FC236}">
                <a16:creationId xmlns:a16="http://schemas.microsoft.com/office/drawing/2014/main" id="{DA716DE2-A753-44F9-9B07-50158A44E287}"/>
              </a:ext>
            </a:extLst>
          </p:cNvPr>
          <p:cNvSpPr>
            <a:spLocks noGrp="1"/>
          </p:cNvSpPr>
          <p:nvPr/>
        </p:nvSpPr>
        <p:spPr>
          <a:xfrm>
            <a:off x="6496050" y="4419600"/>
            <a:ext cx="114300" cy="114300"/>
          </a:xfrm>
          <a:prstGeom prst="ellipse">
            <a:avLst/>
          </a:prstGeom>
          <a:solidFill>
            <a:srgbClr val="7048E8"/>
          </a:solidFill>
          <a:ln w="0">
            <a:noFill/>
            <a:prstDash val="solid"/>
          </a:ln>
        </p:spPr>
      </p:sp>
      <p:sp>
        <p:nvSpPr>
          <p:cNvPr id="20" name="Rectangle 19">
            <a:extLst>
              <a:ext uri="{FF2B5EF4-FFF2-40B4-BE49-F238E27FC236}">
                <a16:creationId xmlns:a16="http://schemas.microsoft.com/office/drawing/2014/main" id="{41D9B0C6-96A1-48F6-80E0-DBC3F5244257}"/>
              </a:ext>
            </a:extLst>
          </p:cNvPr>
          <p:cNvSpPr>
            <a:spLocks noGrp="1"/>
          </p:cNvSpPr>
          <p:nvPr/>
        </p:nvSpPr>
        <p:spPr>
          <a:xfrm>
            <a:off x="6743700" y="4352925"/>
            <a:ext cx="470535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Help administrators</a:t>
            </a:r>
          </a:p>
        </p:txBody>
      </p:sp>
      <p:sp>
        <p:nvSpPr>
          <p:cNvPr id="21" name="Rectangle 20">
            <a:extLst>
              <a:ext uri="{FF2B5EF4-FFF2-40B4-BE49-F238E27FC236}">
                <a16:creationId xmlns:a16="http://schemas.microsoft.com/office/drawing/2014/main" id="{283D1F81-D8EC-4446-9A0B-6B08AFC470F3}"/>
              </a:ext>
            </a:extLst>
          </p:cNvPr>
          <p:cNvSpPr>
            <a:spLocks noGrp="1"/>
          </p:cNvSpPr>
          <p:nvPr/>
        </p:nvSpPr>
        <p:spPr>
          <a:xfrm>
            <a:off x="6743700" y="4648200"/>
            <a:ext cx="470535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pPr algn="l">
              <a:defRPr sz="1275" b="0">
                <a:solidFill>
                  <a:srgbClr val="68778D"/>
                </a:solidFill>
                <a:latin typeface="Arial"/>
                <a:ea typeface="Arial"/>
                <a:cs typeface="Arial"/>
              </a:defRPr>
            </a:pPr>
            <a:r>
              <a:rPr sz="1275" b="0">
                <a:solidFill>
                  <a:srgbClr val="68778D"/>
                </a:solidFill>
                <a:latin typeface="Arial"/>
                <a:ea typeface="Arial"/>
                <a:cs typeface="Arial"/>
              </a:rPr>
              <a:t>Provide event controls, participant lists, counts, and CSV reports.</a:t>
            </a:r>
          </a:p>
        </p:txBody>
      </p:sp>
    </p:spTree>
    <p:extLst>
      <p:ext uri="{BB962C8B-B14F-4D97-AF65-F5344CB8AC3E}">
        <p14:creationId xmlns:p14="http://schemas.microsoft.com/office/powerpoint/2010/main" val="1715862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D8777083-9BBA-4788-8083-69EBAF4C8527}"/>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03  TECHNOLOGY</a:t>
            </a:r>
          </a:p>
        </p:txBody>
      </p:sp>
      <p:sp>
        <p:nvSpPr>
          <p:cNvPr id="2" name="Rectangle 1">
            <a:extLst>
              <a:ext uri="{FF2B5EF4-FFF2-40B4-BE49-F238E27FC236}">
                <a16:creationId xmlns:a16="http://schemas.microsoft.com/office/drawing/2014/main" id="{D995336D-83FB-4C4E-B293-313CCB6CFA96}"/>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Technology stack</a:t>
            </a:r>
          </a:p>
        </p:txBody>
      </p:sp>
      <p:sp>
        <p:nvSpPr>
          <p:cNvPr id="3" name="Rectangle 2">
            <a:extLst>
              <a:ext uri="{FF2B5EF4-FFF2-40B4-BE49-F238E27FC236}">
                <a16:creationId xmlns:a16="http://schemas.microsoft.com/office/drawing/2014/main" id="{5B46585C-A474-40B6-93D4-10ED9F4BD43E}"/>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Each layer has a clear role in the application</a:t>
            </a:r>
          </a:p>
        </p:txBody>
      </p:sp>
      <p:sp>
        <p:nvSpPr>
          <p:cNvPr id="4" name="Straight Connector 3">
            <a:extLst>
              <a:ext uri="{FF2B5EF4-FFF2-40B4-BE49-F238E27FC236}">
                <a16:creationId xmlns:a16="http://schemas.microsoft.com/office/drawing/2014/main" id="{8391FA10-E51F-4B81-B365-62CA2FA8EE3C}"/>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13ADF649-D240-4552-96AF-DA62B0141507}"/>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AA353895-9047-47B2-B364-04ADB01DA989}"/>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53E29AA8-25B3-41B8-B8AB-81A8B19C6C2A}"/>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04</a:t>
            </a:r>
          </a:p>
        </p:txBody>
      </p:sp>
      <p:sp>
        <p:nvSpPr>
          <p:cNvPr id="8" name="Rectangle 7">
            <a:extLst>
              <a:ext uri="{FF2B5EF4-FFF2-40B4-BE49-F238E27FC236}">
                <a16:creationId xmlns:a16="http://schemas.microsoft.com/office/drawing/2014/main" id="{45B0D946-A723-4BBD-B8DE-B6B2FA76DE0D}"/>
              </a:ext>
            </a:extLst>
          </p:cNvPr>
          <p:cNvSpPr>
            <a:spLocks noGrp="1"/>
          </p:cNvSpPr>
          <p:nvPr/>
        </p:nvSpPr>
        <p:spPr>
          <a:xfrm>
            <a:off x="609600" y="2095500"/>
            <a:ext cx="3333750" cy="38100"/>
          </a:xfrm>
          <a:prstGeom prst="rect">
            <a:avLst/>
          </a:prstGeom>
          <a:solidFill>
            <a:srgbClr val="246BCE"/>
          </a:solidFill>
          <a:ln w="0">
            <a:noFill/>
            <a:prstDash val="solid"/>
          </a:ln>
        </p:spPr>
      </p:sp>
      <p:sp>
        <p:nvSpPr>
          <p:cNvPr id="9" name="Rectangle 8">
            <a:extLst>
              <a:ext uri="{FF2B5EF4-FFF2-40B4-BE49-F238E27FC236}">
                <a16:creationId xmlns:a16="http://schemas.microsoft.com/office/drawing/2014/main" id="{762FC818-9396-42F7-9055-C5CFE55AA5B8}"/>
              </a:ext>
            </a:extLst>
          </p:cNvPr>
          <p:cNvSpPr>
            <a:spLocks noGrp="1"/>
          </p:cNvSpPr>
          <p:nvPr/>
        </p:nvSpPr>
        <p:spPr>
          <a:xfrm>
            <a:off x="609600" y="2362200"/>
            <a:ext cx="3333750" cy="190500"/>
          </a:xfrm>
          <a:prstGeom prst="rect">
            <a:avLst/>
          </a:prstGeom>
          <a:noFill/>
          <a:ln w="0">
            <a:noFill/>
            <a:prstDash val="solid"/>
          </a:ln>
        </p:spPr>
        <p:txBody>
          <a:bodyPr wrap="square" lIns="0" tIns="0" rIns="0" bIns="0" anchor="t">
            <a:normAutofit/>
          </a:bodyPr>
          <a:lstStyle>
            <a:defPPr algn="l">
              <a:defRPr sz="900" b="1">
                <a:solidFill>
                  <a:srgbClr val="246BCE"/>
                </a:solidFill>
                <a:latin typeface="Arial"/>
                <a:ea typeface="Arial"/>
                <a:cs typeface="Arial"/>
              </a:defRPr>
            </a:defPPr>
          </a:lstStyle>
          <a:p>
            <a:pPr algn="l">
              <a:defRPr sz="900" b="1">
                <a:solidFill>
                  <a:srgbClr val="246BCE"/>
                </a:solidFill>
                <a:latin typeface="Arial"/>
                <a:ea typeface="Arial"/>
                <a:cs typeface="Arial"/>
              </a:defRPr>
            </a:pPr>
            <a:r>
              <a:rPr sz="900" b="1">
                <a:solidFill>
                  <a:srgbClr val="246BCE"/>
                </a:solidFill>
                <a:latin typeface="Arial"/>
                <a:ea typeface="Arial"/>
                <a:cs typeface="Arial"/>
              </a:rPr>
              <a:t>01 / PRESENTATION</a:t>
            </a:r>
          </a:p>
        </p:txBody>
      </p:sp>
      <p:sp>
        <p:nvSpPr>
          <p:cNvPr id="10" name="Rectangle 9">
            <a:extLst>
              <a:ext uri="{FF2B5EF4-FFF2-40B4-BE49-F238E27FC236}">
                <a16:creationId xmlns:a16="http://schemas.microsoft.com/office/drawing/2014/main" id="{418B2511-A59F-466E-80C9-8F6590875DCB}"/>
              </a:ext>
            </a:extLst>
          </p:cNvPr>
          <p:cNvSpPr>
            <a:spLocks noGrp="1"/>
          </p:cNvSpPr>
          <p:nvPr/>
        </p:nvSpPr>
        <p:spPr>
          <a:xfrm>
            <a:off x="609600" y="2705100"/>
            <a:ext cx="3333750" cy="457200"/>
          </a:xfrm>
          <a:prstGeom prst="rect">
            <a:avLst/>
          </a:prstGeom>
          <a:noFill/>
          <a:ln w="0">
            <a:noFill/>
            <a:prstDash val="solid"/>
          </a:ln>
        </p:spPr>
        <p:txBody>
          <a:bodyPr wrap="square" lIns="0" tIns="0" rIns="0" bIns="0" anchor="t">
            <a:normAutofit/>
          </a:bodyPr>
          <a:lstStyle>
            <a:defPPr algn="l">
              <a:defRPr sz="2550" b="1">
                <a:solidFill>
                  <a:srgbClr val="102B4D"/>
                </a:solidFill>
                <a:latin typeface="Arial"/>
                <a:ea typeface="Arial"/>
                <a:cs typeface="Arial"/>
              </a:defRPr>
            </a:defPPr>
          </a:lstStyle>
          <a:p>
            <a:pPr algn="l">
              <a:defRPr sz="2550" b="1">
                <a:solidFill>
                  <a:srgbClr val="102B4D"/>
                </a:solidFill>
                <a:latin typeface="Arial"/>
                <a:ea typeface="Arial"/>
                <a:cs typeface="Arial"/>
              </a:defRPr>
            </a:pPr>
            <a:r>
              <a:rPr sz="2550" b="1">
                <a:solidFill>
                  <a:srgbClr val="102B4D"/>
                </a:solidFill>
                <a:latin typeface="Arial"/>
                <a:ea typeface="Arial"/>
                <a:cs typeface="Arial"/>
              </a:rPr>
              <a:t>Frontend</a:t>
            </a:r>
          </a:p>
        </p:txBody>
      </p:sp>
      <p:sp>
        <p:nvSpPr>
          <p:cNvPr id="11" name="Oval 10">
            <a:extLst>
              <a:ext uri="{FF2B5EF4-FFF2-40B4-BE49-F238E27FC236}">
                <a16:creationId xmlns:a16="http://schemas.microsoft.com/office/drawing/2014/main" id="{74804C22-5608-4051-B284-89DE07C9E8B3}"/>
              </a:ext>
            </a:extLst>
          </p:cNvPr>
          <p:cNvSpPr>
            <a:spLocks noGrp="1"/>
          </p:cNvSpPr>
          <p:nvPr/>
        </p:nvSpPr>
        <p:spPr>
          <a:xfrm>
            <a:off x="609600" y="3438525"/>
            <a:ext cx="114300" cy="114300"/>
          </a:xfrm>
          <a:prstGeom prst="ellipse">
            <a:avLst/>
          </a:prstGeom>
          <a:solidFill>
            <a:srgbClr val="246BCE"/>
          </a:solidFill>
          <a:ln w="0">
            <a:noFill/>
            <a:prstDash val="solid"/>
          </a:ln>
        </p:spPr>
      </p:sp>
      <p:sp>
        <p:nvSpPr>
          <p:cNvPr id="12" name="Rectangle 11">
            <a:extLst>
              <a:ext uri="{FF2B5EF4-FFF2-40B4-BE49-F238E27FC236}">
                <a16:creationId xmlns:a16="http://schemas.microsoft.com/office/drawing/2014/main" id="{F88FC5F0-93CC-4269-95B7-0D5C3336C9C6}"/>
              </a:ext>
            </a:extLst>
          </p:cNvPr>
          <p:cNvSpPr>
            <a:spLocks noGrp="1"/>
          </p:cNvSpPr>
          <p:nvPr/>
        </p:nvSpPr>
        <p:spPr>
          <a:xfrm>
            <a:off x="857250" y="33718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HTML templates</a:t>
            </a:r>
          </a:p>
        </p:txBody>
      </p:sp>
      <p:sp>
        <p:nvSpPr>
          <p:cNvPr id="13" name="Rectangle 12">
            <a:extLst>
              <a:ext uri="{FF2B5EF4-FFF2-40B4-BE49-F238E27FC236}">
                <a16:creationId xmlns:a16="http://schemas.microsoft.com/office/drawing/2014/main" id="{110B7594-F522-4125-8592-CB1F7EBE54E3}"/>
              </a:ext>
            </a:extLst>
          </p:cNvPr>
          <p:cNvSpPr>
            <a:spLocks noGrp="1"/>
          </p:cNvSpPr>
          <p:nvPr/>
        </p:nvSpPr>
        <p:spPr>
          <a:xfrm>
            <a:off x="857250" y="36671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14" name="Oval 13">
            <a:extLst>
              <a:ext uri="{FF2B5EF4-FFF2-40B4-BE49-F238E27FC236}">
                <a16:creationId xmlns:a16="http://schemas.microsoft.com/office/drawing/2014/main" id="{F430DCB8-582A-4461-B951-6BF7A68C1CD0}"/>
              </a:ext>
            </a:extLst>
          </p:cNvPr>
          <p:cNvSpPr>
            <a:spLocks noGrp="1"/>
          </p:cNvSpPr>
          <p:nvPr/>
        </p:nvSpPr>
        <p:spPr>
          <a:xfrm>
            <a:off x="609600" y="3990975"/>
            <a:ext cx="114300" cy="114300"/>
          </a:xfrm>
          <a:prstGeom prst="ellipse">
            <a:avLst/>
          </a:prstGeom>
          <a:solidFill>
            <a:srgbClr val="246BCE"/>
          </a:solidFill>
          <a:ln w="0">
            <a:noFill/>
            <a:prstDash val="solid"/>
          </a:ln>
        </p:spPr>
      </p:sp>
      <p:sp>
        <p:nvSpPr>
          <p:cNvPr id="15" name="Rectangle 14">
            <a:extLst>
              <a:ext uri="{FF2B5EF4-FFF2-40B4-BE49-F238E27FC236}">
                <a16:creationId xmlns:a16="http://schemas.microsoft.com/office/drawing/2014/main" id="{2003C4F6-E0CF-42F1-9AEF-F17ED169EA5E}"/>
              </a:ext>
            </a:extLst>
          </p:cNvPr>
          <p:cNvSpPr>
            <a:spLocks noGrp="1"/>
          </p:cNvSpPr>
          <p:nvPr/>
        </p:nvSpPr>
        <p:spPr>
          <a:xfrm>
            <a:off x="857250" y="39243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CSS and Bootstrap</a:t>
            </a:r>
          </a:p>
        </p:txBody>
      </p:sp>
      <p:sp>
        <p:nvSpPr>
          <p:cNvPr id="16" name="Rectangle 15">
            <a:extLst>
              <a:ext uri="{FF2B5EF4-FFF2-40B4-BE49-F238E27FC236}">
                <a16:creationId xmlns:a16="http://schemas.microsoft.com/office/drawing/2014/main" id="{38108163-F4DA-42F9-AFAE-DD1372773C26}"/>
              </a:ext>
            </a:extLst>
          </p:cNvPr>
          <p:cNvSpPr>
            <a:spLocks noGrp="1"/>
          </p:cNvSpPr>
          <p:nvPr/>
        </p:nvSpPr>
        <p:spPr>
          <a:xfrm>
            <a:off x="857250" y="42195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17" name="Oval 16">
            <a:extLst>
              <a:ext uri="{FF2B5EF4-FFF2-40B4-BE49-F238E27FC236}">
                <a16:creationId xmlns:a16="http://schemas.microsoft.com/office/drawing/2014/main" id="{7C057C77-B6F5-4FC4-9B20-8B1956010F89}"/>
              </a:ext>
            </a:extLst>
          </p:cNvPr>
          <p:cNvSpPr>
            <a:spLocks noGrp="1"/>
          </p:cNvSpPr>
          <p:nvPr/>
        </p:nvSpPr>
        <p:spPr>
          <a:xfrm>
            <a:off x="609600" y="4543425"/>
            <a:ext cx="114300" cy="114300"/>
          </a:xfrm>
          <a:prstGeom prst="ellipse">
            <a:avLst/>
          </a:prstGeom>
          <a:solidFill>
            <a:srgbClr val="246BCE"/>
          </a:solidFill>
          <a:ln w="0">
            <a:noFill/>
            <a:prstDash val="solid"/>
          </a:ln>
        </p:spPr>
      </p:sp>
      <p:sp>
        <p:nvSpPr>
          <p:cNvPr id="18" name="Rectangle 17">
            <a:extLst>
              <a:ext uri="{FF2B5EF4-FFF2-40B4-BE49-F238E27FC236}">
                <a16:creationId xmlns:a16="http://schemas.microsoft.com/office/drawing/2014/main" id="{B383FE90-427C-47B6-B47B-9C20EE2E54C8}"/>
              </a:ext>
            </a:extLst>
          </p:cNvPr>
          <p:cNvSpPr>
            <a:spLocks noGrp="1"/>
          </p:cNvSpPr>
          <p:nvPr/>
        </p:nvSpPr>
        <p:spPr>
          <a:xfrm>
            <a:off x="857250" y="44767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JavaScript</a:t>
            </a:r>
          </a:p>
        </p:txBody>
      </p:sp>
      <p:sp>
        <p:nvSpPr>
          <p:cNvPr id="19" name="Rectangle 18">
            <a:extLst>
              <a:ext uri="{FF2B5EF4-FFF2-40B4-BE49-F238E27FC236}">
                <a16:creationId xmlns:a16="http://schemas.microsoft.com/office/drawing/2014/main" id="{F3EB756C-25D0-4FAD-AEEB-956E8778ED1F}"/>
              </a:ext>
            </a:extLst>
          </p:cNvPr>
          <p:cNvSpPr>
            <a:spLocks noGrp="1"/>
          </p:cNvSpPr>
          <p:nvPr/>
        </p:nvSpPr>
        <p:spPr>
          <a:xfrm>
            <a:off x="857250" y="47720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20" name="Oval 19">
            <a:extLst>
              <a:ext uri="{FF2B5EF4-FFF2-40B4-BE49-F238E27FC236}">
                <a16:creationId xmlns:a16="http://schemas.microsoft.com/office/drawing/2014/main" id="{EE80950C-7A99-44CD-9927-9E822AD7ACE1}"/>
              </a:ext>
            </a:extLst>
          </p:cNvPr>
          <p:cNvSpPr>
            <a:spLocks noGrp="1"/>
          </p:cNvSpPr>
          <p:nvPr/>
        </p:nvSpPr>
        <p:spPr>
          <a:xfrm>
            <a:off x="609600" y="5095875"/>
            <a:ext cx="114300" cy="114300"/>
          </a:xfrm>
          <a:prstGeom prst="ellipse">
            <a:avLst/>
          </a:prstGeom>
          <a:solidFill>
            <a:srgbClr val="246BCE"/>
          </a:solidFill>
          <a:ln w="0">
            <a:noFill/>
            <a:prstDash val="solid"/>
          </a:ln>
        </p:spPr>
      </p:sp>
      <p:sp>
        <p:nvSpPr>
          <p:cNvPr id="21" name="Rectangle 20">
            <a:extLst>
              <a:ext uri="{FF2B5EF4-FFF2-40B4-BE49-F238E27FC236}">
                <a16:creationId xmlns:a16="http://schemas.microsoft.com/office/drawing/2014/main" id="{C7431CD0-1828-4F16-8230-2D9FF8E48EC7}"/>
              </a:ext>
            </a:extLst>
          </p:cNvPr>
          <p:cNvSpPr>
            <a:spLocks noGrp="1"/>
          </p:cNvSpPr>
          <p:nvPr/>
        </p:nvSpPr>
        <p:spPr>
          <a:xfrm>
            <a:off x="857250" y="50292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Responsive event pages</a:t>
            </a:r>
          </a:p>
        </p:txBody>
      </p:sp>
      <p:sp>
        <p:nvSpPr>
          <p:cNvPr id="22" name="Rectangle 21">
            <a:extLst>
              <a:ext uri="{FF2B5EF4-FFF2-40B4-BE49-F238E27FC236}">
                <a16:creationId xmlns:a16="http://schemas.microsoft.com/office/drawing/2014/main" id="{7AC04B7B-F8CD-441C-9E8B-F43BBFE05D30}"/>
              </a:ext>
            </a:extLst>
          </p:cNvPr>
          <p:cNvSpPr>
            <a:spLocks noGrp="1"/>
          </p:cNvSpPr>
          <p:nvPr/>
        </p:nvSpPr>
        <p:spPr>
          <a:xfrm>
            <a:off x="857250" y="53244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23" name="Rectangle 22">
            <a:extLst>
              <a:ext uri="{FF2B5EF4-FFF2-40B4-BE49-F238E27FC236}">
                <a16:creationId xmlns:a16="http://schemas.microsoft.com/office/drawing/2014/main" id="{867574F3-1C4F-4F79-9C23-62437FBEE17F}"/>
              </a:ext>
            </a:extLst>
          </p:cNvPr>
          <p:cNvSpPr>
            <a:spLocks noGrp="1"/>
          </p:cNvSpPr>
          <p:nvPr/>
        </p:nvSpPr>
        <p:spPr>
          <a:xfrm>
            <a:off x="4429125" y="2095500"/>
            <a:ext cx="3333750" cy="38100"/>
          </a:xfrm>
          <a:prstGeom prst="rect">
            <a:avLst/>
          </a:prstGeom>
          <a:solidFill>
            <a:srgbClr val="7048E8"/>
          </a:solidFill>
          <a:ln w="0">
            <a:noFill/>
            <a:prstDash val="solid"/>
          </a:ln>
        </p:spPr>
      </p:sp>
      <p:sp>
        <p:nvSpPr>
          <p:cNvPr id="24" name="Rectangle 23">
            <a:extLst>
              <a:ext uri="{FF2B5EF4-FFF2-40B4-BE49-F238E27FC236}">
                <a16:creationId xmlns:a16="http://schemas.microsoft.com/office/drawing/2014/main" id="{484029CE-D93E-454B-98C0-CFBC7339F5AE}"/>
              </a:ext>
            </a:extLst>
          </p:cNvPr>
          <p:cNvSpPr>
            <a:spLocks noGrp="1"/>
          </p:cNvSpPr>
          <p:nvPr/>
        </p:nvSpPr>
        <p:spPr>
          <a:xfrm>
            <a:off x="4429125" y="2362200"/>
            <a:ext cx="3333750" cy="190500"/>
          </a:xfrm>
          <a:prstGeom prst="rect">
            <a:avLst/>
          </a:prstGeom>
          <a:noFill/>
          <a:ln w="0">
            <a:noFill/>
            <a:prstDash val="solid"/>
          </a:ln>
        </p:spPr>
        <p:txBody>
          <a:bodyPr wrap="square" lIns="0" tIns="0" rIns="0" bIns="0" anchor="t">
            <a:normAutofit/>
          </a:bodyPr>
          <a:lstStyle>
            <a:defPPr algn="l">
              <a:defRPr sz="900" b="1">
                <a:solidFill>
                  <a:srgbClr val="7048E8"/>
                </a:solidFill>
                <a:latin typeface="Arial"/>
                <a:ea typeface="Arial"/>
                <a:cs typeface="Arial"/>
              </a:defRPr>
            </a:defPPr>
          </a:lstStyle>
          <a:p>
            <a:pPr algn="l">
              <a:defRPr sz="900" b="1">
                <a:solidFill>
                  <a:srgbClr val="7048E8"/>
                </a:solidFill>
                <a:latin typeface="Arial"/>
                <a:ea typeface="Arial"/>
                <a:cs typeface="Arial"/>
              </a:defRPr>
            </a:pPr>
            <a:r>
              <a:rPr sz="900" b="1">
                <a:solidFill>
                  <a:srgbClr val="7048E8"/>
                </a:solidFill>
                <a:latin typeface="Arial"/>
                <a:ea typeface="Arial"/>
                <a:cs typeface="Arial"/>
              </a:rPr>
              <a:t>02 / APPLICATION</a:t>
            </a:r>
          </a:p>
        </p:txBody>
      </p:sp>
      <p:sp>
        <p:nvSpPr>
          <p:cNvPr id="25" name="Rectangle 24">
            <a:extLst>
              <a:ext uri="{FF2B5EF4-FFF2-40B4-BE49-F238E27FC236}">
                <a16:creationId xmlns:a16="http://schemas.microsoft.com/office/drawing/2014/main" id="{D8E97B18-4C3A-4C4D-AA4D-C8496C3C9725}"/>
              </a:ext>
            </a:extLst>
          </p:cNvPr>
          <p:cNvSpPr>
            <a:spLocks noGrp="1"/>
          </p:cNvSpPr>
          <p:nvPr/>
        </p:nvSpPr>
        <p:spPr>
          <a:xfrm>
            <a:off x="4429125" y="2705100"/>
            <a:ext cx="3333750" cy="457200"/>
          </a:xfrm>
          <a:prstGeom prst="rect">
            <a:avLst/>
          </a:prstGeom>
          <a:noFill/>
          <a:ln w="0">
            <a:noFill/>
            <a:prstDash val="solid"/>
          </a:ln>
        </p:spPr>
        <p:txBody>
          <a:bodyPr wrap="square" lIns="0" tIns="0" rIns="0" bIns="0" anchor="t">
            <a:normAutofit/>
          </a:bodyPr>
          <a:lstStyle>
            <a:defPPr algn="l">
              <a:defRPr sz="2550" b="1">
                <a:solidFill>
                  <a:srgbClr val="102B4D"/>
                </a:solidFill>
                <a:latin typeface="Arial"/>
                <a:ea typeface="Arial"/>
                <a:cs typeface="Arial"/>
              </a:defRPr>
            </a:defPPr>
          </a:lstStyle>
          <a:p>
            <a:pPr algn="l">
              <a:defRPr sz="2550" b="1">
                <a:solidFill>
                  <a:srgbClr val="102B4D"/>
                </a:solidFill>
                <a:latin typeface="Arial"/>
                <a:ea typeface="Arial"/>
                <a:cs typeface="Arial"/>
              </a:defRPr>
            </a:pPr>
            <a:r>
              <a:rPr sz="2550" b="1">
                <a:solidFill>
                  <a:srgbClr val="102B4D"/>
                </a:solidFill>
                <a:latin typeface="Arial"/>
                <a:ea typeface="Arial"/>
                <a:cs typeface="Arial"/>
              </a:rPr>
              <a:t>Backend</a:t>
            </a:r>
          </a:p>
        </p:txBody>
      </p:sp>
      <p:sp>
        <p:nvSpPr>
          <p:cNvPr id="26" name="Oval 25">
            <a:extLst>
              <a:ext uri="{FF2B5EF4-FFF2-40B4-BE49-F238E27FC236}">
                <a16:creationId xmlns:a16="http://schemas.microsoft.com/office/drawing/2014/main" id="{D0892A16-B72C-4068-B39B-88AE2DF59710}"/>
              </a:ext>
            </a:extLst>
          </p:cNvPr>
          <p:cNvSpPr>
            <a:spLocks noGrp="1"/>
          </p:cNvSpPr>
          <p:nvPr/>
        </p:nvSpPr>
        <p:spPr>
          <a:xfrm>
            <a:off x="4429125" y="3438525"/>
            <a:ext cx="114300" cy="114300"/>
          </a:xfrm>
          <a:prstGeom prst="ellipse">
            <a:avLst/>
          </a:prstGeom>
          <a:solidFill>
            <a:srgbClr val="7048E8"/>
          </a:solidFill>
          <a:ln w="0">
            <a:noFill/>
            <a:prstDash val="solid"/>
          </a:ln>
        </p:spPr>
      </p:sp>
      <p:sp>
        <p:nvSpPr>
          <p:cNvPr id="27" name="Rectangle 26">
            <a:extLst>
              <a:ext uri="{FF2B5EF4-FFF2-40B4-BE49-F238E27FC236}">
                <a16:creationId xmlns:a16="http://schemas.microsoft.com/office/drawing/2014/main" id="{40D6A699-4E4E-445B-A423-E4A2898496C8}"/>
              </a:ext>
            </a:extLst>
          </p:cNvPr>
          <p:cNvSpPr>
            <a:spLocks noGrp="1"/>
          </p:cNvSpPr>
          <p:nvPr/>
        </p:nvSpPr>
        <p:spPr>
          <a:xfrm>
            <a:off x="4676775" y="33718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Python</a:t>
            </a:r>
          </a:p>
        </p:txBody>
      </p:sp>
      <p:sp>
        <p:nvSpPr>
          <p:cNvPr id="28" name="Rectangle 27">
            <a:extLst>
              <a:ext uri="{FF2B5EF4-FFF2-40B4-BE49-F238E27FC236}">
                <a16:creationId xmlns:a16="http://schemas.microsoft.com/office/drawing/2014/main" id="{1F23D410-0DC3-4E60-91BF-7EEA7B6330A5}"/>
              </a:ext>
            </a:extLst>
          </p:cNvPr>
          <p:cNvSpPr>
            <a:spLocks noGrp="1"/>
          </p:cNvSpPr>
          <p:nvPr/>
        </p:nvSpPr>
        <p:spPr>
          <a:xfrm>
            <a:off x="4676775" y="36671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29" name="Oval 28">
            <a:extLst>
              <a:ext uri="{FF2B5EF4-FFF2-40B4-BE49-F238E27FC236}">
                <a16:creationId xmlns:a16="http://schemas.microsoft.com/office/drawing/2014/main" id="{7942A1B4-415D-4449-B50F-B933FD923C27}"/>
              </a:ext>
            </a:extLst>
          </p:cNvPr>
          <p:cNvSpPr>
            <a:spLocks noGrp="1"/>
          </p:cNvSpPr>
          <p:nvPr/>
        </p:nvSpPr>
        <p:spPr>
          <a:xfrm>
            <a:off x="4429125" y="3990975"/>
            <a:ext cx="114300" cy="114300"/>
          </a:xfrm>
          <a:prstGeom prst="ellipse">
            <a:avLst/>
          </a:prstGeom>
          <a:solidFill>
            <a:srgbClr val="7048E8"/>
          </a:solidFill>
          <a:ln w="0">
            <a:noFill/>
            <a:prstDash val="solid"/>
          </a:ln>
        </p:spPr>
      </p:sp>
      <p:sp>
        <p:nvSpPr>
          <p:cNvPr id="30" name="Rectangle 29">
            <a:extLst>
              <a:ext uri="{FF2B5EF4-FFF2-40B4-BE49-F238E27FC236}">
                <a16:creationId xmlns:a16="http://schemas.microsoft.com/office/drawing/2014/main" id="{2E57D86D-B35F-404D-A079-28B0C79FD2EA}"/>
              </a:ext>
            </a:extLst>
          </p:cNvPr>
          <p:cNvSpPr>
            <a:spLocks noGrp="1"/>
          </p:cNvSpPr>
          <p:nvPr/>
        </p:nvSpPr>
        <p:spPr>
          <a:xfrm>
            <a:off x="4676775" y="39243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Flask routes</a:t>
            </a:r>
          </a:p>
        </p:txBody>
      </p:sp>
      <p:sp>
        <p:nvSpPr>
          <p:cNvPr id="31" name="Rectangle 30">
            <a:extLst>
              <a:ext uri="{FF2B5EF4-FFF2-40B4-BE49-F238E27FC236}">
                <a16:creationId xmlns:a16="http://schemas.microsoft.com/office/drawing/2014/main" id="{740FDD81-0D71-4D83-9F73-A64A5E611847}"/>
              </a:ext>
            </a:extLst>
          </p:cNvPr>
          <p:cNvSpPr>
            <a:spLocks noGrp="1"/>
          </p:cNvSpPr>
          <p:nvPr/>
        </p:nvSpPr>
        <p:spPr>
          <a:xfrm>
            <a:off x="4676775" y="42195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32" name="Oval 31">
            <a:extLst>
              <a:ext uri="{FF2B5EF4-FFF2-40B4-BE49-F238E27FC236}">
                <a16:creationId xmlns:a16="http://schemas.microsoft.com/office/drawing/2014/main" id="{E29BB185-058D-452D-96B6-CCD48F5FD923}"/>
              </a:ext>
            </a:extLst>
          </p:cNvPr>
          <p:cNvSpPr>
            <a:spLocks noGrp="1"/>
          </p:cNvSpPr>
          <p:nvPr/>
        </p:nvSpPr>
        <p:spPr>
          <a:xfrm>
            <a:off x="4429125" y="4543425"/>
            <a:ext cx="114300" cy="114300"/>
          </a:xfrm>
          <a:prstGeom prst="ellipse">
            <a:avLst/>
          </a:prstGeom>
          <a:solidFill>
            <a:srgbClr val="7048E8"/>
          </a:solidFill>
          <a:ln w="0">
            <a:noFill/>
            <a:prstDash val="solid"/>
          </a:ln>
        </p:spPr>
      </p:sp>
      <p:sp>
        <p:nvSpPr>
          <p:cNvPr id="33" name="Rectangle 32">
            <a:extLst>
              <a:ext uri="{FF2B5EF4-FFF2-40B4-BE49-F238E27FC236}">
                <a16:creationId xmlns:a16="http://schemas.microsoft.com/office/drawing/2014/main" id="{FDD030CB-CCD2-4233-998E-D6DB1BE38965}"/>
              </a:ext>
            </a:extLst>
          </p:cNvPr>
          <p:cNvSpPr>
            <a:spLocks noGrp="1"/>
          </p:cNvSpPr>
          <p:nvPr/>
        </p:nvSpPr>
        <p:spPr>
          <a:xfrm>
            <a:off x="4676775" y="44767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Form validation</a:t>
            </a:r>
          </a:p>
        </p:txBody>
      </p:sp>
      <p:sp>
        <p:nvSpPr>
          <p:cNvPr id="34" name="Rectangle 33">
            <a:extLst>
              <a:ext uri="{FF2B5EF4-FFF2-40B4-BE49-F238E27FC236}">
                <a16:creationId xmlns:a16="http://schemas.microsoft.com/office/drawing/2014/main" id="{762F88F3-6130-4C33-8DDA-3C1CD54D588B}"/>
              </a:ext>
            </a:extLst>
          </p:cNvPr>
          <p:cNvSpPr>
            <a:spLocks noGrp="1"/>
          </p:cNvSpPr>
          <p:nvPr/>
        </p:nvSpPr>
        <p:spPr>
          <a:xfrm>
            <a:off x="4676775" y="47720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35" name="Oval 34">
            <a:extLst>
              <a:ext uri="{FF2B5EF4-FFF2-40B4-BE49-F238E27FC236}">
                <a16:creationId xmlns:a16="http://schemas.microsoft.com/office/drawing/2014/main" id="{73C6A71E-09D9-43E6-8A4D-1AB60BF65442}"/>
              </a:ext>
            </a:extLst>
          </p:cNvPr>
          <p:cNvSpPr>
            <a:spLocks noGrp="1"/>
          </p:cNvSpPr>
          <p:nvPr/>
        </p:nvSpPr>
        <p:spPr>
          <a:xfrm>
            <a:off x="4429125" y="5095875"/>
            <a:ext cx="114300" cy="114300"/>
          </a:xfrm>
          <a:prstGeom prst="ellipse">
            <a:avLst/>
          </a:prstGeom>
          <a:solidFill>
            <a:srgbClr val="7048E8"/>
          </a:solidFill>
          <a:ln w="0">
            <a:noFill/>
            <a:prstDash val="solid"/>
          </a:ln>
        </p:spPr>
      </p:sp>
      <p:sp>
        <p:nvSpPr>
          <p:cNvPr id="36" name="Rectangle 35">
            <a:extLst>
              <a:ext uri="{FF2B5EF4-FFF2-40B4-BE49-F238E27FC236}">
                <a16:creationId xmlns:a16="http://schemas.microsoft.com/office/drawing/2014/main" id="{6805E128-1B50-414F-BD5C-495872EFB586}"/>
              </a:ext>
            </a:extLst>
          </p:cNvPr>
          <p:cNvSpPr>
            <a:spLocks noGrp="1"/>
          </p:cNvSpPr>
          <p:nvPr/>
        </p:nvSpPr>
        <p:spPr>
          <a:xfrm>
            <a:off x="4676775" y="50292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Session-based admin access</a:t>
            </a:r>
          </a:p>
        </p:txBody>
      </p:sp>
      <p:sp>
        <p:nvSpPr>
          <p:cNvPr id="37" name="Rectangle 36">
            <a:extLst>
              <a:ext uri="{FF2B5EF4-FFF2-40B4-BE49-F238E27FC236}">
                <a16:creationId xmlns:a16="http://schemas.microsoft.com/office/drawing/2014/main" id="{C5AE7454-0CE1-417F-8FFF-D9B3A4A7AD27}"/>
              </a:ext>
            </a:extLst>
          </p:cNvPr>
          <p:cNvSpPr>
            <a:spLocks noGrp="1"/>
          </p:cNvSpPr>
          <p:nvPr/>
        </p:nvSpPr>
        <p:spPr>
          <a:xfrm>
            <a:off x="4676775" y="53244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38" name="Rectangle 37">
            <a:extLst>
              <a:ext uri="{FF2B5EF4-FFF2-40B4-BE49-F238E27FC236}">
                <a16:creationId xmlns:a16="http://schemas.microsoft.com/office/drawing/2014/main" id="{992112FC-5833-4C13-A9D3-EFCE63D6F620}"/>
              </a:ext>
            </a:extLst>
          </p:cNvPr>
          <p:cNvSpPr>
            <a:spLocks noGrp="1"/>
          </p:cNvSpPr>
          <p:nvPr/>
        </p:nvSpPr>
        <p:spPr>
          <a:xfrm>
            <a:off x="8248650" y="2095500"/>
            <a:ext cx="3333750" cy="38100"/>
          </a:xfrm>
          <a:prstGeom prst="rect">
            <a:avLst/>
          </a:prstGeom>
          <a:solidFill>
            <a:srgbClr val="11A8A0"/>
          </a:solidFill>
          <a:ln w="0">
            <a:noFill/>
            <a:prstDash val="solid"/>
          </a:ln>
        </p:spPr>
      </p:sp>
      <p:sp>
        <p:nvSpPr>
          <p:cNvPr id="39" name="Rectangle 38">
            <a:extLst>
              <a:ext uri="{FF2B5EF4-FFF2-40B4-BE49-F238E27FC236}">
                <a16:creationId xmlns:a16="http://schemas.microsoft.com/office/drawing/2014/main" id="{E1B81A1E-A8C6-4D32-BC93-E1D1965FA4F6}"/>
              </a:ext>
            </a:extLst>
          </p:cNvPr>
          <p:cNvSpPr>
            <a:spLocks noGrp="1"/>
          </p:cNvSpPr>
          <p:nvPr/>
        </p:nvSpPr>
        <p:spPr>
          <a:xfrm>
            <a:off x="8248650" y="2362200"/>
            <a:ext cx="3333750" cy="190500"/>
          </a:xfrm>
          <a:prstGeom prst="rect">
            <a:avLst/>
          </a:prstGeom>
          <a:noFill/>
          <a:ln w="0">
            <a:noFill/>
            <a:prstDash val="solid"/>
          </a:ln>
        </p:spPr>
        <p:txBody>
          <a:bodyPr wrap="square" lIns="0" tIns="0" rIns="0" bIns="0" anchor="t">
            <a:normAutofit/>
          </a:bodyPr>
          <a:lstStyle>
            <a:defPPr algn="l">
              <a:defRPr sz="900" b="1">
                <a:solidFill>
                  <a:srgbClr val="11A8A0"/>
                </a:solidFill>
                <a:latin typeface="Arial"/>
                <a:ea typeface="Arial"/>
                <a:cs typeface="Arial"/>
              </a:defRPr>
            </a:defPPr>
          </a:lstStyle>
          <a:p>
            <a:pPr algn="l">
              <a:defRPr sz="900" b="1">
                <a:solidFill>
                  <a:srgbClr val="11A8A0"/>
                </a:solidFill>
                <a:latin typeface="Arial"/>
                <a:ea typeface="Arial"/>
                <a:cs typeface="Arial"/>
              </a:defRPr>
            </a:pPr>
            <a:r>
              <a:rPr sz="900" b="1">
                <a:solidFill>
                  <a:srgbClr val="11A8A0"/>
                </a:solidFill>
                <a:latin typeface="Arial"/>
                <a:ea typeface="Arial"/>
                <a:cs typeface="Arial"/>
              </a:rPr>
              <a:t>03 / STORAGE</a:t>
            </a:r>
          </a:p>
        </p:txBody>
      </p:sp>
      <p:sp>
        <p:nvSpPr>
          <p:cNvPr id="40" name="Rectangle 39">
            <a:extLst>
              <a:ext uri="{FF2B5EF4-FFF2-40B4-BE49-F238E27FC236}">
                <a16:creationId xmlns:a16="http://schemas.microsoft.com/office/drawing/2014/main" id="{5514FCFE-E5FE-44A0-A082-095DA6866AB7}"/>
              </a:ext>
            </a:extLst>
          </p:cNvPr>
          <p:cNvSpPr>
            <a:spLocks noGrp="1"/>
          </p:cNvSpPr>
          <p:nvPr/>
        </p:nvSpPr>
        <p:spPr>
          <a:xfrm>
            <a:off x="8248650" y="2705100"/>
            <a:ext cx="3333750" cy="457200"/>
          </a:xfrm>
          <a:prstGeom prst="rect">
            <a:avLst/>
          </a:prstGeom>
          <a:noFill/>
          <a:ln w="0">
            <a:noFill/>
            <a:prstDash val="solid"/>
          </a:ln>
        </p:spPr>
        <p:txBody>
          <a:bodyPr wrap="square" lIns="0" tIns="0" rIns="0" bIns="0" anchor="t">
            <a:normAutofit/>
          </a:bodyPr>
          <a:lstStyle>
            <a:defPPr algn="l">
              <a:defRPr sz="2550" b="1">
                <a:solidFill>
                  <a:srgbClr val="102B4D"/>
                </a:solidFill>
                <a:latin typeface="Arial"/>
                <a:ea typeface="Arial"/>
                <a:cs typeface="Arial"/>
              </a:defRPr>
            </a:defPPr>
          </a:lstStyle>
          <a:p>
            <a:pPr algn="l">
              <a:defRPr sz="2550" b="1">
                <a:solidFill>
                  <a:srgbClr val="102B4D"/>
                </a:solidFill>
                <a:latin typeface="Arial"/>
                <a:ea typeface="Arial"/>
                <a:cs typeface="Arial"/>
              </a:defRPr>
            </a:pPr>
            <a:r>
              <a:rPr sz="2550" b="1">
                <a:solidFill>
                  <a:srgbClr val="102B4D"/>
                </a:solidFill>
                <a:latin typeface="Arial"/>
                <a:ea typeface="Arial"/>
                <a:cs typeface="Arial"/>
              </a:rPr>
              <a:t>Database</a:t>
            </a:r>
          </a:p>
        </p:txBody>
      </p:sp>
      <p:sp>
        <p:nvSpPr>
          <p:cNvPr id="41" name="Oval 40">
            <a:extLst>
              <a:ext uri="{FF2B5EF4-FFF2-40B4-BE49-F238E27FC236}">
                <a16:creationId xmlns:a16="http://schemas.microsoft.com/office/drawing/2014/main" id="{E507231A-E773-4C02-9603-7F206839C91E}"/>
              </a:ext>
            </a:extLst>
          </p:cNvPr>
          <p:cNvSpPr>
            <a:spLocks noGrp="1"/>
          </p:cNvSpPr>
          <p:nvPr/>
        </p:nvSpPr>
        <p:spPr>
          <a:xfrm>
            <a:off x="8248650" y="3438525"/>
            <a:ext cx="114300" cy="114300"/>
          </a:xfrm>
          <a:prstGeom prst="ellipse">
            <a:avLst/>
          </a:prstGeom>
          <a:solidFill>
            <a:srgbClr val="11A8A0"/>
          </a:solidFill>
          <a:ln w="0">
            <a:noFill/>
            <a:prstDash val="solid"/>
          </a:ln>
        </p:spPr>
      </p:sp>
      <p:sp>
        <p:nvSpPr>
          <p:cNvPr id="42" name="Rectangle 41">
            <a:extLst>
              <a:ext uri="{FF2B5EF4-FFF2-40B4-BE49-F238E27FC236}">
                <a16:creationId xmlns:a16="http://schemas.microsoft.com/office/drawing/2014/main" id="{8DDEFED4-E056-4CAB-9270-4EAC5E10F515}"/>
              </a:ext>
            </a:extLst>
          </p:cNvPr>
          <p:cNvSpPr>
            <a:spLocks noGrp="1"/>
          </p:cNvSpPr>
          <p:nvPr/>
        </p:nvSpPr>
        <p:spPr>
          <a:xfrm>
            <a:off x="8496300" y="33718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MySQL Server</a:t>
            </a:r>
          </a:p>
        </p:txBody>
      </p:sp>
      <p:sp>
        <p:nvSpPr>
          <p:cNvPr id="43" name="Rectangle 42">
            <a:extLst>
              <a:ext uri="{FF2B5EF4-FFF2-40B4-BE49-F238E27FC236}">
                <a16:creationId xmlns:a16="http://schemas.microsoft.com/office/drawing/2014/main" id="{D10D9F8E-616F-400E-9B61-12FC26450D3D}"/>
              </a:ext>
            </a:extLst>
          </p:cNvPr>
          <p:cNvSpPr>
            <a:spLocks noGrp="1"/>
          </p:cNvSpPr>
          <p:nvPr/>
        </p:nvSpPr>
        <p:spPr>
          <a:xfrm>
            <a:off x="8496300" y="36671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44" name="Oval 43">
            <a:extLst>
              <a:ext uri="{FF2B5EF4-FFF2-40B4-BE49-F238E27FC236}">
                <a16:creationId xmlns:a16="http://schemas.microsoft.com/office/drawing/2014/main" id="{686F234F-78A7-4E01-A04E-B845C12EE716}"/>
              </a:ext>
            </a:extLst>
          </p:cNvPr>
          <p:cNvSpPr>
            <a:spLocks noGrp="1"/>
          </p:cNvSpPr>
          <p:nvPr/>
        </p:nvSpPr>
        <p:spPr>
          <a:xfrm>
            <a:off x="8248650" y="3990975"/>
            <a:ext cx="114300" cy="114300"/>
          </a:xfrm>
          <a:prstGeom prst="ellipse">
            <a:avLst/>
          </a:prstGeom>
          <a:solidFill>
            <a:srgbClr val="11A8A0"/>
          </a:solidFill>
          <a:ln w="0">
            <a:noFill/>
            <a:prstDash val="solid"/>
          </a:ln>
        </p:spPr>
      </p:sp>
      <p:sp>
        <p:nvSpPr>
          <p:cNvPr id="45" name="Rectangle 44">
            <a:extLst>
              <a:ext uri="{FF2B5EF4-FFF2-40B4-BE49-F238E27FC236}">
                <a16:creationId xmlns:a16="http://schemas.microsoft.com/office/drawing/2014/main" id="{1E5DA32F-D6BB-4F35-9D5F-33FE0A2D161F}"/>
              </a:ext>
            </a:extLst>
          </p:cNvPr>
          <p:cNvSpPr>
            <a:spLocks noGrp="1"/>
          </p:cNvSpPr>
          <p:nvPr/>
        </p:nvSpPr>
        <p:spPr>
          <a:xfrm>
            <a:off x="8496300" y="39243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MySQL Workbench</a:t>
            </a:r>
          </a:p>
        </p:txBody>
      </p:sp>
      <p:sp>
        <p:nvSpPr>
          <p:cNvPr id="46" name="Rectangle 45">
            <a:extLst>
              <a:ext uri="{FF2B5EF4-FFF2-40B4-BE49-F238E27FC236}">
                <a16:creationId xmlns:a16="http://schemas.microsoft.com/office/drawing/2014/main" id="{0E0EEAC0-5E24-4765-B666-C03D66DC4ABD}"/>
              </a:ext>
            </a:extLst>
          </p:cNvPr>
          <p:cNvSpPr>
            <a:spLocks noGrp="1"/>
          </p:cNvSpPr>
          <p:nvPr/>
        </p:nvSpPr>
        <p:spPr>
          <a:xfrm>
            <a:off x="8496300" y="42195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47" name="Oval 46">
            <a:extLst>
              <a:ext uri="{FF2B5EF4-FFF2-40B4-BE49-F238E27FC236}">
                <a16:creationId xmlns:a16="http://schemas.microsoft.com/office/drawing/2014/main" id="{7181E903-8A6C-4B26-8220-C6A4942E8A41}"/>
              </a:ext>
            </a:extLst>
          </p:cNvPr>
          <p:cNvSpPr>
            <a:spLocks noGrp="1"/>
          </p:cNvSpPr>
          <p:nvPr/>
        </p:nvSpPr>
        <p:spPr>
          <a:xfrm>
            <a:off x="8248650" y="4543425"/>
            <a:ext cx="114300" cy="114300"/>
          </a:xfrm>
          <a:prstGeom prst="ellipse">
            <a:avLst/>
          </a:prstGeom>
          <a:solidFill>
            <a:srgbClr val="11A8A0"/>
          </a:solidFill>
          <a:ln w="0">
            <a:noFill/>
            <a:prstDash val="solid"/>
          </a:ln>
        </p:spPr>
      </p:sp>
      <p:sp>
        <p:nvSpPr>
          <p:cNvPr id="48" name="Rectangle 47">
            <a:extLst>
              <a:ext uri="{FF2B5EF4-FFF2-40B4-BE49-F238E27FC236}">
                <a16:creationId xmlns:a16="http://schemas.microsoft.com/office/drawing/2014/main" id="{FD751780-BDCB-4ACE-A32E-0E29DEF67A7C}"/>
              </a:ext>
            </a:extLst>
          </p:cNvPr>
          <p:cNvSpPr>
            <a:spLocks noGrp="1"/>
          </p:cNvSpPr>
          <p:nvPr/>
        </p:nvSpPr>
        <p:spPr>
          <a:xfrm>
            <a:off x="8496300" y="447675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Relational tables</a:t>
            </a:r>
          </a:p>
        </p:txBody>
      </p:sp>
      <p:sp>
        <p:nvSpPr>
          <p:cNvPr id="49" name="Rectangle 48">
            <a:extLst>
              <a:ext uri="{FF2B5EF4-FFF2-40B4-BE49-F238E27FC236}">
                <a16:creationId xmlns:a16="http://schemas.microsoft.com/office/drawing/2014/main" id="{901C3847-4BAE-4905-A6BF-AFBCB1717C8D}"/>
              </a:ext>
            </a:extLst>
          </p:cNvPr>
          <p:cNvSpPr>
            <a:spLocks noGrp="1"/>
          </p:cNvSpPr>
          <p:nvPr/>
        </p:nvSpPr>
        <p:spPr>
          <a:xfrm>
            <a:off x="8496300" y="477202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50" name="Oval 49">
            <a:extLst>
              <a:ext uri="{FF2B5EF4-FFF2-40B4-BE49-F238E27FC236}">
                <a16:creationId xmlns:a16="http://schemas.microsoft.com/office/drawing/2014/main" id="{A02F62CF-05F5-4FB8-A3F4-E66D25F8D8E7}"/>
              </a:ext>
            </a:extLst>
          </p:cNvPr>
          <p:cNvSpPr>
            <a:spLocks noGrp="1"/>
          </p:cNvSpPr>
          <p:nvPr/>
        </p:nvSpPr>
        <p:spPr>
          <a:xfrm>
            <a:off x="8248650" y="5095875"/>
            <a:ext cx="114300" cy="114300"/>
          </a:xfrm>
          <a:prstGeom prst="ellipse">
            <a:avLst/>
          </a:prstGeom>
          <a:solidFill>
            <a:srgbClr val="11A8A0"/>
          </a:solidFill>
          <a:ln w="0">
            <a:noFill/>
            <a:prstDash val="solid"/>
          </a:ln>
        </p:spPr>
      </p:sp>
      <p:sp>
        <p:nvSpPr>
          <p:cNvPr id="51" name="Rectangle 50">
            <a:extLst>
              <a:ext uri="{FF2B5EF4-FFF2-40B4-BE49-F238E27FC236}">
                <a16:creationId xmlns:a16="http://schemas.microsoft.com/office/drawing/2014/main" id="{B47ECC00-3719-488A-ACDC-74805E117558}"/>
              </a:ext>
            </a:extLst>
          </p:cNvPr>
          <p:cNvSpPr>
            <a:spLocks noGrp="1"/>
          </p:cNvSpPr>
          <p:nvPr/>
        </p:nvSpPr>
        <p:spPr>
          <a:xfrm>
            <a:off x="8496300" y="5029200"/>
            <a:ext cx="3086100" cy="266700"/>
          </a:xfrm>
          <a:prstGeom prst="rect">
            <a:avLst/>
          </a:prstGeom>
          <a:noFill/>
          <a:ln w="0">
            <a:noFill/>
            <a:prstDash val="solid"/>
          </a:ln>
        </p:spPr>
        <p:txBody>
          <a:bodyPr wrap="square" lIns="0" tIns="0" rIns="0" bIns="0" anchor="t">
            <a:normAutofit/>
          </a:bodyPr>
          <a:lstStyle>
            <a:defPPr algn="l">
              <a:defRPr sz="1575" b="1">
                <a:solidFill>
                  <a:srgbClr val="172C4B"/>
                </a:solidFill>
                <a:latin typeface="Arial"/>
                <a:ea typeface="Arial"/>
                <a:cs typeface="Arial"/>
              </a:defRPr>
            </a:defPPr>
          </a:lstStyle>
          <a:p>
            <a:pPr algn="l">
              <a:defRPr sz="1575" b="1">
                <a:solidFill>
                  <a:srgbClr val="172C4B"/>
                </a:solidFill>
                <a:latin typeface="Arial"/>
                <a:ea typeface="Arial"/>
                <a:cs typeface="Arial"/>
              </a:defRPr>
            </a:pPr>
            <a:r>
              <a:rPr sz="1575" b="1">
                <a:solidFill>
                  <a:srgbClr val="172C4B"/>
                </a:solidFill>
                <a:latin typeface="Arial"/>
                <a:ea typeface="Arial"/>
                <a:cs typeface="Arial"/>
              </a:rPr>
              <a:t>Event image filenames</a:t>
            </a:r>
          </a:p>
        </p:txBody>
      </p:sp>
      <p:sp>
        <p:nvSpPr>
          <p:cNvPr id="52" name="Rectangle 51">
            <a:extLst>
              <a:ext uri="{FF2B5EF4-FFF2-40B4-BE49-F238E27FC236}">
                <a16:creationId xmlns:a16="http://schemas.microsoft.com/office/drawing/2014/main" id="{6F7BCC9A-1478-4430-8650-69A895AE3A5F}"/>
              </a:ext>
            </a:extLst>
          </p:cNvPr>
          <p:cNvSpPr>
            <a:spLocks noGrp="1"/>
          </p:cNvSpPr>
          <p:nvPr/>
        </p:nvSpPr>
        <p:spPr>
          <a:xfrm>
            <a:off x="8496300" y="5324475"/>
            <a:ext cx="3086100" cy="438150"/>
          </a:xfrm>
          <a:prstGeom prst="rect">
            <a:avLst/>
          </a:prstGeom>
          <a:noFill/>
          <a:ln w="0">
            <a:noFill/>
            <a:prstDash val="solid"/>
          </a:ln>
        </p:spPr>
        <p:txBody>
          <a:bodyPr wrap="square" lIns="0" tIns="0" rIns="0" bIns="0" anchor="t">
            <a:normAutofit/>
          </a:bodyPr>
          <a:lstStyle>
            <a:defPPr algn="l">
              <a:defRPr sz="1275" b="0">
                <a:solidFill>
                  <a:srgbClr val="68778D"/>
                </a:solidFill>
                <a:latin typeface="Arial"/>
                <a:ea typeface="Arial"/>
                <a:cs typeface="Arial"/>
              </a:defRPr>
            </a:defPPr>
          </a:lstStyle>
          <a:p>
            <a:endParaRPr/>
          </a:p>
        </p:txBody>
      </p:sp>
      <p:sp>
        <p:nvSpPr>
          <p:cNvPr id="53" name="Rectangle 52">
            <a:extLst>
              <a:ext uri="{FF2B5EF4-FFF2-40B4-BE49-F238E27FC236}">
                <a16:creationId xmlns:a16="http://schemas.microsoft.com/office/drawing/2014/main" id="{6802CBCA-93C9-42D9-9E5C-D5F4DD9B709C}"/>
              </a:ext>
            </a:extLst>
          </p:cNvPr>
          <p:cNvSpPr>
            <a:spLocks noGrp="1"/>
          </p:cNvSpPr>
          <p:nvPr/>
        </p:nvSpPr>
        <p:spPr>
          <a:xfrm>
            <a:off x="609600" y="5734050"/>
            <a:ext cx="2381250" cy="190500"/>
          </a:xfrm>
          <a:prstGeom prst="rect">
            <a:avLst/>
          </a:prstGeom>
          <a:noFill/>
          <a:ln w="0">
            <a:noFill/>
            <a:prstDash val="solid"/>
          </a:ln>
        </p:spPr>
        <p:txBody>
          <a:bodyPr wrap="square" lIns="0" tIns="0" rIns="0" bIns="0" anchor="t">
            <a:normAutofit/>
          </a:bodyPr>
          <a:lstStyle>
            <a:defPPr algn="l">
              <a:defRPr sz="1050" b="1">
                <a:solidFill>
                  <a:srgbClr val="68778D"/>
                </a:solidFill>
                <a:latin typeface="Arial"/>
                <a:ea typeface="Arial"/>
                <a:cs typeface="Arial"/>
              </a:defRPr>
            </a:defPPr>
          </a:lstStyle>
          <a:p>
            <a:pPr algn="l">
              <a:defRPr sz="1050" b="1">
                <a:solidFill>
                  <a:srgbClr val="68778D"/>
                </a:solidFill>
                <a:latin typeface="Arial"/>
                <a:ea typeface="Arial"/>
                <a:cs typeface="Arial"/>
              </a:defRPr>
            </a:pPr>
            <a:r>
              <a:rPr sz="1050" b="1">
                <a:solidFill>
                  <a:srgbClr val="68778D"/>
                </a:solidFill>
                <a:latin typeface="Arial"/>
                <a:ea typeface="Arial"/>
                <a:cs typeface="Arial"/>
              </a:rPr>
              <a:t>Request and response flow</a:t>
            </a:r>
          </a:p>
        </p:txBody>
      </p:sp>
      <p:sp>
        <p:nvSpPr>
          <p:cNvPr id="54" name="Rectangle 53">
            <a:extLst>
              <a:ext uri="{FF2B5EF4-FFF2-40B4-BE49-F238E27FC236}">
                <a16:creationId xmlns:a16="http://schemas.microsoft.com/office/drawing/2014/main" id="{3C316AD0-D75B-439A-8024-0A4B9255B498}"/>
              </a:ext>
            </a:extLst>
          </p:cNvPr>
          <p:cNvSpPr>
            <a:spLocks noGrp="1"/>
          </p:cNvSpPr>
          <p:nvPr/>
        </p:nvSpPr>
        <p:spPr>
          <a:xfrm>
            <a:off x="2952750" y="5648325"/>
            <a:ext cx="5715000" cy="304800"/>
          </a:xfrm>
          <a:prstGeom prst="rect">
            <a:avLst/>
          </a:prstGeom>
          <a:noFill/>
          <a:ln w="0">
            <a:noFill/>
            <a:prstDash val="solid"/>
          </a:ln>
        </p:spPr>
        <p:txBody>
          <a:bodyPr wrap="square" lIns="0" tIns="0" rIns="0" bIns="0" anchor="t">
            <a:normAutofit/>
          </a:bodyPr>
          <a:lstStyle>
            <a:defPPr algn="l">
              <a:defRPr sz="1650" b="1">
                <a:solidFill>
                  <a:srgbClr val="172C4B"/>
                </a:solidFill>
                <a:latin typeface="Arial"/>
                <a:ea typeface="Arial"/>
                <a:cs typeface="Arial"/>
              </a:defRPr>
            </a:defPPr>
          </a:lstStyle>
          <a:p>
            <a:pPr algn="l">
              <a:defRPr sz="1650" b="1">
                <a:solidFill>
                  <a:srgbClr val="172C4B"/>
                </a:solidFill>
                <a:latin typeface="Arial"/>
                <a:ea typeface="Arial"/>
                <a:cs typeface="Arial"/>
              </a:defRPr>
            </a:pPr>
            <a:r>
              <a:rPr sz="1650" b="1">
                <a:solidFill>
                  <a:srgbClr val="172C4B"/>
                </a:solidFill>
                <a:latin typeface="Arial"/>
                <a:ea typeface="Arial"/>
                <a:cs typeface="Arial"/>
              </a:rPr>
              <a:t>Browser  →  Flask  →  MySQL</a:t>
            </a:r>
          </a:p>
        </p:txBody>
      </p:sp>
    </p:spTree>
    <p:extLst>
      <p:ext uri="{BB962C8B-B14F-4D97-AF65-F5344CB8AC3E}">
        <p14:creationId xmlns:p14="http://schemas.microsoft.com/office/powerpoint/2010/main" val="247371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1E2CD47-C6C7-4831-A193-6E48EFA07C2C}"/>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04  SYSTEM MODULES</a:t>
            </a:r>
          </a:p>
        </p:txBody>
      </p:sp>
      <p:sp>
        <p:nvSpPr>
          <p:cNvPr id="2" name="Rectangle 1">
            <a:extLst>
              <a:ext uri="{FF2B5EF4-FFF2-40B4-BE49-F238E27FC236}">
                <a16:creationId xmlns:a16="http://schemas.microsoft.com/office/drawing/2014/main" id="{4F49871B-0588-42F4-A172-0867969348BF}"/>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Two roles, one event platform</a:t>
            </a:r>
          </a:p>
        </p:txBody>
      </p:sp>
      <p:sp>
        <p:nvSpPr>
          <p:cNvPr id="3" name="Rectangle 2">
            <a:extLst>
              <a:ext uri="{FF2B5EF4-FFF2-40B4-BE49-F238E27FC236}">
                <a16:creationId xmlns:a16="http://schemas.microsoft.com/office/drawing/2014/main" id="{7B4E2801-93BF-44B6-B071-6A3615EA2016}"/>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Students use the public pages. Admins sign in to manage the shared campus event data</a:t>
            </a:r>
          </a:p>
        </p:txBody>
      </p:sp>
      <p:sp>
        <p:nvSpPr>
          <p:cNvPr id="4" name="Straight Connector 3">
            <a:extLst>
              <a:ext uri="{FF2B5EF4-FFF2-40B4-BE49-F238E27FC236}">
                <a16:creationId xmlns:a16="http://schemas.microsoft.com/office/drawing/2014/main" id="{975DD731-A7C5-41D6-8415-5A06A54406BD}"/>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36A495F7-F2A9-4C2E-92D4-2C90E74D78A5}"/>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634E2151-4F34-4A30-8BA6-0BB2F50BF070}"/>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52F2A167-7C49-428A-97D8-46A4EF4AA406}"/>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05</a:t>
            </a:r>
          </a:p>
        </p:txBody>
      </p:sp>
      <p:sp>
        <p:nvSpPr>
          <p:cNvPr id="8" name="Rectangle 7">
            <a:extLst>
              <a:ext uri="{FF2B5EF4-FFF2-40B4-BE49-F238E27FC236}">
                <a16:creationId xmlns:a16="http://schemas.microsoft.com/office/drawing/2014/main" id="{A6752537-6518-45C6-8FEC-658D93AFDD9E}"/>
              </a:ext>
            </a:extLst>
          </p:cNvPr>
          <p:cNvSpPr>
            <a:spLocks noGrp="1"/>
          </p:cNvSpPr>
          <p:nvPr/>
        </p:nvSpPr>
        <p:spPr>
          <a:xfrm>
            <a:off x="609600" y="2095500"/>
            <a:ext cx="4953000" cy="228600"/>
          </a:xfrm>
          <a:prstGeom prst="rect">
            <a:avLst/>
          </a:prstGeom>
          <a:noFill/>
          <a:ln w="0">
            <a:noFill/>
            <a:prstDash val="solid"/>
          </a:ln>
        </p:spPr>
        <p:txBody>
          <a:bodyPr wrap="square" lIns="0" tIns="0" rIns="0" bIns="0" anchor="t">
            <a:normAutofit/>
          </a:bodyPr>
          <a:lstStyle>
            <a:defPPr algn="l">
              <a:defRPr sz="1050" b="1">
                <a:solidFill>
                  <a:srgbClr val="11A8A0"/>
                </a:solidFill>
                <a:latin typeface="Arial"/>
                <a:ea typeface="Arial"/>
                <a:cs typeface="Arial"/>
              </a:defRPr>
            </a:defPPr>
          </a:lstStyle>
          <a:p>
            <a:pPr algn="l">
              <a:defRPr sz="1050" b="1">
                <a:solidFill>
                  <a:srgbClr val="11A8A0"/>
                </a:solidFill>
                <a:latin typeface="Arial"/>
                <a:ea typeface="Arial"/>
                <a:cs typeface="Arial"/>
              </a:defRPr>
            </a:pPr>
            <a:r>
              <a:rPr sz="1050" b="1">
                <a:solidFill>
                  <a:srgbClr val="11A8A0"/>
                </a:solidFill>
                <a:latin typeface="Arial"/>
                <a:ea typeface="Arial"/>
                <a:cs typeface="Arial"/>
              </a:rPr>
              <a:t>STUDENT EXPERIENCE</a:t>
            </a:r>
          </a:p>
        </p:txBody>
      </p:sp>
      <p:sp>
        <p:nvSpPr>
          <p:cNvPr id="9" name="Straight Connector 8">
            <a:extLst>
              <a:ext uri="{FF2B5EF4-FFF2-40B4-BE49-F238E27FC236}">
                <a16:creationId xmlns:a16="http://schemas.microsoft.com/office/drawing/2014/main" id="{871BCF10-ACF4-4514-9888-FABBAFF98B27}"/>
              </a:ext>
            </a:extLst>
          </p:cNvPr>
          <p:cNvSpPr>
            <a:spLocks noGrp="1"/>
          </p:cNvSpPr>
          <p:nvPr/>
        </p:nvSpPr>
        <p:spPr>
          <a:xfrm>
            <a:off x="609600" y="2438400"/>
            <a:ext cx="4953000" cy="9525"/>
          </a:xfrm>
          <a:prstGeom prst="line">
            <a:avLst/>
          </a:prstGeom>
          <a:noFill/>
          <a:ln w="19050">
            <a:solidFill>
              <a:srgbClr val="DDE4EF"/>
            </a:solidFill>
            <a:prstDash val="solid"/>
          </a:ln>
        </p:spPr>
      </p:sp>
      <p:sp>
        <p:nvSpPr>
          <p:cNvPr id="10" name="Rectangle 9">
            <a:extLst>
              <a:ext uri="{FF2B5EF4-FFF2-40B4-BE49-F238E27FC236}">
                <a16:creationId xmlns:a16="http://schemas.microsoft.com/office/drawing/2014/main" id="{4A3FFF73-127D-40F2-A5BC-54E53DE6BBF5}"/>
              </a:ext>
            </a:extLst>
          </p:cNvPr>
          <p:cNvSpPr>
            <a:spLocks noGrp="1"/>
          </p:cNvSpPr>
          <p:nvPr/>
        </p:nvSpPr>
        <p:spPr>
          <a:xfrm>
            <a:off x="609600" y="2714625"/>
            <a:ext cx="419100" cy="285750"/>
          </a:xfrm>
          <a:prstGeom prst="rect">
            <a:avLst/>
          </a:prstGeom>
          <a:noFill/>
          <a:ln w="0">
            <a:noFill/>
            <a:prstDash val="solid"/>
          </a:ln>
        </p:spPr>
        <p:txBody>
          <a:bodyPr wrap="square" lIns="0" tIns="0" rIns="0" bIns="0" anchor="t">
            <a:normAutofit/>
          </a:bodyPr>
          <a:lstStyle>
            <a:defPPr algn="l">
              <a:defRPr sz="1425" b="1">
                <a:solidFill>
                  <a:srgbClr val="11A8A0"/>
                </a:solidFill>
                <a:latin typeface="Arial"/>
                <a:ea typeface="Arial"/>
                <a:cs typeface="Arial"/>
              </a:defRPr>
            </a:defPPr>
          </a:lstStyle>
          <a:p>
            <a:pPr algn="l">
              <a:defRPr sz="1425" b="1">
                <a:solidFill>
                  <a:srgbClr val="11A8A0"/>
                </a:solidFill>
                <a:latin typeface="Arial"/>
                <a:ea typeface="Arial"/>
                <a:cs typeface="Arial"/>
              </a:defRPr>
            </a:pPr>
            <a:r>
              <a:rPr sz="1425" b="1">
                <a:solidFill>
                  <a:srgbClr val="11A8A0"/>
                </a:solidFill>
                <a:latin typeface="Arial"/>
                <a:ea typeface="Arial"/>
                <a:cs typeface="Arial"/>
              </a:rPr>
              <a:t>01</a:t>
            </a:r>
          </a:p>
        </p:txBody>
      </p:sp>
      <p:sp>
        <p:nvSpPr>
          <p:cNvPr id="11" name="Rectangle 10">
            <a:extLst>
              <a:ext uri="{FF2B5EF4-FFF2-40B4-BE49-F238E27FC236}">
                <a16:creationId xmlns:a16="http://schemas.microsoft.com/office/drawing/2014/main" id="{0DCF59B3-2655-4B72-9671-DFE89BD08BD3}"/>
              </a:ext>
            </a:extLst>
          </p:cNvPr>
          <p:cNvSpPr>
            <a:spLocks noGrp="1"/>
          </p:cNvSpPr>
          <p:nvPr/>
        </p:nvSpPr>
        <p:spPr>
          <a:xfrm>
            <a:off x="1162050" y="2695575"/>
            <a:ext cx="4286250" cy="3810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Search and browse events</a:t>
            </a:r>
          </a:p>
        </p:txBody>
      </p:sp>
      <p:sp>
        <p:nvSpPr>
          <p:cNvPr id="12" name="Rectangle 11">
            <a:extLst>
              <a:ext uri="{FF2B5EF4-FFF2-40B4-BE49-F238E27FC236}">
                <a16:creationId xmlns:a16="http://schemas.microsoft.com/office/drawing/2014/main" id="{197CD6B1-F08C-4295-97E9-EB08393ACB6E}"/>
              </a:ext>
            </a:extLst>
          </p:cNvPr>
          <p:cNvSpPr>
            <a:spLocks noGrp="1"/>
          </p:cNvSpPr>
          <p:nvPr/>
        </p:nvSpPr>
        <p:spPr>
          <a:xfrm>
            <a:off x="609600" y="3514725"/>
            <a:ext cx="419100" cy="285750"/>
          </a:xfrm>
          <a:prstGeom prst="rect">
            <a:avLst/>
          </a:prstGeom>
          <a:noFill/>
          <a:ln w="0">
            <a:noFill/>
            <a:prstDash val="solid"/>
          </a:ln>
        </p:spPr>
        <p:txBody>
          <a:bodyPr wrap="square" lIns="0" tIns="0" rIns="0" bIns="0" anchor="t">
            <a:normAutofit/>
          </a:bodyPr>
          <a:lstStyle>
            <a:defPPr algn="l">
              <a:defRPr sz="1425" b="1">
                <a:solidFill>
                  <a:srgbClr val="11A8A0"/>
                </a:solidFill>
                <a:latin typeface="Arial"/>
                <a:ea typeface="Arial"/>
                <a:cs typeface="Arial"/>
              </a:defRPr>
            </a:defPPr>
          </a:lstStyle>
          <a:p>
            <a:pPr algn="l">
              <a:defRPr sz="1425" b="1">
                <a:solidFill>
                  <a:srgbClr val="11A8A0"/>
                </a:solidFill>
                <a:latin typeface="Arial"/>
                <a:ea typeface="Arial"/>
                <a:cs typeface="Arial"/>
              </a:defRPr>
            </a:pPr>
            <a:r>
              <a:rPr sz="1425" b="1">
                <a:solidFill>
                  <a:srgbClr val="11A8A0"/>
                </a:solidFill>
                <a:latin typeface="Arial"/>
                <a:ea typeface="Arial"/>
                <a:cs typeface="Arial"/>
              </a:rPr>
              <a:t>02</a:t>
            </a:r>
          </a:p>
        </p:txBody>
      </p:sp>
      <p:sp>
        <p:nvSpPr>
          <p:cNvPr id="13" name="Rectangle 12">
            <a:extLst>
              <a:ext uri="{FF2B5EF4-FFF2-40B4-BE49-F238E27FC236}">
                <a16:creationId xmlns:a16="http://schemas.microsoft.com/office/drawing/2014/main" id="{89DDA10D-D0F8-4928-9CA7-60F8D6AA197F}"/>
              </a:ext>
            </a:extLst>
          </p:cNvPr>
          <p:cNvSpPr>
            <a:spLocks noGrp="1"/>
          </p:cNvSpPr>
          <p:nvPr/>
        </p:nvSpPr>
        <p:spPr>
          <a:xfrm>
            <a:off x="1162050" y="3495675"/>
            <a:ext cx="4286250" cy="3810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View event information and photos</a:t>
            </a:r>
          </a:p>
        </p:txBody>
      </p:sp>
      <p:sp>
        <p:nvSpPr>
          <p:cNvPr id="14" name="Rectangle 13">
            <a:extLst>
              <a:ext uri="{FF2B5EF4-FFF2-40B4-BE49-F238E27FC236}">
                <a16:creationId xmlns:a16="http://schemas.microsoft.com/office/drawing/2014/main" id="{9D1AFE63-0888-4FF8-AB89-BFB63FA34342}"/>
              </a:ext>
            </a:extLst>
          </p:cNvPr>
          <p:cNvSpPr>
            <a:spLocks noGrp="1"/>
          </p:cNvSpPr>
          <p:nvPr/>
        </p:nvSpPr>
        <p:spPr>
          <a:xfrm>
            <a:off x="609600" y="4314825"/>
            <a:ext cx="419100" cy="285750"/>
          </a:xfrm>
          <a:prstGeom prst="rect">
            <a:avLst/>
          </a:prstGeom>
          <a:noFill/>
          <a:ln w="0">
            <a:noFill/>
            <a:prstDash val="solid"/>
          </a:ln>
        </p:spPr>
        <p:txBody>
          <a:bodyPr wrap="square" lIns="0" tIns="0" rIns="0" bIns="0" anchor="t">
            <a:normAutofit/>
          </a:bodyPr>
          <a:lstStyle>
            <a:defPPr algn="l">
              <a:defRPr sz="1425" b="1">
                <a:solidFill>
                  <a:srgbClr val="11A8A0"/>
                </a:solidFill>
                <a:latin typeface="Arial"/>
                <a:ea typeface="Arial"/>
                <a:cs typeface="Arial"/>
              </a:defRPr>
            </a:defPPr>
          </a:lstStyle>
          <a:p>
            <a:pPr algn="l">
              <a:defRPr sz="1425" b="1">
                <a:solidFill>
                  <a:srgbClr val="11A8A0"/>
                </a:solidFill>
                <a:latin typeface="Arial"/>
                <a:ea typeface="Arial"/>
                <a:cs typeface="Arial"/>
              </a:defRPr>
            </a:pPr>
            <a:r>
              <a:rPr sz="1425" b="1">
                <a:solidFill>
                  <a:srgbClr val="11A8A0"/>
                </a:solidFill>
                <a:latin typeface="Arial"/>
                <a:ea typeface="Arial"/>
                <a:cs typeface="Arial"/>
              </a:rPr>
              <a:t>03</a:t>
            </a:r>
          </a:p>
        </p:txBody>
      </p:sp>
      <p:sp>
        <p:nvSpPr>
          <p:cNvPr id="15" name="Rectangle 14">
            <a:extLst>
              <a:ext uri="{FF2B5EF4-FFF2-40B4-BE49-F238E27FC236}">
                <a16:creationId xmlns:a16="http://schemas.microsoft.com/office/drawing/2014/main" id="{A3A3BACF-5248-43C3-9D36-25E980ED88E9}"/>
              </a:ext>
            </a:extLst>
          </p:cNvPr>
          <p:cNvSpPr>
            <a:spLocks noGrp="1"/>
          </p:cNvSpPr>
          <p:nvPr/>
        </p:nvSpPr>
        <p:spPr>
          <a:xfrm>
            <a:off x="1162050" y="4295775"/>
            <a:ext cx="4286250" cy="3810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Register for an event</a:t>
            </a:r>
          </a:p>
        </p:txBody>
      </p:sp>
      <p:sp>
        <p:nvSpPr>
          <p:cNvPr id="16" name="Rectangle 15">
            <a:extLst>
              <a:ext uri="{FF2B5EF4-FFF2-40B4-BE49-F238E27FC236}">
                <a16:creationId xmlns:a16="http://schemas.microsoft.com/office/drawing/2014/main" id="{18430083-0990-4DF5-ABAA-F868CC55E883}"/>
              </a:ext>
            </a:extLst>
          </p:cNvPr>
          <p:cNvSpPr>
            <a:spLocks noGrp="1"/>
          </p:cNvSpPr>
          <p:nvPr/>
        </p:nvSpPr>
        <p:spPr>
          <a:xfrm>
            <a:off x="6515100" y="2095500"/>
            <a:ext cx="4953000" cy="228600"/>
          </a:xfrm>
          <a:prstGeom prst="rect">
            <a:avLst/>
          </a:prstGeom>
          <a:noFill/>
          <a:ln w="0">
            <a:noFill/>
            <a:prstDash val="solid"/>
          </a:ln>
        </p:spPr>
        <p:txBody>
          <a:bodyPr wrap="square" lIns="0" tIns="0" rIns="0" bIns="0" anchor="t">
            <a:normAutofit/>
          </a:bodyPr>
          <a:lstStyle>
            <a:defPPr algn="l">
              <a:defRPr sz="1050" b="1">
                <a:solidFill>
                  <a:srgbClr val="7048E8"/>
                </a:solidFill>
                <a:latin typeface="Arial"/>
                <a:ea typeface="Arial"/>
                <a:cs typeface="Arial"/>
              </a:defRPr>
            </a:defPPr>
          </a:lstStyle>
          <a:p>
            <a:pPr algn="l">
              <a:defRPr sz="1050" b="1">
                <a:solidFill>
                  <a:srgbClr val="7048E8"/>
                </a:solidFill>
                <a:latin typeface="Arial"/>
                <a:ea typeface="Arial"/>
                <a:cs typeface="Arial"/>
              </a:defRPr>
            </a:pPr>
            <a:r>
              <a:rPr sz="1050" b="1">
                <a:solidFill>
                  <a:srgbClr val="7048E8"/>
                </a:solidFill>
                <a:latin typeface="Arial"/>
                <a:ea typeface="Arial"/>
                <a:cs typeface="Arial"/>
              </a:rPr>
              <a:t>ADMIN EXPERIENCE</a:t>
            </a:r>
          </a:p>
        </p:txBody>
      </p:sp>
      <p:sp>
        <p:nvSpPr>
          <p:cNvPr id="17" name="Straight Connector 16">
            <a:extLst>
              <a:ext uri="{FF2B5EF4-FFF2-40B4-BE49-F238E27FC236}">
                <a16:creationId xmlns:a16="http://schemas.microsoft.com/office/drawing/2014/main" id="{C66D86FA-D4EB-4045-8574-6F02741E88E3}"/>
              </a:ext>
            </a:extLst>
          </p:cNvPr>
          <p:cNvSpPr>
            <a:spLocks noGrp="1"/>
          </p:cNvSpPr>
          <p:nvPr/>
        </p:nvSpPr>
        <p:spPr>
          <a:xfrm>
            <a:off x="6515100" y="2438400"/>
            <a:ext cx="4953000" cy="9525"/>
          </a:xfrm>
          <a:prstGeom prst="line">
            <a:avLst/>
          </a:prstGeom>
          <a:noFill/>
          <a:ln w="19050">
            <a:solidFill>
              <a:srgbClr val="DDE4EF"/>
            </a:solidFill>
            <a:prstDash val="solid"/>
          </a:ln>
        </p:spPr>
      </p:sp>
      <p:sp>
        <p:nvSpPr>
          <p:cNvPr id="18" name="Rectangle 17">
            <a:extLst>
              <a:ext uri="{FF2B5EF4-FFF2-40B4-BE49-F238E27FC236}">
                <a16:creationId xmlns:a16="http://schemas.microsoft.com/office/drawing/2014/main" id="{AD2A7CB7-2BA4-4E0E-9936-2D0390C1E699}"/>
              </a:ext>
            </a:extLst>
          </p:cNvPr>
          <p:cNvSpPr>
            <a:spLocks noGrp="1"/>
          </p:cNvSpPr>
          <p:nvPr/>
        </p:nvSpPr>
        <p:spPr>
          <a:xfrm>
            <a:off x="6515100" y="2714625"/>
            <a:ext cx="419100" cy="285750"/>
          </a:xfrm>
          <a:prstGeom prst="rect">
            <a:avLst/>
          </a:prstGeom>
          <a:noFill/>
          <a:ln w="0">
            <a:noFill/>
            <a:prstDash val="solid"/>
          </a:ln>
        </p:spPr>
        <p:txBody>
          <a:bodyPr wrap="square" lIns="0" tIns="0" rIns="0" bIns="0" anchor="t">
            <a:normAutofit/>
          </a:bodyPr>
          <a:lstStyle>
            <a:defPPr algn="l">
              <a:defRPr sz="1425" b="1">
                <a:solidFill>
                  <a:srgbClr val="7048E8"/>
                </a:solidFill>
                <a:latin typeface="Arial"/>
                <a:ea typeface="Arial"/>
                <a:cs typeface="Arial"/>
              </a:defRPr>
            </a:defPPr>
          </a:lstStyle>
          <a:p>
            <a:pPr algn="l">
              <a:defRPr sz="1425" b="1">
                <a:solidFill>
                  <a:srgbClr val="7048E8"/>
                </a:solidFill>
                <a:latin typeface="Arial"/>
                <a:ea typeface="Arial"/>
                <a:cs typeface="Arial"/>
              </a:defRPr>
            </a:pPr>
            <a:r>
              <a:rPr sz="1425" b="1">
                <a:solidFill>
                  <a:srgbClr val="7048E8"/>
                </a:solidFill>
                <a:latin typeface="Arial"/>
                <a:ea typeface="Arial"/>
                <a:cs typeface="Arial"/>
              </a:rPr>
              <a:t>01</a:t>
            </a:r>
          </a:p>
        </p:txBody>
      </p:sp>
      <p:sp>
        <p:nvSpPr>
          <p:cNvPr id="19" name="Rectangle 18">
            <a:extLst>
              <a:ext uri="{FF2B5EF4-FFF2-40B4-BE49-F238E27FC236}">
                <a16:creationId xmlns:a16="http://schemas.microsoft.com/office/drawing/2014/main" id="{FB45E6AD-3B12-487A-B11B-B5D2876F34FF}"/>
              </a:ext>
            </a:extLst>
          </p:cNvPr>
          <p:cNvSpPr>
            <a:spLocks noGrp="1"/>
          </p:cNvSpPr>
          <p:nvPr/>
        </p:nvSpPr>
        <p:spPr>
          <a:xfrm>
            <a:off x="7067550" y="2695575"/>
            <a:ext cx="4191000" cy="4953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Sign in to the dashboard</a:t>
            </a:r>
          </a:p>
        </p:txBody>
      </p:sp>
      <p:sp>
        <p:nvSpPr>
          <p:cNvPr id="20" name="Rectangle 19">
            <a:extLst>
              <a:ext uri="{FF2B5EF4-FFF2-40B4-BE49-F238E27FC236}">
                <a16:creationId xmlns:a16="http://schemas.microsoft.com/office/drawing/2014/main" id="{B752F7D9-3AFC-4DB3-9C8B-6DF661715D67}"/>
              </a:ext>
            </a:extLst>
          </p:cNvPr>
          <p:cNvSpPr>
            <a:spLocks noGrp="1"/>
          </p:cNvSpPr>
          <p:nvPr/>
        </p:nvSpPr>
        <p:spPr>
          <a:xfrm>
            <a:off x="6515100" y="3514725"/>
            <a:ext cx="419100" cy="285750"/>
          </a:xfrm>
          <a:prstGeom prst="rect">
            <a:avLst/>
          </a:prstGeom>
          <a:noFill/>
          <a:ln w="0">
            <a:noFill/>
            <a:prstDash val="solid"/>
          </a:ln>
        </p:spPr>
        <p:txBody>
          <a:bodyPr wrap="square" lIns="0" tIns="0" rIns="0" bIns="0" anchor="t">
            <a:normAutofit/>
          </a:bodyPr>
          <a:lstStyle>
            <a:defPPr algn="l">
              <a:defRPr sz="1425" b="1">
                <a:solidFill>
                  <a:srgbClr val="7048E8"/>
                </a:solidFill>
                <a:latin typeface="Arial"/>
                <a:ea typeface="Arial"/>
                <a:cs typeface="Arial"/>
              </a:defRPr>
            </a:defPPr>
          </a:lstStyle>
          <a:p>
            <a:pPr algn="l">
              <a:defRPr sz="1425" b="1">
                <a:solidFill>
                  <a:srgbClr val="7048E8"/>
                </a:solidFill>
                <a:latin typeface="Arial"/>
                <a:ea typeface="Arial"/>
                <a:cs typeface="Arial"/>
              </a:defRPr>
            </a:pPr>
            <a:r>
              <a:rPr sz="1425" b="1">
                <a:solidFill>
                  <a:srgbClr val="7048E8"/>
                </a:solidFill>
                <a:latin typeface="Arial"/>
                <a:ea typeface="Arial"/>
                <a:cs typeface="Arial"/>
              </a:rPr>
              <a:t>02</a:t>
            </a:r>
          </a:p>
        </p:txBody>
      </p:sp>
      <p:sp>
        <p:nvSpPr>
          <p:cNvPr id="21" name="Rectangle 20">
            <a:extLst>
              <a:ext uri="{FF2B5EF4-FFF2-40B4-BE49-F238E27FC236}">
                <a16:creationId xmlns:a16="http://schemas.microsoft.com/office/drawing/2014/main" id="{92C455BB-78D2-472E-9138-06F308679709}"/>
              </a:ext>
            </a:extLst>
          </p:cNvPr>
          <p:cNvSpPr>
            <a:spLocks noGrp="1"/>
          </p:cNvSpPr>
          <p:nvPr/>
        </p:nvSpPr>
        <p:spPr>
          <a:xfrm>
            <a:off x="7067550" y="3495675"/>
            <a:ext cx="4191000" cy="4953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Create, edit, publish, or remove events</a:t>
            </a:r>
          </a:p>
        </p:txBody>
      </p:sp>
      <p:sp>
        <p:nvSpPr>
          <p:cNvPr id="22" name="Rectangle 21">
            <a:extLst>
              <a:ext uri="{FF2B5EF4-FFF2-40B4-BE49-F238E27FC236}">
                <a16:creationId xmlns:a16="http://schemas.microsoft.com/office/drawing/2014/main" id="{9D88B5F6-7114-4E93-A227-9D2079F1D0D6}"/>
              </a:ext>
            </a:extLst>
          </p:cNvPr>
          <p:cNvSpPr>
            <a:spLocks noGrp="1"/>
          </p:cNvSpPr>
          <p:nvPr/>
        </p:nvSpPr>
        <p:spPr>
          <a:xfrm>
            <a:off x="6515100" y="4314825"/>
            <a:ext cx="419100" cy="285750"/>
          </a:xfrm>
          <a:prstGeom prst="rect">
            <a:avLst/>
          </a:prstGeom>
          <a:noFill/>
          <a:ln w="0">
            <a:noFill/>
            <a:prstDash val="solid"/>
          </a:ln>
        </p:spPr>
        <p:txBody>
          <a:bodyPr wrap="square" lIns="0" tIns="0" rIns="0" bIns="0" anchor="t">
            <a:normAutofit/>
          </a:bodyPr>
          <a:lstStyle>
            <a:defPPr algn="l">
              <a:defRPr sz="1425" b="1">
                <a:solidFill>
                  <a:srgbClr val="7048E8"/>
                </a:solidFill>
                <a:latin typeface="Arial"/>
                <a:ea typeface="Arial"/>
                <a:cs typeface="Arial"/>
              </a:defRPr>
            </a:defPPr>
          </a:lstStyle>
          <a:p>
            <a:pPr algn="l">
              <a:defRPr sz="1425" b="1">
                <a:solidFill>
                  <a:srgbClr val="7048E8"/>
                </a:solidFill>
                <a:latin typeface="Arial"/>
                <a:ea typeface="Arial"/>
                <a:cs typeface="Arial"/>
              </a:defRPr>
            </a:pPr>
            <a:r>
              <a:rPr sz="1425" b="1">
                <a:solidFill>
                  <a:srgbClr val="7048E8"/>
                </a:solidFill>
                <a:latin typeface="Arial"/>
                <a:ea typeface="Arial"/>
                <a:cs typeface="Arial"/>
              </a:rPr>
              <a:t>03</a:t>
            </a:r>
          </a:p>
        </p:txBody>
      </p:sp>
      <p:sp>
        <p:nvSpPr>
          <p:cNvPr id="23" name="Rectangle 22">
            <a:extLst>
              <a:ext uri="{FF2B5EF4-FFF2-40B4-BE49-F238E27FC236}">
                <a16:creationId xmlns:a16="http://schemas.microsoft.com/office/drawing/2014/main" id="{3EBBCF56-865D-46B5-AC0D-22B27994282B}"/>
              </a:ext>
            </a:extLst>
          </p:cNvPr>
          <p:cNvSpPr>
            <a:spLocks noGrp="1"/>
          </p:cNvSpPr>
          <p:nvPr/>
        </p:nvSpPr>
        <p:spPr>
          <a:xfrm>
            <a:off x="7067550" y="4295775"/>
            <a:ext cx="4191000" cy="495300"/>
          </a:xfrm>
          <a:prstGeom prst="rect">
            <a:avLst/>
          </a:prstGeom>
          <a:noFill/>
          <a:ln w="0">
            <a:noFill/>
            <a:prstDash val="solid"/>
          </a:ln>
        </p:spPr>
        <p:txBody>
          <a:bodyPr wrap="square" lIns="0" tIns="0" rIns="0" bIns="0" anchor="t">
            <a:normAutofit/>
          </a:bodyPr>
          <a:lstStyle>
            <a:defPPr algn="l">
              <a:defRPr sz="1650" b="1">
                <a:solidFill>
                  <a:srgbClr val="102B4D"/>
                </a:solidFill>
                <a:latin typeface="Arial"/>
                <a:ea typeface="Arial"/>
                <a:cs typeface="Arial"/>
              </a:defRPr>
            </a:defPPr>
          </a:lstStyle>
          <a:p>
            <a:pPr algn="l">
              <a:defRPr sz="1650" b="1">
                <a:solidFill>
                  <a:srgbClr val="102B4D"/>
                </a:solidFill>
                <a:latin typeface="Arial"/>
                <a:ea typeface="Arial"/>
                <a:cs typeface="Arial"/>
              </a:defRPr>
            </a:pPr>
            <a:r>
              <a:rPr sz="1650" b="1">
                <a:solidFill>
                  <a:srgbClr val="102B4D"/>
                </a:solidFill>
                <a:latin typeface="Arial"/>
                <a:ea typeface="Arial"/>
                <a:cs typeface="Arial"/>
              </a:rPr>
              <a:t>View participants and download reports</a:t>
            </a:r>
          </a:p>
        </p:txBody>
      </p:sp>
      <p:sp>
        <p:nvSpPr>
          <p:cNvPr id="24" name="Rectangle 23">
            <a:extLst>
              <a:ext uri="{FF2B5EF4-FFF2-40B4-BE49-F238E27FC236}">
                <a16:creationId xmlns:a16="http://schemas.microsoft.com/office/drawing/2014/main" id="{5E11B308-C6B7-4049-8757-EFC8F1E59EEE}"/>
              </a:ext>
            </a:extLst>
          </p:cNvPr>
          <p:cNvSpPr>
            <a:spLocks noGrp="1"/>
          </p:cNvSpPr>
          <p:nvPr/>
        </p:nvSpPr>
        <p:spPr>
          <a:xfrm>
            <a:off x="609600" y="5353050"/>
            <a:ext cx="1057275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Shared data means all administrator accounts see the same events and registrations.</a:t>
            </a:r>
          </a:p>
        </p:txBody>
      </p:sp>
    </p:spTree>
    <p:extLst>
      <p:ext uri="{BB962C8B-B14F-4D97-AF65-F5344CB8AC3E}">
        <p14:creationId xmlns:p14="http://schemas.microsoft.com/office/powerpoint/2010/main" val="202039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69699D4-39BE-40F4-ABFC-BAE57CAFAE45}"/>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05  STUDENT WORKFLOW</a:t>
            </a:r>
          </a:p>
        </p:txBody>
      </p:sp>
      <p:sp>
        <p:nvSpPr>
          <p:cNvPr id="2" name="Rectangle 1">
            <a:extLst>
              <a:ext uri="{FF2B5EF4-FFF2-40B4-BE49-F238E27FC236}">
                <a16:creationId xmlns:a16="http://schemas.microsoft.com/office/drawing/2014/main" id="{1E165776-F99A-4D06-89A1-C44D879B129E}"/>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How event registration works</a:t>
            </a:r>
          </a:p>
        </p:txBody>
      </p:sp>
      <p:sp>
        <p:nvSpPr>
          <p:cNvPr id="3" name="Rectangle 2">
            <a:extLst>
              <a:ext uri="{FF2B5EF4-FFF2-40B4-BE49-F238E27FC236}">
                <a16:creationId xmlns:a16="http://schemas.microsoft.com/office/drawing/2014/main" id="{1602EDE5-6DE2-40A7-B795-646EA62B4811}"/>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The application checks the event and registration rules before saving participation</a:t>
            </a:r>
          </a:p>
        </p:txBody>
      </p:sp>
      <p:sp>
        <p:nvSpPr>
          <p:cNvPr id="4" name="Straight Connector 3">
            <a:extLst>
              <a:ext uri="{FF2B5EF4-FFF2-40B4-BE49-F238E27FC236}">
                <a16:creationId xmlns:a16="http://schemas.microsoft.com/office/drawing/2014/main" id="{746C1CAA-8BA5-42A1-8EEE-C7D6937E8133}"/>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7CBBD9E2-D02B-40AB-87EB-0642A1D2CD6F}"/>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7DC65621-55E3-4F94-A6AF-A085C94D4D1C}"/>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B24FF2D9-4321-4B08-BAD2-36A8603A5219}"/>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06</a:t>
            </a:r>
          </a:p>
        </p:txBody>
      </p:sp>
      <p:sp>
        <p:nvSpPr>
          <p:cNvPr id="8" name="Straight Connector 7">
            <a:extLst>
              <a:ext uri="{FF2B5EF4-FFF2-40B4-BE49-F238E27FC236}">
                <a16:creationId xmlns:a16="http://schemas.microsoft.com/office/drawing/2014/main" id="{66AF4C11-C0A6-41DF-81D0-B94085E2DD85}"/>
              </a:ext>
            </a:extLst>
          </p:cNvPr>
          <p:cNvSpPr>
            <a:spLocks noGrp="1"/>
          </p:cNvSpPr>
          <p:nvPr/>
        </p:nvSpPr>
        <p:spPr>
          <a:xfrm>
            <a:off x="1123950" y="2943225"/>
            <a:ext cx="9525000" cy="19050"/>
          </a:xfrm>
          <a:prstGeom prst="line">
            <a:avLst/>
          </a:prstGeom>
          <a:noFill/>
          <a:ln w="19050">
            <a:solidFill>
              <a:srgbClr val="C9D5E5"/>
            </a:solidFill>
            <a:prstDash val="solid"/>
          </a:ln>
        </p:spPr>
      </p:sp>
      <p:sp>
        <p:nvSpPr>
          <p:cNvPr id="9" name="Oval 8">
            <a:extLst>
              <a:ext uri="{FF2B5EF4-FFF2-40B4-BE49-F238E27FC236}">
                <a16:creationId xmlns:a16="http://schemas.microsoft.com/office/drawing/2014/main" id="{0B4B44EB-FC2B-42FD-9CE1-055D87824124}"/>
              </a:ext>
            </a:extLst>
          </p:cNvPr>
          <p:cNvSpPr>
            <a:spLocks noGrp="1"/>
          </p:cNvSpPr>
          <p:nvPr/>
        </p:nvSpPr>
        <p:spPr>
          <a:xfrm>
            <a:off x="742950" y="2705100"/>
            <a:ext cx="495300" cy="495300"/>
          </a:xfrm>
          <a:prstGeom prst="ellipse">
            <a:avLst/>
          </a:prstGeom>
          <a:solidFill>
            <a:srgbClr val="246BCE"/>
          </a:solidFill>
          <a:ln w="0">
            <a:noFill/>
            <a:prstDash val="solid"/>
          </a:ln>
        </p:spPr>
      </p:sp>
      <p:sp>
        <p:nvSpPr>
          <p:cNvPr id="10" name="Rectangle 9">
            <a:extLst>
              <a:ext uri="{FF2B5EF4-FFF2-40B4-BE49-F238E27FC236}">
                <a16:creationId xmlns:a16="http://schemas.microsoft.com/office/drawing/2014/main" id="{10F00716-FDF5-4922-B2A5-FD81AEAD27F9}"/>
              </a:ext>
            </a:extLst>
          </p:cNvPr>
          <p:cNvSpPr>
            <a:spLocks noGrp="1"/>
          </p:cNvSpPr>
          <p:nvPr/>
        </p:nvSpPr>
        <p:spPr>
          <a:xfrm>
            <a:off x="742950" y="2847975"/>
            <a:ext cx="495300" cy="190500"/>
          </a:xfrm>
          <a:prstGeom prst="rect">
            <a:avLst/>
          </a:prstGeom>
          <a:noFill/>
          <a:ln w="0">
            <a:noFill/>
            <a:prstDash val="solid"/>
          </a:ln>
        </p:spPr>
        <p:txBody>
          <a:bodyPr wrap="square" lIns="0" tIns="0" rIns="0" bIns="0" anchor="ctr">
            <a:normAutofit/>
          </a:bodyPr>
          <a:lstStyle>
            <a:defPPr algn="ctr">
              <a:defRPr sz="1125" b="1">
                <a:solidFill>
                  <a:srgbClr val="FFFFFF"/>
                </a:solidFill>
                <a:latin typeface="Arial"/>
                <a:ea typeface="Arial"/>
                <a:cs typeface="Arial"/>
              </a:defRPr>
            </a:defP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01</a:t>
            </a:r>
          </a:p>
        </p:txBody>
      </p:sp>
      <p:sp>
        <p:nvSpPr>
          <p:cNvPr id="11" name="Rectangle 10">
            <a:extLst>
              <a:ext uri="{FF2B5EF4-FFF2-40B4-BE49-F238E27FC236}">
                <a16:creationId xmlns:a16="http://schemas.microsoft.com/office/drawing/2014/main" id="{2A98B295-3054-4CB5-8DA2-2C14956C1B1F}"/>
              </a:ext>
            </a:extLst>
          </p:cNvPr>
          <p:cNvSpPr>
            <a:spLocks noGrp="1"/>
          </p:cNvSpPr>
          <p:nvPr/>
        </p:nvSpPr>
        <p:spPr>
          <a:xfrm>
            <a:off x="609600" y="3448050"/>
            <a:ext cx="1952625" cy="304800"/>
          </a:xfrm>
          <a:prstGeom prst="rect">
            <a:avLst/>
          </a:prstGeom>
          <a:noFill/>
          <a:ln w="0">
            <a:noFill/>
            <a:prstDash val="solid"/>
          </a:ln>
        </p:spPr>
        <p:txBody>
          <a:bodyPr wrap="square" lIns="0" tIns="0" rIns="0" bIns="0" anchor="t">
            <a:normAutofit/>
          </a:bodyPr>
          <a:lstStyle>
            <a:defPPr algn="l">
              <a:defRPr sz="1500" b="1">
                <a:solidFill>
                  <a:srgbClr val="102B4D"/>
                </a:solidFill>
                <a:latin typeface="Arial"/>
                <a:ea typeface="Arial"/>
                <a:cs typeface="Arial"/>
              </a:defRPr>
            </a:defPPr>
          </a:lstStyle>
          <a:p>
            <a:pPr algn="l">
              <a:defRPr sz="1500" b="1">
                <a:solidFill>
                  <a:srgbClr val="102B4D"/>
                </a:solidFill>
                <a:latin typeface="Arial"/>
                <a:ea typeface="Arial"/>
                <a:cs typeface="Arial"/>
              </a:defRPr>
            </a:pPr>
            <a:r>
              <a:rPr sz="1500" b="1">
                <a:solidFill>
                  <a:srgbClr val="102B4D"/>
                </a:solidFill>
                <a:latin typeface="Arial"/>
                <a:ea typeface="Arial"/>
                <a:cs typeface="Arial"/>
              </a:rPr>
              <a:t>Find an event</a:t>
            </a:r>
          </a:p>
        </p:txBody>
      </p:sp>
      <p:sp>
        <p:nvSpPr>
          <p:cNvPr id="12" name="Rectangle 11">
            <a:extLst>
              <a:ext uri="{FF2B5EF4-FFF2-40B4-BE49-F238E27FC236}">
                <a16:creationId xmlns:a16="http://schemas.microsoft.com/office/drawing/2014/main" id="{99DB52A6-AF7D-4EBE-9FA5-0D2090D704C5}"/>
              </a:ext>
            </a:extLst>
          </p:cNvPr>
          <p:cNvSpPr>
            <a:spLocks noGrp="1"/>
          </p:cNvSpPr>
          <p:nvPr/>
        </p:nvSpPr>
        <p:spPr>
          <a:xfrm>
            <a:off x="609600" y="3829050"/>
            <a:ext cx="1952625" cy="8191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Search or browse published events</a:t>
            </a:r>
          </a:p>
        </p:txBody>
      </p:sp>
      <p:sp>
        <p:nvSpPr>
          <p:cNvPr id="13" name="Oval 12">
            <a:extLst>
              <a:ext uri="{FF2B5EF4-FFF2-40B4-BE49-F238E27FC236}">
                <a16:creationId xmlns:a16="http://schemas.microsoft.com/office/drawing/2014/main" id="{B9DF6A68-6912-43E6-A1E0-BDD1B602DAD0}"/>
              </a:ext>
            </a:extLst>
          </p:cNvPr>
          <p:cNvSpPr>
            <a:spLocks noGrp="1"/>
          </p:cNvSpPr>
          <p:nvPr/>
        </p:nvSpPr>
        <p:spPr>
          <a:xfrm>
            <a:off x="3009900" y="2705100"/>
            <a:ext cx="495300" cy="495300"/>
          </a:xfrm>
          <a:prstGeom prst="ellipse">
            <a:avLst/>
          </a:prstGeom>
          <a:solidFill>
            <a:srgbClr val="246BCE"/>
          </a:solidFill>
          <a:ln w="0">
            <a:noFill/>
            <a:prstDash val="solid"/>
          </a:ln>
        </p:spPr>
      </p:sp>
      <p:sp>
        <p:nvSpPr>
          <p:cNvPr id="14" name="Rectangle 13">
            <a:extLst>
              <a:ext uri="{FF2B5EF4-FFF2-40B4-BE49-F238E27FC236}">
                <a16:creationId xmlns:a16="http://schemas.microsoft.com/office/drawing/2014/main" id="{F1544072-A3F0-416A-AAD9-020883057D13}"/>
              </a:ext>
            </a:extLst>
          </p:cNvPr>
          <p:cNvSpPr>
            <a:spLocks noGrp="1"/>
          </p:cNvSpPr>
          <p:nvPr/>
        </p:nvSpPr>
        <p:spPr>
          <a:xfrm>
            <a:off x="3009900" y="2847975"/>
            <a:ext cx="495300" cy="190500"/>
          </a:xfrm>
          <a:prstGeom prst="rect">
            <a:avLst/>
          </a:prstGeom>
          <a:noFill/>
          <a:ln w="0">
            <a:noFill/>
            <a:prstDash val="solid"/>
          </a:ln>
        </p:spPr>
        <p:txBody>
          <a:bodyPr wrap="square" lIns="0" tIns="0" rIns="0" bIns="0" anchor="ctr">
            <a:normAutofit/>
          </a:bodyPr>
          <a:lstStyle>
            <a:defPPr algn="ctr">
              <a:defRPr sz="1125" b="1">
                <a:solidFill>
                  <a:srgbClr val="FFFFFF"/>
                </a:solidFill>
                <a:latin typeface="Arial"/>
                <a:ea typeface="Arial"/>
                <a:cs typeface="Arial"/>
              </a:defRPr>
            </a:defP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02</a:t>
            </a:r>
          </a:p>
        </p:txBody>
      </p:sp>
      <p:sp>
        <p:nvSpPr>
          <p:cNvPr id="15" name="Rectangle 14">
            <a:extLst>
              <a:ext uri="{FF2B5EF4-FFF2-40B4-BE49-F238E27FC236}">
                <a16:creationId xmlns:a16="http://schemas.microsoft.com/office/drawing/2014/main" id="{8DEE11CF-C32A-4BCA-946F-44F2024E14BD}"/>
              </a:ext>
            </a:extLst>
          </p:cNvPr>
          <p:cNvSpPr>
            <a:spLocks noGrp="1"/>
          </p:cNvSpPr>
          <p:nvPr/>
        </p:nvSpPr>
        <p:spPr>
          <a:xfrm>
            <a:off x="2876550" y="3448050"/>
            <a:ext cx="1952625" cy="304800"/>
          </a:xfrm>
          <a:prstGeom prst="rect">
            <a:avLst/>
          </a:prstGeom>
          <a:noFill/>
          <a:ln w="0">
            <a:noFill/>
            <a:prstDash val="solid"/>
          </a:ln>
        </p:spPr>
        <p:txBody>
          <a:bodyPr wrap="square" lIns="0" tIns="0" rIns="0" bIns="0" anchor="t">
            <a:normAutofit/>
          </a:bodyPr>
          <a:lstStyle>
            <a:defPPr algn="l">
              <a:defRPr sz="1500" b="1">
                <a:solidFill>
                  <a:srgbClr val="102B4D"/>
                </a:solidFill>
                <a:latin typeface="Arial"/>
                <a:ea typeface="Arial"/>
                <a:cs typeface="Arial"/>
              </a:defRPr>
            </a:defPPr>
          </a:lstStyle>
          <a:p>
            <a:pPr algn="l">
              <a:defRPr sz="1500" b="1">
                <a:solidFill>
                  <a:srgbClr val="102B4D"/>
                </a:solidFill>
                <a:latin typeface="Arial"/>
                <a:ea typeface="Arial"/>
                <a:cs typeface="Arial"/>
              </a:defRPr>
            </a:pPr>
            <a:r>
              <a:rPr sz="1500" b="1">
                <a:solidFill>
                  <a:srgbClr val="102B4D"/>
                </a:solidFill>
                <a:latin typeface="Arial"/>
                <a:ea typeface="Arial"/>
                <a:cs typeface="Arial"/>
              </a:rPr>
              <a:t>Open details</a:t>
            </a:r>
          </a:p>
        </p:txBody>
      </p:sp>
      <p:sp>
        <p:nvSpPr>
          <p:cNvPr id="16" name="Rectangle 15">
            <a:extLst>
              <a:ext uri="{FF2B5EF4-FFF2-40B4-BE49-F238E27FC236}">
                <a16:creationId xmlns:a16="http://schemas.microsoft.com/office/drawing/2014/main" id="{166965CE-1C48-471F-9F5A-68077B70D634}"/>
              </a:ext>
            </a:extLst>
          </p:cNvPr>
          <p:cNvSpPr>
            <a:spLocks noGrp="1"/>
          </p:cNvSpPr>
          <p:nvPr/>
        </p:nvSpPr>
        <p:spPr>
          <a:xfrm>
            <a:off x="2876550" y="3829050"/>
            <a:ext cx="1952625" cy="8191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Review date, venue, and capacity</a:t>
            </a:r>
          </a:p>
        </p:txBody>
      </p:sp>
      <p:sp>
        <p:nvSpPr>
          <p:cNvPr id="17" name="Oval 16">
            <a:extLst>
              <a:ext uri="{FF2B5EF4-FFF2-40B4-BE49-F238E27FC236}">
                <a16:creationId xmlns:a16="http://schemas.microsoft.com/office/drawing/2014/main" id="{8803C8B2-AF49-4E3C-ACBC-35E52F3EDC5F}"/>
              </a:ext>
            </a:extLst>
          </p:cNvPr>
          <p:cNvSpPr>
            <a:spLocks noGrp="1"/>
          </p:cNvSpPr>
          <p:nvPr/>
        </p:nvSpPr>
        <p:spPr>
          <a:xfrm>
            <a:off x="5276850" y="2705100"/>
            <a:ext cx="495300" cy="495300"/>
          </a:xfrm>
          <a:prstGeom prst="ellipse">
            <a:avLst/>
          </a:prstGeom>
          <a:solidFill>
            <a:srgbClr val="246BCE"/>
          </a:solidFill>
          <a:ln w="0">
            <a:noFill/>
            <a:prstDash val="solid"/>
          </a:ln>
        </p:spPr>
      </p:sp>
      <p:sp>
        <p:nvSpPr>
          <p:cNvPr id="18" name="Rectangle 17">
            <a:extLst>
              <a:ext uri="{FF2B5EF4-FFF2-40B4-BE49-F238E27FC236}">
                <a16:creationId xmlns:a16="http://schemas.microsoft.com/office/drawing/2014/main" id="{1581D2D7-149C-4E02-88BC-710AEAB058DB}"/>
              </a:ext>
            </a:extLst>
          </p:cNvPr>
          <p:cNvSpPr>
            <a:spLocks noGrp="1"/>
          </p:cNvSpPr>
          <p:nvPr/>
        </p:nvSpPr>
        <p:spPr>
          <a:xfrm>
            <a:off x="5276850" y="2847975"/>
            <a:ext cx="495300" cy="190500"/>
          </a:xfrm>
          <a:prstGeom prst="rect">
            <a:avLst/>
          </a:prstGeom>
          <a:noFill/>
          <a:ln w="0">
            <a:noFill/>
            <a:prstDash val="solid"/>
          </a:ln>
        </p:spPr>
        <p:txBody>
          <a:bodyPr wrap="square" lIns="0" tIns="0" rIns="0" bIns="0" anchor="ctr">
            <a:normAutofit/>
          </a:bodyPr>
          <a:lstStyle>
            <a:defPPr algn="ctr">
              <a:defRPr sz="1125" b="1">
                <a:solidFill>
                  <a:srgbClr val="FFFFFF"/>
                </a:solidFill>
                <a:latin typeface="Arial"/>
                <a:ea typeface="Arial"/>
                <a:cs typeface="Arial"/>
              </a:defRPr>
            </a:defP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03</a:t>
            </a:r>
          </a:p>
        </p:txBody>
      </p:sp>
      <p:sp>
        <p:nvSpPr>
          <p:cNvPr id="19" name="Rectangle 18">
            <a:extLst>
              <a:ext uri="{FF2B5EF4-FFF2-40B4-BE49-F238E27FC236}">
                <a16:creationId xmlns:a16="http://schemas.microsoft.com/office/drawing/2014/main" id="{90EC4156-AEC8-443C-8D35-6F1638916312}"/>
              </a:ext>
            </a:extLst>
          </p:cNvPr>
          <p:cNvSpPr>
            <a:spLocks noGrp="1"/>
          </p:cNvSpPr>
          <p:nvPr/>
        </p:nvSpPr>
        <p:spPr>
          <a:xfrm>
            <a:off x="5143500" y="3448050"/>
            <a:ext cx="1952625" cy="304800"/>
          </a:xfrm>
          <a:prstGeom prst="rect">
            <a:avLst/>
          </a:prstGeom>
          <a:noFill/>
          <a:ln w="0">
            <a:noFill/>
            <a:prstDash val="solid"/>
          </a:ln>
        </p:spPr>
        <p:txBody>
          <a:bodyPr wrap="square" lIns="0" tIns="0" rIns="0" bIns="0" anchor="t">
            <a:normAutofit/>
          </a:bodyPr>
          <a:lstStyle>
            <a:defPPr algn="l">
              <a:defRPr sz="1500" b="1">
                <a:solidFill>
                  <a:srgbClr val="102B4D"/>
                </a:solidFill>
                <a:latin typeface="Arial"/>
                <a:ea typeface="Arial"/>
                <a:cs typeface="Arial"/>
              </a:defRPr>
            </a:defPPr>
          </a:lstStyle>
          <a:p>
            <a:pPr algn="l">
              <a:defRPr sz="1500" b="1">
                <a:solidFill>
                  <a:srgbClr val="102B4D"/>
                </a:solidFill>
                <a:latin typeface="Arial"/>
                <a:ea typeface="Arial"/>
                <a:cs typeface="Arial"/>
              </a:defRPr>
            </a:pPr>
            <a:r>
              <a:rPr sz="1500" b="1">
                <a:solidFill>
                  <a:srgbClr val="102B4D"/>
                </a:solidFill>
                <a:latin typeface="Arial"/>
                <a:ea typeface="Arial"/>
                <a:cs typeface="Arial"/>
              </a:rPr>
              <a:t>Enter details</a:t>
            </a:r>
          </a:p>
        </p:txBody>
      </p:sp>
      <p:sp>
        <p:nvSpPr>
          <p:cNvPr id="20" name="Rectangle 19">
            <a:extLst>
              <a:ext uri="{FF2B5EF4-FFF2-40B4-BE49-F238E27FC236}">
                <a16:creationId xmlns:a16="http://schemas.microsoft.com/office/drawing/2014/main" id="{479EF39D-445C-4A55-B583-33B3EAD48C01}"/>
              </a:ext>
            </a:extLst>
          </p:cNvPr>
          <p:cNvSpPr>
            <a:spLocks noGrp="1"/>
          </p:cNvSpPr>
          <p:nvPr/>
        </p:nvSpPr>
        <p:spPr>
          <a:xfrm>
            <a:off x="5143500" y="3829050"/>
            <a:ext cx="1952625" cy="8191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Provide student number, name, email, department</a:t>
            </a:r>
          </a:p>
        </p:txBody>
      </p:sp>
      <p:sp>
        <p:nvSpPr>
          <p:cNvPr id="21" name="Oval 20">
            <a:extLst>
              <a:ext uri="{FF2B5EF4-FFF2-40B4-BE49-F238E27FC236}">
                <a16:creationId xmlns:a16="http://schemas.microsoft.com/office/drawing/2014/main" id="{00196DA7-6513-4758-8079-DC4282A070A3}"/>
              </a:ext>
            </a:extLst>
          </p:cNvPr>
          <p:cNvSpPr>
            <a:spLocks noGrp="1"/>
          </p:cNvSpPr>
          <p:nvPr/>
        </p:nvSpPr>
        <p:spPr>
          <a:xfrm>
            <a:off x="7543800" y="2705100"/>
            <a:ext cx="495300" cy="495300"/>
          </a:xfrm>
          <a:prstGeom prst="ellipse">
            <a:avLst/>
          </a:prstGeom>
          <a:solidFill>
            <a:srgbClr val="246BCE"/>
          </a:solidFill>
          <a:ln w="0">
            <a:noFill/>
            <a:prstDash val="solid"/>
          </a:ln>
        </p:spPr>
      </p:sp>
      <p:sp>
        <p:nvSpPr>
          <p:cNvPr id="22" name="Rectangle 21">
            <a:extLst>
              <a:ext uri="{FF2B5EF4-FFF2-40B4-BE49-F238E27FC236}">
                <a16:creationId xmlns:a16="http://schemas.microsoft.com/office/drawing/2014/main" id="{B43D5B4B-6B48-4FF2-A851-0E4F4F470F2F}"/>
              </a:ext>
            </a:extLst>
          </p:cNvPr>
          <p:cNvSpPr>
            <a:spLocks noGrp="1"/>
          </p:cNvSpPr>
          <p:nvPr/>
        </p:nvSpPr>
        <p:spPr>
          <a:xfrm>
            <a:off x="7543800" y="2847975"/>
            <a:ext cx="495300" cy="190500"/>
          </a:xfrm>
          <a:prstGeom prst="rect">
            <a:avLst/>
          </a:prstGeom>
          <a:noFill/>
          <a:ln w="0">
            <a:noFill/>
            <a:prstDash val="solid"/>
          </a:ln>
        </p:spPr>
        <p:txBody>
          <a:bodyPr wrap="square" lIns="0" tIns="0" rIns="0" bIns="0" anchor="ctr">
            <a:normAutofit/>
          </a:bodyPr>
          <a:lstStyle>
            <a:defPPr algn="ctr">
              <a:defRPr sz="1125" b="1">
                <a:solidFill>
                  <a:srgbClr val="FFFFFF"/>
                </a:solidFill>
                <a:latin typeface="Arial"/>
                <a:ea typeface="Arial"/>
                <a:cs typeface="Arial"/>
              </a:defRPr>
            </a:defP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747DC88B-C3EC-4244-ABA5-13CC6CE254BD}"/>
              </a:ext>
            </a:extLst>
          </p:cNvPr>
          <p:cNvSpPr>
            <a:spLocks noGrp="1"/>
          </p:cNvSpPr>
          <p:nvPr/>
        </p:nvSpPr>
        <p:spPr>
          <a:xfrm>
            <a:off x="7410450" y="3448050"/>
            <a:ext cx="1952625" cy="304800"/>
          </a:xfrm>
          <a:prstGeom prst="rect">
            <a:avLst/>
          </a:prstGeom>
          <a:noFill/>
          <a:ln w="0">
            <a:noFill/>
            <a:prstDash val="solid"/>
          </a:ln>
        </p:spPr>
        <p:txBody>
          <a:bodyPr wrap="square" lIns="0" tIns="0" rIns="0" bIns="0" anchor="t">
            <a:normAutofit/>
          </a:bodyPr>
          <a:lstStyle>
            <a:defPPr algn="l">
              <a:defRPr sz="1500" b="1">
                <a:solidFill>
                  <a:srgbClr val="102B4D"/>
                </a:solidFill>
                <a:latin typeface="Arial"/>
                <a:ea typeface="Arial"/>
                <a:cs typeface="Arial"/>
              </a:defRPr>
            </a:defPPr>
          </a:lstStyle>
          <a:p>
            <a:pPr algn="l">
              <a:defRPr sz="1500" b="1">
                <a:solidFill>
                  <a:srgbClr val="102B4D"/>
                </a:solidFill>
                <a:latin typeface="Arial"/>
                <a:ea typeface="Arial"/>
                <a:cs typeface="Arial"/>
              </a:defRPr>
            </a:pPr>
            <a:r>
              <a:rPr sz="1500" b="1">
                <a:solidFill>
                  <a:srgbClr val="102B4D"/>
                </a:solidFill>
                <a:latin typeface="Arial"/>
                <a:ea typeface="Arial"/>
                <a:cs typeface="Arial"/>
              </a:rPr>
              <a:t>Validate</a:t>
            </a:r>
          </a:p>
        </p:txBody>
      </p:sp>
      <p:sp>
        <p:nvSpPr>
          <p:cNvPr id="24" name="Rectangle 23">
            <a:extLst>
              <a:ext uri="{FF2B5EF4-FFF2-40B4-BE49-F238E27FC236}">
                <a16:creationId xmlns:a16="http://schemas.microsoft.com/office/drawing/2014/main" id="{99EEC1D6-211D-47C3-A42A-7962E89FD336}"/>
              </a:ext>
            </a:extLst>
          </p:cNvPr>
          <p:cNvSpPr>
            <a:spLocks noGrp="1"/>
          </p:cNvSpPr>
          <p:nvPr/>
        </p:nvSpPr>
        <p:spPr>
          <a:xfrm>
            <a:off x="7410450" y="3829050"/>
            <a:ext cx="1952625" cy="8191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Check capacity and duplicate sign-ups</a:t>
            </a:r>
          </a:p>
        </p:txBody>
      </p:sp>
      <p:sp>
        <p:nvSpPr>
          <p:cNvPr id="25" name="Oval 24">
            <a:extLst>
              <a:ext uri="{FF2B5EF4-FFF2-40B4-BE49-F238E27FC236}">
                <a16:creationId xmlns:a16="http://schemas.microsoft.com/office/drawing/2014/main" id="{FF6FFAC5-3F79-4CAF-914F-EB47046C9F1D}"/>
              </a:ext>
            </a:extLst>
          </p:cNvPr>
          <p:cNvSpPr>
            <a:spLocks noGrp="1"/>
          </p:cNvSpPr>
          <p:nvPr/>
        </p:nvSpPr>
        <p:spPr>
          <a:xfrm>
            <a:off x="9810750" y="2705100"/>
            <a:ext cx="495300" cy="495300"/>
          </a:xfrm>
          <a:prstGeom prst="ellipse">
            <a:avLst/>
          </a:prstGeom>
          <a:solidFill>
            <a:srgbClr val="11A8A0"/>
          </a:solidFill>
          <a:ln w="0">
            <a:noFill/>
            <a:prstDash val="solid"/>
          </a:ln>
        </p:spPr>
      </p:sp>
      <p:sp>
        <p:nvSpPr>
          <p:cNvPr id="26" name="Rectangle 25">
            <a:extLst>
              <a:ext uri="{FF2B5EF4-FFF2-40B4-BE49-F238E27FC236}">
                <a16:creationId xmlns:a16="http://schemas.microsoft.com/office/drawing/2014/main" id="{860B606A-C33E-499C-A8E8-6AF471A35312}"/>
              </a:ext>
            </a:extLst>
          </p:cNvPr>
          <p:cNvSpPr>
            <a:spLocks noGrp="1"/>
          </p:cNvSpPr>
          <p:nvPr/>
        </p:nvSpPr>
        <p:spPr>
          <a:xfrm>
            <a:off x="9810750" y="2847975"/>
            <a:ext cx="495300" cy="190500"/>
          </a:xfrm>
          <a:prstGeom prst="rect">
            <a:avLst/>
          </a:prstGeom>
          <a:noFill/>
          <a:ln w="0">
            <a:noFill/>
            <a:prstDash val="solid"/>
          </a:ln>
        </p:spPr>
        <p:txBody>
          <a:bodyPr wrap="square" lIns="0" tIns="0" rIns="0" bIns="0" anchor="ctr">
            <a:normAutofit/>
          </a:bodyPr>
          <a:lstStyle>
            <a:defPPr algn="ctr">
              <a:defRPr sz="1125" b="1">
                <a:solidFill>
                  <a:srgbClr val="FFFFFF"/>
                </a:solidFill>
                <a:latin typeface="Arial"/>
                <a:ea typeface="Arial"/>
                <a:cs typeface="Arial"/>
              </a:defRPr>
            </a:defPPr>
          </a:lstStyle>
          <a:p>
            <a:pPr algn="ctr">
              <a:defRPr sz="1125" b="1">
                <a:solidFill>
                  <a:srgbClr val="FFFFFF"/>
                </a:solidFill>
                <a:latin typeface="Arial"/>
                <a:ea typeface="Arial"/>
                <a:cs typeface="Arial"/>
              </a:defRPr>
            </a:pPr>
            <a:r>
              <a:rPr sz="1125"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FECB2510-0816-4735-B04D-76EE896496DB}"/>
              </a:ext>
            </a:extLst>
          </p:cNvPr>
          <p:cNvSpPr>
            <a:spLocks noGrp="1"/>
          </p:cNvSpPr>
          <p:nvPr/>
        </p:nvSpPr>
        <p:spPr>
          <a:xfrm>
            <a:off x="9677400" y="3448050"/>
            <a:ext cx="1952625" cy="304800"/>
          </a:xfrm>
          <a:prstGeom prst="rect">
            <a:avLst/>
          </a:prstGeom>
          <a:noFill/>
          <a:ln w="0">
            <a:noFill/>
            <a:prstDash val="solid"/>
          </a:ln>
        </p:spPr>
        <p:txBody>
          <a:bodyPr wrap="square" lIns="0" tIns="0" rIns="0" bIns="0" anchor="t">
            <a:normAutofit/>
          </a:bodyPr>
          <a:lstStyle>
            <a:defPPr algn="l">
              <a:defRPr sz="1500" b="1">
                <a:solidFill>
                  <a:srgbClr val="102B4D"/>
                </a:solidFill>
                <a:latin typeface="Arial"/>
                <a:ea typeface="Arial"/>
                <a:cs typeface="Arial"/>
              </a:defRPr>
            </a:defPPr>
          </a:lstStyle>
          <a:p>
            <a:pPr algn="l">
              <a:defRPr sz="1500" b="1">
                <a:solidFill>
                  <a:srgbClr val="102B4D"/>
                </a:solidFill>
                <a:latin typeface="Arial"/>
                <a:ea typeface="Arial"/>
                <a:cs typeface="Arial"/>
              </a:defRPr>
            </a:pPr>
            <a:r>
              <a:rPr sz="1500" b="1">
                <a:solidFill>
                  <a:srgbClr val="102B4D"/>
                </a:solidFill>
                <a:latin typeface="Arial"/>
                <a:ea typeface="Arial"/>
                <a:cs typeface="Arial"/>
              </a:rPr>
              <a:t>Save</a:t>
            </a:r>
          </a:p>
        </p:txBody>
      </p:sp>
      <p:sp>
        <p:nvSpPr>
          <p:cNvPr id="28" name="Rectangle 27">
            <a:extLst>
              <a:ext uri="{FF2B5EF4-FFF2-40B4-BE49-F238E27FC236}">
                <a16:creationId xmlns:a16="http://schemas.microsoft.com/office/drawing/2014/main" id="{0D76C8CF-8E28-4120-A92D-AED92E193B67}"/>
              </a:ext>
            </a:extLst>
          </p:cNvPr>
          <p:cNvSpPr>
            <a:spLocks noGrp="1"/>
          </p:cNvSpPr>
          <p:nvPr/>
        </p:nvSpPr>
        <p:spPr>
          <a:xfrm>
            <a:off x="9677400" y="3829050"/>
            <a:ext cx="1952625" cy="8191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Store student and registration in MySQL</a:t>
            </a:r>
          </a:p>
        </p:txBody>
      </p:sp>
      <p:sp>
        <p:nvSpPr>
          <p:cNvPr id="29" name="Rectangle 28">
            <a:extLst>
              <a:ext uri="{FF2B5EF4-FFF2-40B4-BE49-F238E27FC236}">
                <a16:creationId xmlns:a16="http://schemas.microsoft.com/office/drawing/2014/main" id="{0477C898-09A5-4BB0-9D03-95BC0B56237F}"/>
              </a:ext>
            </a:extLst>
          </p:cNvPr>
          <p:cNvSpPr>
            <a:spLocks noGrp="1"/>
          </p:cNvSpPr>
          <p:nvPr/>
        </p:nvSpPr>
        <p:spPr>
          <a:xfrm>
            <a:off x="609600" y="5010150"/>
            <a:ext cx="10972800" cy="9525"/>
          </a:xfrm>
          <a:prstGeom prst="rect">
            <a:avLst/>
          </a:prstGeom>
          <a:solidFill>
            <a:srgbClr val="DDE4EF"/>
          </a:solidFill>
          <a:ln w="0">
            <a:noFill/>
            <a:prstDash val="solid"/>
          </a:ln>
        </p:spPr>
      </p:sp>
      <p:sp>
        <p:nvSpPr>
          <p:cNvPr id="30" name="Rectangle 29">
            <a:extLst>
              <a:ext uri="{FF2B5EF4-FFF2-40B4-BE49-F238E27FC236}">
                <a16:creationId xmlns:a16="http://schemas.microsoft.com/office/drawing/2014/main" id="{AD0FA703-F302-4E8A-8239-E4D58A61E4EC}"/>
              </a:ext>
            </a:extLst>
          </p:cNvPr>
          <p:cNvSpPr>
            <a:spLocks noGrp="1"/>
          </p:cNvSpPr>
          <p:nvPr/>
        </p:nvSpPr>
        <p:spPr>
          <a:xfrm>
            <a:off x="609600" y="5257800"/>
            <a:ext cx="2476500" cy="209550"/>
          </a:xfrm>
          <a:prstGeom prst="rect">
            <a:avLst/>
          </a:prstGeom>
          <a:noFill/>
          <a:ln w="0">
            <a:noFill/>
            <a:prstDash val="solid"/>
          </a:ln>
        </p:spPr>
        <p:txBody>
          <a:bodyPr wrap="square" lIns="0" tIns="0" rIns="0" bIns="0" anchor="t">
            <a:normAutofit/>
          </a:bodyPr>
          <a:lstStyle>
            <a:defPPr algn="l">
              <a:defRPr sz="1125" b="1">
                <a:solidFill>
                  <a:srgbClr val="7048E8"/>
                </a:solidFill>
                <a:latin typeface="Arial"/>
                <a:ea typeface="Arial"/>
                <a:cs typeface="Arial"/>
              </a:defRPr>
            </a:defPPr>
          </a:lstStyle>
          <a:p>
            <a:pPr algn="l">
              <a:defRPr sz="1125" b="1">
                <a:solidFill>
                  <a:srgbClr val="7048E8"/>
                </a:solidFill>
                <a:latin typeface="Arial"/>
                <a:ea typeface="Arial"/>
                <a:cs typeface="Arial"/>
              </a:defRPr>
            </a:pPr>
            <a:r>
              <a:rPr sz="1125" b="1">
                <a:solidFill>
                  <a:srgbClr val="7048E8"/>
                </a:solidFill>
                <a:latin typeface="Arial"/>
                <a:ea typeface="Arial"/>
                <a:cs typeface="Arial"/>
              </a:rPr>
              <a:t>Registration safeguards</a:t>
            </a:r>
          </a:p>
        </p:txBody>
      </p:sp>
      <p:sp>
        <p:nvSpPr>
          <p:cNvPr id="31" name="Rectangle 30">
            <a:extLst>
              <a:ext uri="{FF2B5EF4-FFF2-40B4-BE49-F238E27FC236}">
                <a16:creationId xmlns:a16="http://schemas.microsoft.com/office/drawing/2014/main" id="{D1F04441-D849-419C-A3A9-2771DD9CEE61}"/>
              </a:ext>
            </a:extLst>
          </p:cNvPr>
          <p:cNvSpPr>
            <a:spLocks noGrp="1"/>
          </p:cNvSpPr>
          <p:nvPr/>
        </p:nvSpPr>
        <p:spPr>
          <a:xfrm>
            <a:off x="3095625" y="5191125"/>
            <a:ext cx="8096250" cy="438150"/>
          </a:xfrm>
          <a:prstGeom prst="rect">
            <a:avLst/>
          </a:prstGeom>
          <a:noFill/>
          <a:ln w="0">
            <a:noFill/>
            <a:prstDash val="solid"/>
          </a:ln>
        </p:spPr>
        <p:txBody>
          <a:bodyPr wrap="square" lIns="0" tIns="0" rIns="0" bIns="0" anchor="t">
            <a:normAutofit/>
          </a:bodyPr>
          <a:lstStyle>
            <a:defPPr algn="l">
              <a:defRPr sz="1350" b="0">
                <a:solidFill>
                  <a:srgbClr val="172C4B"/>
                </a:solidFill>
                <a:latin typeface="Arial"/>
                <a:ea typeface="Arial"/>
                <a:cs typeface="Arial"/>
              </a:defRPr>
            </a:defPPr>
          </a:lstStyle>
          <a:p>
            <a:pPr algn="l">
              <a:defRPr sz="1350" b="0">
                <a:solidFill>
                  <a:srgbClr val="172C4B"/>
                </a:solidFill>
                <a:latin typeface="Arial"/>
                <a:ea typeface="Arial"/>
                <a:cs typeface="Arial"/>
              </a:defRPr>
            </a:pPr>
            <a:r>
              <a:rPr sz="1350" b="0">
                <a:solidFill>
                  <a:srgbClr val="172C4B"/>
                </a:solidFill>
                <a:latin typeface="Arial"/>
                <a:ea typeface="Arial"/>
                <a:cs typeface="Arial"/>
              </a:rPr>
              <a:t>A student can register only once per event. The capacity check prevents sign-ups when an event is full.</a:t>
            </a:r>
          </a:p>
        </p:txBody>
      </p:sp>
    </p:spTree>
    <p:extLst>
      <p:ext uri="{BB962C8B-B14F-4D97-AF65-F5344CB8AC3E}">
        <p14:creationId xmlns:p14="http://schemas.microsoft.com/office/powerpoint/2010/main" val="900424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046707-0F92-4B27-ABC6-BE94359D278D}"/>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06  ADMIN WORKFLOW</a:t>
            </a:r>
          </a:p>
        </p:txBody>
      </p:sp>
      <p:sp>
        <p:nvSpPr>
          <p:cNvPr id="2" name="Rectangle 1">
            <a:extLst>
              <a:ext uri="{FF2B5EF4-FFF2-40B4-BE49-F238E27FC236}">
                <a16:creationId xmlns:a16="http://schemas.microsoft.com/office/drawing/2014/main" id="{C58FD4B3-89E9-4D0F-8EFD-7789F93FAF56}"/>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How administrators manage events</a:t>
            </a:r>
          </a:p>
        </p:txBody>
      </p:sp>
      <p:sp>
        <p:nvSpPr>
          <p:cNvPr id="3" name="Rectangle 2">
            <a:extLst>
              <a:ext uri="{FF2B5EF4-FFF2-40B4-BE49-F238E27FC236}">
                <a16:creationId xmlns:a16="http://schemas.microsoft.com/office/drawing/2014/main" id="{9100A184-8910-4759-8AB3-BD3AE3F185F9}"/>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Protected dashboard actions keep routine event work in one place</a:t>
            </a:r>
          </a:p>
        </p:txBody>
      </p:sp>
      <p:sp>
        <p:nvSpPr>
          <p:cNvPr id="4" name="Straight Connector 3">
            <a:extLst>
              <a:ext uri="{FF2B5EF4-FFF2-40B4-BE49-F238E27FC236}">
                <a16:creationId xmlns:a16="http://schemas.microsoft.com/office/drawing/2014/main" id="{53C4929F-76EB-43AA-8E6E-110959D35D25}"/>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D5C2A0DF-47A6-443F-AEF4-2AA3B751BBDC}"/>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D0900FE7-927F-4561-B03E-34932D4EE9B4}"/>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93F1E868-813B-429D-B124-2B5CEF2C3765}"/>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07</a:t>
            </a:r>
          </a:p>
        </p:txBody>
      </p:sp>
      <p:sp>
        <p:nvSpPr>
          <p:cNvPr id="8" name="Rectangle 7">
            <a:extLst>
              <a:ext uri="{FF2B5EF4-FFF2-40B4-BE49-F238E27FC236}">
                <a16:creationId xmlns:a16="http://schemas.microsoft.com/office/drawing/2014/main" id="{72F9AD56-9732-4633-B185-84B64E7AA1A1}"/>
              </a:ext>
            </a:extLst>
          </p:cNvPr>
          <p:cNvSpPr>
            <a:spLocks noGrp="1"/>
          </p:cNvSpPr>
          <p:nvPr/>
        </p:nvSpPr>
        <p:spPr>
          <a:xfrm>
            <a:off x="609600" y="2105025"/>
            <a:ext cx="571500" cy="333375"/>
          </a:xfrm>
          <a:prstGeom prst="rect">
            <a:avLst/>
          </a:prstGeom>
          <a:noFill/>
          <a:ln w="0">
            <a:noFill/>
            <a:prstDash val="solid"/>
          </a:ln>
        </p:spPr>
        <p:txBody>
          <a:bodyPr wrap="square" lIns="0" tIns="0" rIns="0" bIns="0" anchor="t">
            <a:normAutofit/>
          </a:bodyPr>
          <a:lstStyle>
            <a:defPPr algn="l">
              <a:defRPr sz="1650" b="1">
                <a:solidFill>
                  <a:srgbClr val="246BCE"/>
                </a:solidFill>
                <a:latin typeface="Arial"/>
                <a:ea typeface="Arial"/>
                <a:cs typeface="Arial"/>
              </a:defRPr>
            </a:defPPr>
          </a:lstStyle>
          <a:p>
            <a:pPr algn="l">
              <a:defRPr sz="1650" b="1">
                <a:solidFill>
                  <a:srgbClr val="246BCE"/>
                </a:solidFill>
                <a:latin typeface="Arial"/>
                <a:ea typeface="Arial"/>
                <a:cs typeface="Arial"/>
              </a:defRPr>
            </a:pPr>
            <a:r>
              <a:rPr sz="1650" b="1">
                <a:solidFill>
                  <a:srgbClr val="246BCE"/>
                </a:solidFill>
                <a:latin typeface="Arial"/>
                <a:ea typeface="Arial"/>
                <a:cs typeface="Arial"/>
              </a:rPr>
              <a:t>01</a:t>
            </a:r>
          </a:p>
        </p:txBody>
      </p:sp>
      <p:sp>
        <p:nvSpPr>
          <p:cNvPr id="9" name="Rectangle 8">
            <a:extLst>
              <a:ext uri="{FF2B5EF4-FFF2-40B4-BE49-F238E27FC236}">
                <a16:creationId xmlns:a16="http://schemas.microsoft.com/office/drawing/2014/main" id="{674E2490-DCB3-4A6E-A66D-80F9E3CC819D}"/>
              </a:ext>
            </a:extLst>
          </p:cNvPr>
          <p:cNvSpPr>
            <a:spLocks noGrp="1"/>
          </p:cNvSpPr>
          <p:nvPr/>
        </p:nvSpPr>
        <p:spPr>
          <a:xfrm>
            <a:off x="1381125" y="2105025"/>
            <a:ext cx="2095500" cy="333375"/>
          </a:xfrm>
          <a:prstGeom prst="rect">
            <a:avLst/>
          </a:prstGeom>
          <a:noFill/>
          <a:ln w="0">
            <a:noFill/>
            <a:prstDash val="solid"/>
          </a:ln>
        </p:spPr>
        <p:txBody>
          <a:bodyPr wrap="square" lIns="0" tIns="0" rIns="0" bIns="0" anchor="t">
            <a:normAutofit/>
          </a:bodyPr>
          <a:lstStyle>
            <a:defPPr algn="l">
              <a:defRPr sz="1875" b="1">
                <a:solidFill>
                  <a:srgbClr val="102B4D"/>
                </a:solidFill>
                <a:latin typeface="Arial"/>
                <a:ea typeface="Arial"/>
                <a:cs typeface="Arial"/>
              </a:defRPr>
            </a:defPPr>
          </a:lstStyle>
          <a:p>
            <a:pPr algn="l">
              <a:defRPr sz="1875" b="1">
                <a:solidFill>
                  <a:srgbClr val="102B4D"/>
                </a:solidFill>
                <a:latin typeface="Arial"/>
                <a:ea typeface="Arial"/>
                <a:cs typeface="Arial"/>
              </a:defRPr>
            </a:pPr>
            <a:r>
              <a:rPr sz="1875" b="1">
                <a:solidFill>
                  <a:srgbClr val="102B4D"/>
                </a:solidFill>
                <a:latin typeface="Arial"/>
                <a:ea typeface="Arial"/>
                <a:cs typeface="Arial"/>
              </a:rPr>
              <a:t>Sign in</a:t>
            </a:r>
          </a:p>
        </p:txBody>
      </p:sp>
      <p:sp>
        <p:nvSpPr>
          <p:cNvPr id="10" name="Rectangle 9">
            <a:extLst>
              <a:ext uri="{FF2B5EF4-FFF2-40B4-BE49-F238E27FC236}">
                <a16:creationId xmlns:a16="http://schemas.microsoft.com/office/drawing/2014/main" id="{F41F5A82-1F56-424D-9A8F-62DDB8962CEA}"/>
              </a:ext>
            </a:extLst>
          </p:cNvPr>
          <p:cNvSpPr>
            <a:spLocks noGrp="1"/>
          </p:cNvSpPr>
          <p:nvPr/>
        </p:nvSpPr>
        <p:spPr>
          <a:xfrm>
            <a:off x="3524250" y="2105025"/>
            <a:ext cx="7000875" cy="4572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Verify the admin username and password hash.</a:t>
            </a:r>
          </a:p>
        </p:txBody>
      </p:sp>
      <p:sp>
        <p:nvSpPr>
          <p:cNvPr id="11" name="Straight Connector 10">
            <a:extLst>
              <a:ext uri="{FF2B5EF4-FFF2-40B4-BE49-F238E27FC236}">
                <a16:creationId xmlns:a16="http://schemas.microsoft.com/office/drawing/2014/main" id="{834EF2F7-5CD0-49EB-9D15-87ACCF9D4849}"/>
              </a:ext>
            </a:extLst>
          </p:cNvPr>
          <p:cNvSpPr>
            <a:spLocks noGrp="1"/>
          </p:cNvSpPr>
          <p:nvPr/>
        </p:nvSpPr>
        <p:spPr>
          <a:xfrm>
            <a:off x="1381125" y="2743200"/>
            <a:ext cx="9525000" cy="9525"/>
          </a:xfrm>
          <a:prstGeom prst="line">
            <a:avLst/>
          </a:prstGeom>
          <a:noFill/>
          <a:ln w="9525">
            <a:solidFill>
              <a:srgbClr val="DDE4EF"/>
            </a:solidFill>
            <a:prstDash val="solid"/>
          </a:ln>
        </p:spPr>
      </p:sp>
      <p:sp>
        <p:nvSpPr>
          <p:cNvPr id="12" name="Rectangle 11">
            <a:extLst>
              <a:ext uri="{FF2B5EF4-FFF2-40B4-BE49-F238E27FC236}">
                <a16:creationId xmlns:a16="http://schemas.microsoft.com/office/drawing/2014/main" id="{3A6FF9A8-B4A6-4F63-A150-4EAB9D5C4C67}"/>
              </a:ext>
            </a:extLst>
          </p:cNvPr>
          <p:cNvSpPr>
            <a:spLocks noGrp="1"/>
          </p:cNvSpPr>
          <p:nvPr/>
        </p:nvSpPr>
        <p:spPr>
          <a:xfrm>
            <a:off x="609600" y="3095625"/>
            <a:ext cx="571500" cy="333375"/>
          </a:xfrm>
          <a:prstGeom prst="rect">
            <a:avLst/>
          </a:prstGeom>
          <a:noFill/>
          <a:ln w="0">
            <a:noFill/>
            <a:prstDash val="solid"/>
          </a:ln>
        </p:spPr>
        <p:txBody>
          <a:bodyPr wrap="square" lIns="0" tIns="0" rIns="0" bIns="0" anchor="t">
            <a:normAutofit/>
          </a:bodyPr>
          <a:lstStyle>
            <a:defPPr algn="l">
              <a:defRPr sz="1650" b="1">
                <a:solidFill>
                  <a:srgbClr val="7048E8"/>
                </a:solidFill>
                <a:latin typeface="Arial"/>
                <a:ea typeface="Arial"/>
                <a:cs typeface="Arial"/>
              </a:defRPr>
            </a:defPPr>
          </a:lstStyle>
          <a:p>
            <a:pPr algn="l">
              <a:defRPr sz="1650" b="1">
                <a:solidFill>
                  <a:srgbClr val="7048E8"/>
                </a:solidFill>
                <a:latin typeface="Arial"/>
                <a:ea typeface="Arial"/>
                <a:cs typeface="Arial"/>
              </a:defRPr>
            </a:pPr>
            <a:r>
              <a:rPr sz="1650" b="1">
                <a:solidFill>
                  <a:srgbClr val="7048E8"/>
                </a:solidFill>
                <a:latin typeface="Arial"/>
                <a:ea typeface="Arial"/>
                <a:cs typeface="Arial"/>
              </a:rPr>
              <a:t>02</a:t>
            </a:r>
          </a:p>
        </p:txBody>
      </p:sp>
      <p:sp>
        <p:nvSpPr>
          <p:cNvPr id="13" name="Rectangle 12">
            <a:extLst>
              <a:ext uri="{FF2B5EF4-FFF2-40B4-BE49-F238E27FC236}">
                <a16:creationId xmlns:a16="http://schemas.microsoft.com/office/drawing/2014/main" id="{CE623BEC-0D59-4BE5-8F16-2F9ABA50AC78}"/>
              </a:ext>
            </a:extLst>
          </p:cNvPr>
          <p:cNvSpPr>
            <a:spLocks noGrp="1"/>
          </p:cNvSpPr>
          <p:nvPr/>
        </p:nvSpPr>
        <p:spPr>
          <a:xfrm>
            <a:off x="1381125" y="3095625"/>
            <a:ext cx="2095500" cy="333375"/>
          </a:xfrm>
          <a:prstGeom prst="rect">
            <a:avLst/>
          </a:prstGeom>
          <a:noFill/>
          <a:ln w="0">
            <a:noFill/>
            <a:prstDash val="solid"/>
          </a:ln>
        </p:spPr>
        <p:txBody>
          <a:bodyPr wrap="square" lIns="0" tIns="0" rIns="0" bIns="0" anchor="t">
            <a:normAutofit/>
          </a:bodyPr>
          <a:lstStyle>
            <a:defPPr algn="l">
              <a:defRPr sz="1875" b="1">
                <a:solidFill>
                  <a:srgbClr val="102B4D"/>
                </a:solidFill>
                <a:latin typeface="Arial"/>
                <a:ea typeface="Arial"/>
                <a:cs typeface="Arial"/>
              </a:defRPr>
            </a:defPPr>
          </a:lstStyle>
          <a:p>
            <a:pPr algn="l">
              <a:defRPr sz="1875" b="1">
                <a:solidFill>
                  <a:srgbClr val="102B4D"/>
                </a:solidFill>
                <a:latin typeface="Arial"/>
                <a:ea typeface="Arial"/>
                <a:cs typeface="Arial"/>
              </a:defRPr>
            </a:pPr>
            <a:r>
              <a:rPr sz="1875" b="1">
                <a:solidFill>
                  <a:srgbClr val="102B4D"/>
                </a:solidFill>
                <a:latin typeface="Arial"/>
                <a:ea typeface="Arial"/>
                <a:cs typeface="Arial"/>
              </a:rPr>
              <a:t>Manage</a:t>
            </a:r>
          </a:p>
        </p:txBody>
      </p:sp>
      <p:sp>
        <p:nvSpPr>
          <p:cNvPr id="14" name="Rectangle 13">
            <a:extLst>
              <a:ext uri="{FF2B5EF4-FFF2-40B4-BE49-F238E27FC236}">
                <a16:creationId xmlns:a16="http://schemas.microsoft.com/office/drawing/2014/main" id="{5E325749-56B6-47C1-83BC-CB26CF9406F4}"/>
              </a:ext>
            </a:extLst>
          </p:cNvPr>
          <p:cNvSpPr>
            <a:spLocks noGrp="1"/>
          </p:cNvSpPr>
          <p:nvPr/>
        </p:nvSpPr>
        <p:spPr>
          <a:xfrm>
            <a:off x="3524250" y="3095625"/>
            <a:ext cx="7000875" cy="4572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Create or edit event details, photos, date, capacity, and status.</a:t>
            </a:r>
          </a:p>
        </p:txBody>
      </p:sp>
      <p:sp>
        <p:nvSpPr>
          <p:cNvPr id="15" name="Straight Connector 14">
            <a:extLst>
              <a:ext uri="{FF2B5EF4-FFF2-40B4-BE49-F238E27FC236}">
                <a16:creationId xmlns:a16="http://schemas.microsoft.com/office/drawing/2014/main" id="{5ABEB145-FC6B-4E70-9579-143D3367ABF2}"/>
              </a:ext>
            </a:extLst>
          </p:cNvPr>
          <p:cNvSpPr>
            <a:spLocks noGrp="1"/>
          </p:cNvSpPr>
          <p:nvPr/>
        </p:nvSpPr>
        <p:spPr>
          <a:xfrm>
            <a:off x="1381125" y="3733800"/>
            <a:ext cx="9525000" cy="9525"/>
          </a:xfrm>
          <a:prstGeom prst="line">
            <a:avLst/>
          </a:prstGeom>
          <a:noFill/>
          <a:ln w="9525">
            <a:solidFill>
              <a:srgbClr val="DDE4EF"/>
            </a:solidFill>
            <a:prstDash val="solid"/>
          </a:ln>
        </p:spPr>
      </p:sp>
      <p:sp>
        <p:nvSpPr>
          <p:cNvPr id="16" name="Rectangle 15">
            <a:extLst>
              <a:ext uri="{FF2B5EF4-FFF2-40B4-BE49-F238E27FC236}">
                <a16:creationId xmlns:a16="http://schemas.microsoft.com/office/drawing/2014/main" id="{4906DA56-B4A3-4481-B261-1C68BBB9F694}"/>
              </a:ext>
            </a:extLst>
          </p:cNvPr>
          <p:cNvSpPr>
            <a:spLocks noGrp="1"/>
          </p:cNvSpPr>
          <p:nvPr/>
        </p:nvSpPr>
        <p:spPr>
          <a:xfrm>
            <a:off x="609600" y="4086225"/>
            <a:ext cx="571500" cy="333375"/>
          </a:xfrm>
          <a:prstGeom prst="rect">
            <a:avLst/>
          </a:prstGeom>
          <a:noFill/>
          <a:ln w="0">
            <a:noFill/>
            <a:prstDash val="solid"/>
          </a:ln>
        </p:spPr>
        <p:txBody>
          <a:bodyPr wrap="square" lIns="0" tIns="0" rIns="0" bIns="0" anchor="t">
            <a:normAutofit/>
          </a:bodyPr>
          <a:lstStyle>
            <a:defPPr algn="l">
              <a:defRPr sz="1650" b="1">
                <a:solidFill>
                  <a:srgbClr val="11A8A0"/>
                </a:solidFill>
                <a:latin typeface="Arial"/>
                <a:ea typeface="Arial"/>
                <a:cs typeface="Arial"/>
              </a:defRPr>
            </a:defPPr>
          </a:lstStyle>
          <a:p>
            <a:pPr algn="l">
              <a:defRPr sz="1650" b="1">
                <a:solidFill>
                  <a:srgbClr val="11A8A0"/>
                </a:solidFill>
                <a:latin typeface="Arial"/>
                <a:ea typeface="Arial"/>
                <a:cs typeface="Arial"/>
              </a:defRPr>
            </a:pPr>
            <a:r>
              <a:rPr sz="1650" b="1">
                <a:solidFill>
                  <a:srgbClr val="11A8A0"/>
                </a:solidFill>
                <a:latin typeface="Arial"/>
                <a:ea typeface="Arial"/>
                <a:cs typeface="Arial"/>
              </a:rPr>
              <a:t>03</a:t>
            </a:r>
          </a:p>
        </p:txBody>
      </p:sp>
      <p:sp>
        <p:nvSpPr>
          <p:cNvPr id="17" name="Rectangle 16">
            <a:extLst>
              <a:ext uri="{FF2B5EF4-FFF2-40B4-BE49-F238E27FC236}">
                <a16:creationId xmlns:a16="http://schemas.microsoft.com/office/drawing/2014/main" id="{5CE4B7F5-B9E6-4794-97D6-04AE14F12A7C}"/>
              </a:ext>
            </a:extLst>
          </p:cNvPr>
          <p:cNvSpPr>
            <a:spLocks noGrp="1"/>
          </p:cNvSpPr>
          <p:nvPr/>
        </p:nvSpPr>
        <p:spPr>
          <a:xfrm>
            <a:off x="1381125" y="4086225"/>
            <a:ext cx="2095500" cy="333375"/>
          </a:xfrm>
          <a:prstGeom prst="rect">
            <a:avLst/>
          </a:prstGeom>
          <a:noFill/>
          <a:ln w="0">
            <a:noFill/>
            <a:prstDash val="solid"/>
          </a:ln>
        </p:spPr>
        <p:txBody>
          <a:bodyPr wrap="square" lIns="0" tIns="0" rIns="0" bIns="0" anchor="t">
            <a:normAutofit/>
          </a:bodyPr>
          <a:lstStyle>
            <a:defPPr algn="l">
              <a:defRPr sz="1875" b="1">
                <a:solidFill>
                  <a:srgbClr val="102B4D"/>
                </a:solidFill>
                <a:latin typeface="Arial"/>
                <a:ea typeface="Arial"/>
                <a:cs typeface="Arial"/>
              </a:defRPr>
            </a:defPPr>
          </a:lstStyle>
          <a:p>
            <a:pPr algn="l">
              <a:defRPr sz="1875" b="1">
                <a:solidFill>
                  <a:srgbClr val="102B4D"/>
                </a:solidFill>
                <a:latin typeface="Arial"/>
                <a:ea typeface="Arial"/>
                <a:cs typeface="Arial"/>
              </a:defRPr>
            </a:pPr>
            <a:r>
              <a:rPr sz="1875" b="1">
                <a:solidFill>
                  <a:srgbClr val="102B4D"/>
                </a:solidFill>
                <a:latin typeface="Arial"/>
                <a:ea typeface="Arial"/>
                <a:cs typeface="Arial"/>
              </a:rPr>
              <a:t>Review</a:t>
            </a:r>
          </a:p>
        </p:txBody>
      </p:sp>
      <p:sp>
        <p:nvSpPr>
          <p:cNvPr id="18" name="Rectangle 17">
            <a:extLst>
              <a:ext uri="{FF2B5EF4-FFF2-40B4-BE49-F238E27FC236}">
                <a16:creationId xmlns:a16="http://schemas.microsoft.com/office/drawing/2014/main" id="{3F27BC63-3342-4B9E-B67C-82BC9E7256A8}"/>
              </a:ext>
            </a:extLst>
          </p:cNvPr>
          <p:cNvSpPr>
            <a:spLocks noGrp="1"/>
          </p:cNvSpPr>
          <p:nvPr/>
        </p:nvSpPr>
        <p:spPr>
          <a:xfrm>
            <a:off x="3524250" y="4086225"/>
            <a:ext cx="7000875" cy="4572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Open participant lists and inspect registration totals.</a:t>
            </a:r>
          </a:p>
        </p:txBody>
      </p:sp>
      <p:sp>
        <p:nvSpPr>
          <p:cNvPr id="19" name="Straight Connector 18">
            <a:extLst>
              <a:ext uri="{FF2B5EF4-FFF2-40B4-BE49-F238E27FC236}">
                <a16:creationId xmlns:a16="http://schemas.microsoft.com/office/drawing/2014/main" id="{4C5B0494-B241-46B6-B7A1-85FABA717476}"/>
              </a:ext>
            </a:extLst>
          </p:cNvPr>
          <p:cNvSpPr>
            <a:spLocks noGrp="1"/>
          </p:cNvSpPr>
          <p:nvPr/>
        </p:nvSpPr>
        <p:spPr>
          <a:xfrm>
            <a:off x="1381125" y="4724400"/>
            <a:ext cx="9525000" cy="9525"/>
          </a:xfrm>
          <a:prstGeom prst="line">
            <a:avLst/>
          </a:prstGeom>
          <a:noFill/>
          <a:ln w="9525">
            <a:solidFill>
              <a:srgbClr val="DDE4EF"/>
            </a:solidFill>
            <a:prstDash val="solid"/>
          </a:ln>
        </p:spPr>
      </p:sp>
      <p:sp>
        <p:nvSpPr>
          <p:cNvPr id="20" name="Rectangle 19">
            <a:extLst>
              <a:ext uri="{FF2B5EF4-FFF2-40B4-BE49-F238E27FC236}">
                <a16:creationId xmlns:a16="http://schemas.microsoft.com/office/drawing/2014/main" id="{C8C7EF3B-8FBD-4799-B17F-975F948FC42C}"/>
              </a:ext>
            </a:extLst>
          </p:cNvPr>
          <p:cNvSpPr>
            <a:spLocks noGrp="1"/>
          </p:cNvSpPr>
          <p:nvPr/>
        </p:nvSpPr>
        <p:spPr>
          <a:xfrm>
            <a:off x="609600" y="5076825"/>
            <a:ext cx="571500" cy="333375"/>
          </a:xfrm>
          <a:prstGeom prst="rect">
            <a:avLst/>
          </a:prstGeom>
          <a:noFill/>
          <a:ln w="0">
            <a:noFill/>
            <a:prstDash val="solid"/>
          </a:ln>
        </p:spPr>
        <p:txBody>
          <a:bodyPr wrap="square" lIns="0" tIns="0" rIns="0" bIns="0" anchor="t">
            <a:normAutofit/>
          </a:bodyPr>
          <a:lstStyle>
            <a:defPPr algn="l">
              <a:defRPr sz="1650" b="1">
                <a:solidFill>
                  <a:srgbClr val="D18A20"/>
                </a:solidFill>
                <a:latin typeface="Arial"/>
                <a:ea typeface="Arial"/>
                <a:cs typeface="Arial"/>
              </a:defRPr>
            </a:defPPr>
          </a:lstStyle>
          <a:p>
            <a:pPr algn="l">
              <a:defRPr sz="1650" b="1">
                <a:solidFill>
                  <a:srgbClr val="D18A20"/>
                </a:solidFill>
                <a:latin typeface="Arial"/>
                <a:ea typeface="Arial"/>
                <a:cs typeface="Arial"/>
              </a:defRPr>
            </a:pPr>
            <a:r>
              <a:rPr sz="1650" b="1">
                <a:solidFill>
                  <a:srgbClr val="D18A20"/>
                </a:solidFill>
                <a:latin typeface="Arial"/>
                <a:ea typeface="Arial"/>
                <a:cs typeface="Arial"/>
              </a:rPr>
              <a:t>04</a:t>
            </a:r>
          </a:p>
        </p:txBody>
      </p:sp>
      <p:sp>
        <p:nvSpPr>
          <p:cNvPr id="21" name="Rectangle 20">
            <a:extLst>
              <a:ext uri="{FF2B5EF4-FFF2-40B4-BE49-F238E27FC236}">
                <a16:creationId xmlns:a16="http://schemas.microsoft.com/office/drawing/2014/main" id="{3229A1E0-A0CA-4BFC-B0D7-154742072A7B}"/>
              </a:ext>
            </a:extLst>
          </p:cNvPr>
          <p:cNvSpPr>
            <a:spLocks noGrp="1"/>
          </p:cNvSpPr>
          <p:nvPr/>
        </p:nvSpPr>
        <p:spPr>
          <a:xfrm>
            <a:off x="1381125" y="5076825"/>
            <a:ext cx="2095500" cy="333375"/>
          </a:xfrm>
          <a:prstGeom prst="rect">
            <a:avLst/>
          </a:prstGeom>
          <a:noFill/>
          <a:ln w="0">
            <a:noFill/>
            <a:prstDash val="solid"/>
          </a:ln>
        </p:spPr>
        <p:txBody>
          <a:bodyPr wrap="square" lIns="0" tIns="0" rIns="0" bIns="0" anchor="t">
            <a:normAutofit/>
          </a:bodyPr>
          <a:lstStyle>
            <a:defPPr algn="l">
              <a:defRPr sz="1875" b="1">
                <a:solidFill>
                  <a:srgbClr val="102B4D"/>
                </a:solidFill>
                <a:latin typeface="Arial"/>
                <a:ea typeface="Arial"/>
                <a:cs typeface="Arial"/>
              </a:defRPr>
            </a:defPPr>
          </a:lstStyle>
          <a:p>
            <a:pPr algn="l">
              <a:defRPr sz="1875" b="1">
                <a:solidFill>
                  <a:srgbClr val="102B4D"/>
                </a:solidFill>
                <a:latin typeface="Arial"/>
                <a:ea typeface="Arial"/>
                <a:cs typeface="Arial"/>
              </a:defRPr>
            </a:pPr>
            <a:r>
              <a:rPr sz="1875" b="1">
                <a:solidFill>
                  <a:srgbClr val="102B4D"/>
                </a:solidFill>
                <a:latin typeface="Arial"/>
                <a:ea typeface="Arial"/>
                <a:cs typeface="Arial"/>
              </a:rPr>
              <a:t>Report</a:t>
            </a:r>
          </a:p>
        </p:txBody>
      </p:sp>
      <p:sp>
        <p:nvSpPr>
          <p:cNvPr id="22" name="Rectangle 21">
            <a:extLst>
              <a:ext uri="{FF2B5EF4-FFF2-40B4-BE49-F238E27FC236}">
                <a16:creationId xmlns:a16="http://schemas.microsoft.com/office/drawing/2014/main" id="{424CE59F-13B7-4682-B80C-B10E5CC29238}"/>
              </a:ext>
            </a:extLst>
          </p:cNvPr>
          <p:cNvSpPr>
            <a:spLocks noGrp="1"/>
          </p:cNvSpPr>
          <p:nvPr/>
        </p:nvSpPr>
        <p:spPr>
          <a:xfrm>
            <a:off x="3524250" y="5076825"/>
            <a:ext cx="7000875" cy="45720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Download event registration counts as a CSV file.</a:t>
            </a:r>
          </a:p>
        </p:txBody>
      </p:sp>
    </p:spTree>
    <p:extLst>
      <p:ext uri="{BB962C8B-B14F-4D97-AF65-F5344CB8AC3E}">
        <p14:creationId xmlns:p14="http://schemas.microsoft.com/office/powerpoint/2010/main" val="856663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34DB11B-189D-4CB7-88E3-C913C4733422}"/>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07  APPLICATION ARCHITECTURE</a:t>
            </a:r>
          </a:p>
        </p:txBody>
      </p:sp>
      <p:sp>
        <p:nvSpPr>
          <p:cNvPr id="2" name="Rectangle 1">
            <a:extLst>
              <a:ext uri="{FF2B5EF4-FFF2-40B4-BE49-F238E27FC236}">
                <a16:creationId xmlns:a16="http://schemas.microsoft.com/office/drawing/2014/main" id="{6516E8C1-28CC-4958-9932-63A70A828605}"/>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Browser to database</a:t>
            </a:r>
          </a:p>
        </p:txBody>
      </p:sp>
      <p:sp>
        <p:nvSpPr>
          <p:cNvPr id="3" name="Rectangle 2">
            <a:extLst>
              <a:ext uri="{FF2B5EF4-FFF2-40B4-BE49-F238E27FC236}">
                <a16:creationId xmlns:a16="http://schemas.microsoft.com/office/drawing/2014/main" id="{77A31405-0129-44D8-9C07-7256B0ACE161}"/>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Flask connects the website pages to MySQL and the uploaded event images</a:t>
            </a:r>
          </a:p>
        </p:txBody>
      </p:sp>
      <p:sp>
        <p:nvSpPr>
          <p:cNvPr id="4" name="Straight Connector 3">
            <a:extLst>
              <a:ext uri="{FF2B5EF4-FFF2-40B4-BE49-F238E27FC236}">
                <a16:creationId xmlns:a16="http://schemas.microsoft.com/office/drawing/2014/main" id="{9B64A591-EA32-4F38-A35C-21B57A270355}"/>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E0D7E5F5-650A-453C-985B-32EEDF3646CC}"/>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FD4CE1B2-E753-4DE2-A1C4-FBB1AD07DBB3}"/>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71CA9E8B-CAF3-4328-81F2-91A47DD5E25A}"/>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08</a:t>
            </a:r>
          </a:p>
        </p:txBody>
      </p:sp>
      <p:sp>
        <p:nvSpPr>
          <p:cNvPr id="8" name="Rectangle 7">
            <a:extLst>
              <a:ext uri="{FF2B5EF4-FFF2-40B4-BE49-F238E27FC236}">
                <a16:creationId xmlns:a16="http://schemas.microsoft.com/office/drawing/2014/main" id="{E355606C-6830-4020-9E61-DE54AE0DA57C}"/>
              </a:ext>
            </a:extLst>
          </p:cNvPr>
          <p:cNvSpPr>
            <a:spLocks noGrp="1"/>
          </p:cNvSpPr>
          <p:nvPr/>
        </p:nvSpPr>
        <p:spPr>
          <a:xfrm>
            <a:off x="609600" y="2524125"/>
            <a:ext cx="2381250" cy="57150"/>
          </a:xfrm>
          <a:prstGeom prst="rect">
            <a:avLst/>
          </a:prstGeom>
          <a:solidFill>
            <a:srgbClr val="246BCE"/>
          </a:solidFill>
          <a:ln w="0">
            <a:noFill/>
            <a:prstDash val="solid"/>
          </a:ln>
        </p:spPr>
      </p:sp>
      <p:sp>
        <p:nvSpPr>
          <p:cNvPr id="9" name="Rectangle 8">
            <a:extLst>
              <a:ext uri="{FF2B5EF4-FFF2-40B4-BE49-F238E27FC236}">
                <a16:creationId xmlns:a16="http://schemas.microsoft.com/office/drawing/2014/main" id="{F89E8AC1-D6B3-4B61-B18F-7A7C728EE2DE}"/>
              </a:ext>
            </a:extLst>
          </p:cNvPr>
          <p:cNvSpPr>
            <a:spLocks noGrp="1"/>
          </p:cNvSpPr>
          <p:nvPr/>
        </p:nvSpPr>
        <p:spPr>
          <a:xfrm>
            <a:off x="609600" y="2857500"/>
            <a:ext cx="2381250" cy="361950"/>
          </a:xfrm>
          <a:prstGeom prst="rect">
            <a:avLst/>
          </a:prstGeom>
          <a:noFill/>
          <a:ln w="0">
            <a:noFill/>
            <a:prstDash val="solid"/>
          </a:ln>
        </p:spPr>
        <p:txBody>
          <a:bodyPr wrap="square" lIns="0" tIns="0" rIns="0" bIns="0" anchor="t">
            <a:normAutofit/>
          </a:bodyPr>
          <a:lstStyle>
            <a:defPPr algn="ctr">
              <a:defRPr sz="1950" b="1">
                <a:solidFill>
                  <a:srgbClr val="102B4D"/>
                </a:solidFill>
                <a:latin typeface="Arial"/>
                <a:ea typeface="Arial"/>
                <a:cs typeface="Arial"/>
              </a:defRPr>
            </a:defPPr>
          </a:lstStyle>
          <a:p>
            <a:pPr algn="ctr">
              <a:defRPr sz="1950" b="1">
                <a:solidFill>
                  <a:srgbClr val="102B4D"/>
                </a:solidFill>
                <a:latin typeface="Arial"/>
                <a:ea typeface="Arial"/>
                <a:cs typeface="Arial"/>
              </a:defRPr>
            </a:pPr>
            <a:r>
              <a:rPr sz="1950" b="1">
                <a:solidFill>
                  <a:srgbClr val="102B4D"/>
                </a:solidFill>
                <a:latin typeface="Arial"/>
                <a:ea typeface="Arial"/>
                <a:cs typeface="Arial"/>
              </a:rPr>
              <a:t>Browser</a:t>
            </a:r>
          </a:p>
        </p:txBody>
      </p:sp>
      <p:sp>
        <p:nvSpPr>
          <p:cNvPr id="10" name="Rectangle 9">
            <a:extLst>
              <a:ext uri="{FF2B5EF4-FFF2-40B4-BE49-F238E27FC236}">
                <a16:creationId xmlns:a16="http://schemas.microsoft.com/office/drawing/2014/main" id="{3BBB5367-7864-4746-805E-1B869C5C8708}"/>
              </a:ext>
            </a:extLst>
          </p:cNvPr>
          <p:cNvSpPr>
            <a:spLocks noGrp="1"/>
          </p:cNvSpPr>
          <p:nvPr/>
        </p:nvSpPr>
        <p:spPr>
          <a:xfrm>
            <a:off x="723900" y="3390900"/>
            <a:ext cx="2152650" cy="666750"/>
          </a:xfrm>
          <a:prstGeom prst="rect">
            <a:avLst/>
          </a:prstGeom>
          <a:noFill/>
          <a:ln w="0">
            <a:noFill/>
            <a:prstDash val="solid"/>
          </a:ln>
        </p:spPr>
        <p:txBody>
          <a:bodyPr wrap="square" lIns="0" tIns="0" rIns="0" bIns="0" anchor="t">
            <a:normAutofit/>
          </a:bodyPr>
          <a:lstStyle>
            <a:defPPr algn="ctr">
              <a:defRPr sz="1350" b="0">
                <a:solidFill>
                  <a:srgbClr val="68778D"/>
                </a:solidFill>
                <a:latin typeface="Arial"/>
                <a:ea typeface="Arial"/>
                <a:cs typeface="Arial"/>
              </a:defRPr>
            </a:defPPr>
          </a:lstStyle>
          <a:p>
            <a:pPr algn="ctr">
              <a:defRPr sz="1350" b="0">
                <a:solidFill>
                  <a:srgbClr val="68778D"/>
                </a:solidFill>
                <a:latin typeface="Arial"/>
                <a:ea typeface="Arial"/>
                <a:cs typeface="Arial"/>
              </a:defRPr>
            </a:pPr>
            <a:r>
              <a:rPr sz="1350" b="0">
                <a:solidFill>
                  <a:srgbClr val="68778D"/>
                </a:solidFill>
                <a:latin typeface="Arial"/>
                <a:ea typeface="Arial"/>
                <a:cs typeface="Arial"/>
              </a:rPr>
              <a:t>HTML · CSS · Bootstrap</a:t>
            </a:r>
          </a:p>
          <a:p>
            <a:pPr algn="ctr">
              <a:defRPr sz="1350" b="0">
                <a:solidFill>
                  <a:srgbClr val="68778D"/>
                </a:solidFill>
                <a:latin typeface="Arial"/>
                <a:ea typeface="Arial"/>
                <a:cs typeface="Arial"/>
              </a:defRPr>
            </a:pPr>
            <a:r>
              <a:rPr sz="1350" b="0">
                <a:solidFill>
                  <a:srgbClr val="68778D"/>
                </a:solidFill>
                <a:latin typeface="Arial"/>
                <a:ea typeface="Arial"/>
                <a:cs typeface="Arial"/>
              </a:rPr>
              <a:t>JavaScript</a:t>
            </a:r>
          </a:p>
        </p:txBody>
      </p:sp>
      <p:sp>
        <p:nvSpPr>
          <p:cNvPr id="11" name="Rectangle 10">
            <a:extLst>
              <a:ext uri="{FF2B5EF4-FFF2-40B4-BE49-F238E27FC236}">
                <a16:creationId xmlns:a16="http://schemas.microsoft.com/office/drawing/2014/main" id="{36640D07-F628-4812-BFAF-6757BF63A8EA}"/>
              </a:ext>
            </a:extLst>
          </p:cNvPr>
          <p:cNvSpPr>
            <a:spLocks noGrp="1"/>
          </p:cNvSpPr>
          <p:nvPr/>
        </p:nvSpPr>
        <p:spPr>
          <a:xfrm>
            <a:off x="3524250" y="2524125"/>
            <a:ext cx="2381250" cy="57150"/>
          </a:xfrm>
          <a:prstGeom prst="rect">
            <a:avLst/>
          </a:prstGeom>
          <a:solidFill>
            <a:srgbClr val="7048E8"/>
          </a:solidFill>
          <a:ln w="0">
            <a:noFill/>
            <a:prstDash val="solid"/>
          </a:ln>
        </p:spPr>
      </p:sp>
      <p:sp>
        <p:nvSpPr>
          <p:cNvPr id="12" name="Rectangle 11">
            <a:extLst>
              <a:ext uri="{FF2B5EF4-FFF2-40B4-BE49-F238E27FC236}">
                <a16:creationId xmlns:a16="http://schemas.microsoft.com/office/drawing/2014/main" id="{15DCDA42-73FA-4B90-B56C-C5C2091CEAC8}"/>
              </a:ext>
            </a:extLst>
          </p:cNvPr>
          <p:cNvSpPr>
            <a:spLocks noGrp="1"/>
          </p:cNvSpPr>
          <p:nvPr/>
        </p:nvSpPr>
        <p:spPr>
          <a:xfrm>
            <a:off x="3524250" y="2857500"/>
            <a:ext cx="2381250" cy="361950"/>
          </a:xfrm>
          <a:prstGeom prst="rect">
            <a:avLst/>
          </a:prstGeom>
          <a:noFill/>
          <a:ln w="0">
            <a:noFill/>
            <a:prstDash val="solid"/>
          </a:ln>
        </p:spPr>
        <p:txBody>
          <a:bodyPr wrap="square" lIns="0" tIns="0" rIns="0" bIns="0" anchor="t">
            <a:normAutofit/>
          </a:bodyPr>
          <a:lstStyle>
            <a:defPPr algn="ctr">
              <a:defRPr sz="1950" b="1">
                <a:solidFill>
                  <a:srgbClr val="102B4D"/>
                </a:solidFill>
                <a:latin typeface="Arial"/>
                <a:ea typeface="Arial"/>
                <a:cs typeface="Arial"/>
              </a:defRPr>
            </a:defPPr>
          </a:lstStyle>
          <a:p>
            <a:pPr algn="ctr">
              <a:defRPr sz="1950" b="1">
                <a:solidFill>
                  <a:srgbClr val="102B4D"/>
                </a:solidFill>
                <a:latin typeface="Arial"/>
                <a:ea typeface="Arial"/>
                <a:cs typeface="Arial"/>
              </a:defRPr>
            </a:pPr>
            <a:r>
              <a:rPr sz="1950" b="1">
                <a:solidFill>
                  <a:srgbClr val="102B4D"/>
                </a:solidFill>
                <a:latin typeface="Arial"/>
                <a:ea typeface="Arial"/>
                <a:cs typeface="Arial"/>
              </a:rPr>
              <a:t>Flask app</a:t>
            </a:r>
          </a:p>
        </p:txBody>
      </p:sp>
      <p:sp>
        <p:nvSpPr>
          <p:cNvPr id="13" name="Rectangle 12">
            <a:extLst>
              <a:ext uri="{FF2B5EF4-FFF2-40B4-BE49-F238E27FC236}">
                <a16:creationId xmlns:a16="http://schemas.microsoft.com/office/drawing/2014/main" id="{398A50DB-E0F1-411F-9A58-53E24693C965}"/>
              </a:ext>
            </a:extLst>
          </p:cNvPr>
          <p:cNvSpPr>
            <a:spLocks noGrp="1"/>
          </p:cNvSpPr>
          <p:nvPr/>
        </p:nvSpPr>
        <p:spPr>
          <a:xfrm>
            <a:off x="3638550" y="3390900"/>
            <a:ext cx="2152650" cy="666750"/>
          </a:xfrm>
          <a:prstGeom prst="rect">
            <a:avLst/>
          </a:prstGeom>
          <a:noFill/>
          <a:ln w="0">
            <a:noFill/>
            <a:prstDash val="solid"/>
          </a:ln>
        </p:spPr>
        <p:txBody>
          <a:bodyPr wrap="square" lIns="0" tIns="0" rIns="0" bIns="0" anchor="t">
            <a:normAutofit/>
          </a:bodyPr>
          <a:lstStyle>
            <a:defPPr algn="ctr">
              <a:defRPr sz="1350" b="0">
                <a:solidFill>
                  <a:srgbClr val="68778D"/>
                </a:solidFill>
                <a:latin typeface="Arial"/>
                <a:ea typeface="Arial"/>
                <a:cs typeface="Arial"/>
              </a:defRPr>
            </a:defPPr>
          </a:lstStyle>
          <a:p>
            <a:pPr algn="ctr">
              <a:defRPr sz="1350" b="0">
                <a:solidFill>
                  <a:srgbClr val="68778D"/>
                </a:solidFill>
                <a:latin typeface="Arial"/>
                <a:ea typeface="Arial"/>
                <a:cs typeface="Arial"/>
              </a:defRPr>
            </a:pPr>
            <a:r>
              <a:rPr sz="1350" b="0">
                <a:solidFill>
                  <a:srgbClr val="68778D"/>
                </a:solidFill>
                <a:latin typeface="Arial"/>
                <a:ea typeface="Arial"/>
                <a:cs typeface="Arial"/>
              </a:rPr>
              <a:t>Routes · validation</a:t>
            </a:r>
          </a:p>
          <a:p>
            <a:pPr algn="ctr">
              <a:defRPr sz="1350" b="0">
                <a:solidFill>
                  <a:srgbClr val="68778D"/>
                </a:solidFill>
                <a:latin typeface="Arial"/>
                <a:ea typeface="Arial"/>
                <a:cs typeface="Arial"/>
              </a:defRPr>
            </a:pPr>
            <a:r>
              <a:rPr sz="1350" b="0">
                <a:solidFill>
                  <a:srgbClr val="68778D"/>
                </a:solidFill>
                <a:latin typeface="Arial"/>
                <a:ea typeface="Arial"/>
                <a:cs typeface="Arial"/>
              </a:rPr>
              <a:t>Sessions · reports</a:t>
            </a:r>
          </a:p>
        </p:txBody>
      </p:sp>
      <p:sp>
        <p:nvSpPr>
          <p:cNvPr id="14" name="Rectangle 13">
            <a:extLst>
              <a:ext uri="{FF2B5EF4-FFF2-40B4-BE49-F238E27FC236}">
                <a16:creationId xmlns:a16="http://schemas.microsoft.com/office/drawing/2014/main" id="{133EC481-8098-4FC6-AC41-5A03EDC66401}"/>
              </a:ext>
            </a:extLst>
          </p:cNvPr>
          <p:cNvSpPr>
            <a:spLocks noGrp="1"/>
          </p:cNvSpPr>
          <p:nvPr/>
        </p:nvSpPr>
        <p:spPr>
          <a:xfrm>
            <a:off x="6438900" y="2524125"/>
            <a:ext cx="2381250" cy="57150"/>
          </a:xfrm>
          <a:prstGeom prst="rect">
            <a:avLst/>
          </a:prstGeom>
          <a:solidFill>
            <a:srgbClr val="11A8A0"/>
          </a:solidFill>
          <a:ln w="0">
            <a:noFill/>
            <a:prstDash val="solid"/>
          </a:ln>
        </p:spPr>
      </p:sp>
      <p:sp>
        <p:nvSpPr>
          <p:cNvPr id="15" name="Rectangle 14">
            <a:extLst>
              <a:ext uri="{FF2B5EF4-FFF2-40B4-BE49-F238E27FC236}">
                <a16:creationId xmlns:a16="http://schemas.microsoft.com/office/drawing/2014/main" id="{69F22071-30CA-4CB1-BAF0-30E9D16E2909}"/>
              </a:ext>
            </a:extLst>
          </p:cNvPr>
          <p:cNvSpPr>
            <a:spLocks noGrp="1"/>
          </p:cNvSpPr>
          <p:nvPr/>
        </p:nvSpPr>
        <p:spPr>
          <a:xfrm>
            <a:off x="6438900" y="2857500"/>
            <a:ext cx="2381250" cy="361950"/>
          </a:xfrm>
          <a:prstGeom prst="rect">
            <a:avLst/>
          </a:prstGeom>
          <a:noFill/>
          <a:ln w="0">
            <a:noFill/>
            <a:prstDash val="solid"/>
          </a:ln>
        </p:spPr>
        <p:txBody>
          <a:bodyPr wrap="square" lIns="0" tIns="0" rIns="0" bIns="0" anchor="t">
            <a:normAutofit/>
          </a:bodyPr>
          <a:lstStyle>
            <a:defPPr algn="ctr">
              <a:defRPr sz="1950" b="1">
                <a:solidFill>
                  <a:srgbClr val="102B4D"/>
                </a:solidFill>
                <a:latin typeface="Arial"/>
                <a:ea typeface="Arial"/>
                <a:cs typeface="Arial"/>
              </a:defRPr>
            </a:defPPr>
          </a:lstStyle>
          <a:p>
            <a:pPr algn="ctr">
              <a:defRPr sz="1950" b="1">
                <a:solidFill>
                  <a:srgbClr val="102B4D"/>
                </a:solidFill>
                <a:latin typeface="Arial"/>
                <a:ea typeface="Arial"/>
                <a:cs typeface="Arial"/>
              </a:defRPr>
            </a:pPr>
            <a:r>
              <a:rPr sz="1950" b="1">
                <a:solidFill>
                  <a:srgbClr val="102B4D"/>
                </a:solidFill>
                <a:latin typeface="Arial"/>
                <a:ea typeface="Arial"/>
                <a:cs typeface="Arial"/>
              </a:rPr>
              <a:t>MySQL</a:t>
            </a:r>
          </a:p>
        </p:txBody>
      </p:sp>
      <p:sp>
        <p:nvSpPr>
          <p:cNvPr id="16" name="Rectangle 15">
            <a:extLst>
              <a:ext uri="{FF2B5EF4-FFF2-40B4-BE49-F238E27FC236}">
                <a16:creationId xmlns:a16="http://schemas.microsoft.com/office/drawing/2014/main" id="{1021FBF3-521A-4CBB-879F-3ED3305CFAA1}"/>
              </a:ext>
            </a:extLst>
          </p:cNvPr>
          <p:cNvSpPr>
            <a:spLocks noGrp="1"/>
          </p:cNvSpPr>
          <p:nvPr/>
        </p:nvSpPr>
        <p:spPr>
          <a:xfrm>
            <a:off x="6553200" y="3390900"/>
            <a:ext cx="2152650" cy="666750"/>
          </a:xfrm>
          <a:prstGeom prst="rect">
            <a:avLst/>
          </a:prstGeom>
          <a:noFill/>
          <a:ln w="0">
            <a:noFill/>
            <a:prstDash val="solid"/>
          </a:ln>
        </p:spPr>
        <p:txBody>
          <a:bodyPr wrap="square" lIns="0" tIns="0" rIns="0" bIns="0" anchor="t">
            <a:normAutofit/>
          </a:bodyPr>
          <a:lstStyle>
            <a:defPPr algn="ctr">
              <a:defRPr sz="1350" b="0">
                <a:solidFill>
                  <a:srgbClr val="68778D"/>
                </a:solidFill>
                <a:latin typeface="Arial"/>
                <a:ea typeface="Arial"/>
                <a:cs typeface="Arial"/>
              </a:defRPr>
            </a:defPPr>
          </a:lstStyle>
          <a:p>
            <a:pPr algn="ctr">
              <a:defRPr sz="1350" b="0">
                <a:solidFill>
                  <a:srgbClr val="68778D"/>
                </a:solidFill>
                <a:latin typeface="Arial"/>
                <a:ea typeface="Arial"/>
                <a:cs typeface="Arial"/>
              </a:defRPr>
            </a:pPr>
            <a:r>
              <a:rPr sz="1350" b="0">
                <a:solidFill>
                  <a:srgbClr val="68778D"/>
                </a:solidFill>
                <a:latin typeface="Arial"/>
                <a:ea typeface="Arial"/>
                <a:cs typeface="Arial"/>
              </a:rPr>
              <a:t>Users · Events</a:t>
            </a:r>
          </a:p>
          <a:p>
            <a:pPr algn="ctr">
              <a:defRPr sz="1350" b="0">
                <a:solidFill>
                  <a:srgbClr val="68778D"/>
                </a:solidFill>
                <a:latin typeface="Arial"/>
                <a:ea typeface="Arial"/>
                <a:cs typeface="Arial"/>
              </a:defRPr>
            </a:pPr>
            <a:r>
              <a:rPr sz="1350" b="0">
                <a:solidFill>
                  <a:srgbClr val="68778D"/>
                </a:solidFill>
                <a:latin typeface="Arial"/>
                <a:ea typeface="Arial"/>
                <a:cs typeface="Arial"/>
              </a:rPr>
              <a:t>Students · Registrations</a:t>
            </a:r>
          </a:p>
        </p:txBody>
      </p:sp>
      <p:sp>
        <p:nvSpPr>
          <p:cNvPr id="17" name="Rectangle 16">
            <a:extLst>
              <a:ext uri="{FF2B5EF4-FFF2-40B4-BE49-F238E27FC236}">
                <a16:creationId xmlns:a16="http://schemas.microsoft.com/office/drawing/2014/main" id="{004A927C-2EF6-47BD-9934-8ED66DFE186D}"/>
              </a:ext>
            </a:extLst>
          </p:cNvPr>
          <p:cNvSpPr>
            <a:spLocks noGrp="1"/>
          </p:cNvSpPr>
          <p:nvPr/>
        </p:nvSpPr>
        <p:spPr>
          <a:xfrm>
            <a:off x="9353550" y="2524125"/>
            <a:ext cx="2228850" cy="57150"/>
          </a:xfrm>
          <a:prstGeom prst="rect">
            <a:avLst/>
          </a:prstGeom>
          <a:solidFill>
            <a:srgbClr val="D18A20"/>
          </a:solidFill>
          <a:ln w="0">
            <a:noFill/>
            <a:prstDash val="solid"/>
          </a:ln>
        </p:spPr>
      </p:sp>
      <p:sp>
        <p:nvSpPr>
          <p:cNvPr id="18" name="Rectangle 17">
            <a:extLst>
              <a:ext uri="{FF2B5EF4-FFF2-40B4-BE49-F238E27FC236}">
                <a16:creationId xmlns:a16="http://schemas.microsoft.com/office/drawing/2014/main" id="{DF10EDCE-00B3-4CF3-BD72-C5DB8213F834}"/>
              </a:ext>
            </a:extLst>
          </p:cNvPr>
          <p:cNvSpPr>
            <a:spLocks noGrp="1"/>
          </p:cNvSpPr>
          <p:nvPr/>
        </p:nvSpPr>
        <p:spPr>
          <a:xfrm>
            <a:off x="9353550" y="2857500"/>
            <a:ext cx="2228850" cy="361950"/>
          </a:xfrm>
          <a:prstGeom prst="rect">
            <a:avLst/>
          </a:prstGeom>
          <a:noFill/>
          <a:ln w="0">
            <a:noFill/>
            <a:prstDash val="solid"/>
          </a:ln>
        </p:spPr>
        <p:txBody>
          <a:bodyPr wrap="square" lIns="0" tIns="0" rIns="0" bIns="0" anchor="t">
            <a:normAutofit/>
          </a:bodyPr>
          <a:lstStyle>
            <a:defPPr algn="ctr">
              <a:defRPr sz="1950" b="1">
                <a:solidFill>
                  <a:srgbClr val="102B4D"/>
                </a:solidFill>
                <a:latin typeface="Arial"/>
                <a:ea typeface="Arial"/>
                <a:cs typeface="Arial"/>
              </a:defRPr>
            </a:defPPr>
          </a:lstStyle>
          <a:p>
            <a:pPr algn="ctr">
              <a:defRPr sz="1950" b="1">
                <a:solidFill>
                  <a:srgbClr val="102B4D"/>
                </a:solidFill>
                <a:latin typeface="Arial"/>
                <a:ea typeface="Arial"/>
                <a:cs typeface="Arial"/>
              </a:defRPr>
            </a:pPr>
            <a:r>
              <a:rPr sz="1950" b="1">
                <a:solidFill>
                  <a:srgbClr val="102B4D"/>
                </a:solidFill>
                <a:latin typeface="Arial"/>
                <a:ea typeface="Arial"/>
                <a:cs typeface="Arial"/>
              </a:rPr>
              <a:t>Files / CSV</a:t>
            </a:r>
          </a:p>
        </p:txBody>
      </p:sp>
      <p:sp>
        <p:nvSpPr>
          <p:cNvPr id="19" name="Rectangle 18">
            <a:extLst>
              <a:ext uri="{FF2B5EF4-FFF2-40B4-BE49-F238E27FC236}">
                <a16:creationId xmlns:a16="http://schemas.microsoft.com/office/drawing/2014/main" id="{061E45A5-D14E-4103-88AF-60BF09F0F951}"/>
              </a:ext>
            </a:extLst>
          </p:cNvPr>
          <p:cNvSpPr>
            <a:spLocks noGrp="1"/>
          </p:cNvSpPr>
          <p:nvPr/>
        </p:nvSpPr>
        <p:spPr>
          <a:xfrm>
            <a:off x="9467850" y="3390900"/>
            <a:ext cx="2000250" cy="666750"/>
          </a:xfrm>
          <a:prstGeom prst="rect">
            <a:avLst/>
          </a:prstGeom>
          <a:noFill/>
          <a:ln w="0">
            <a:noFill/>
            <a:prstDash val="solid"/>
          </a:ln>
        </p:spPr>
        <p:txBody>
          <a:bodyPr wrap="square" lIns="0" tIns="0" rIns="0" bIns="0" anchor="t">
            <a:normAutofit/>
          </a:bodyPr>
          <a:lstStyle>
            <a:defPPr algn="ctr">
              <a:defRPr sz="1350" b="0">
                <a:solidFill>
                  <a:srgbClr val="68778D"/>
                </a:solidFill>
                <a:latin typeface="Arial"/>
                <a:ea typeface="Arial"/>
                <a:cs typeface="Arial"/>
              </a:defRPr>
            </a:defPPr>
          </a:lstStyle>
          <a:p>
            <a:pPr algn="ctr">
              <a:defRPr sz="1350" b="0">
                <a:solidFill>
                  <a:srgbClr val="68778D"/>
                </a:solidFill>
                <a:latin typeface="Arial"/>
                <a:ea typeface="Arial"/>
                <a:cs typeface="Arial"/>
              </a:defRPr>
            </a:pPr>
            <a:r>
              <a:rPr sz="1350" b="0">
                <a:solidFill>
                  <a:srgbClr val="68778D"/>
                </a:solidFill>
                <a:latin typeface="Arial"/>
                <a:ea typeface="Arial"/>
                <a:cs typeface="Arial"/>
              </a:rPr>
              <a:t>Event photos</a:t>
            </a:r>
          </a:p>
          <a:p>
            <a:pPr algn="ctr">
              <a:defRPr sz="1350" b="0">
                <a:solidFill>
                  <a:srgbClr val="68778D"/>
                </a:solidFill>
                <a:latin typeface="Arial"/>
                <a:ea typeface="Arial"/>
                <a:cs typeface="Arial"/>
              </a:defRPr>
            </a:pPr>
            <a:r>
              <a:rPr sz="1350" b="0">
                <a:solidFill>
                  <a:srgbClr val="68778D"/>
                </a:solidFill>
                <a:latin typeface="Arial"/>
                <a:ea typeface="Arial"/>
                <a:cs typeface="Arial"/>
              </a:rPr>
              <a:t>Downloadable report</a:t>
            </a:r>
          </a:p>
        </p:txBody>
      </p:sp>
      <p:sp>
        <p:nvSpPr>
          <p:cNvPr id="20" name="Rectangle 19">
            <a:extLst>
              <a:ext uri="{FF2B5EF4-FFF2-40B4-BE49-F238E27FC236}">
                <a16:creationId xmlns:a16="http://schemas.microsoft.com/office/drawing/2014/main" id="{67E03147-4E46-4DA4-8D24-A334E8DB426C}"/>
              </a:ext>
            </a:extLst>
          </p:cNvPr>
          <p:cNvSpPr>
            <a:spLocks noGrp="1"/>
          </p:cNvSpPr>
          <p:nvPr/>
        </p:nvSpPr>
        <p:spPr>
          <a:xfrm>
            <a:off x="3067050" y="2914650"/>
            <a:ext cx="361950" cy="571500"/>
          </a:xfrm>
          <a:prstGeom prst="rect">
            <a:avLst/>
          </a:prstGeom>
          <a:noFill/>
          <a:ln w="0">
            <a:noFill/>
            <a:prstDash val="solid"/>
          </a:ln>
        </p:spPr>
        <p:txBody>
          <a:bodyPr wrap="square" lIns="0" tIns="0" rIns="0" bIns="0" anchor="t">
            <a:normAutofit fontScale="96154"/>
          </a:bodyPr>
          <a:lstStyle>
            <a:defPPr algn="ctr">
              <a:defRPr sz="3900" b="1">
                <a:solidFill>
                  <a:srgbClr val="9AA8BA"/>
                </a:solidFill>
                <a:latin typeface="Arial"/>
                <a:ea typeface="Arial"/>
                <a:cs typeface="Arial"/>
              </a:defRPr>
            </a:defPPr>
          </a:lstStyle>
          <a:p>
            <a:pPr algn="ctr">
              <a:defRPr sz="3900" b="1">
                <a:solidFill>
                  <a:srgbClr val="9AA8BA"/>
                </a:solidFill>
                <a:latin typeface="Arial"/>
                <a:ea typeface="Arial"/>
                <a:cs typeface="Arial"/>
              </a:defRPr>
            </a:pPr>
            <a:r>
              <a:rPr sz="3900" b="1">
                <a:solidFill>
                  <a:srgbClr val="9AA8BA"/>
                </a:solidFill>
                <a:latin typeface="Arial"/>
                <a:ea typeface="Arial"/>
                <a:cs typeface="Arial"/>
              </a:rPr>
              <a:t>›</a:t>
            </a:r>
          </a:p>
        </p:txBody>
      </p:sp>
      <p:sp>
        <p:nvSpPr>
          <p:cNvPr id="21" name="Rectangle 20">
            <a:extLst>
              <a:ext uri="{FF2B5EF4-FFF2-40B4-BE49-F238E27FC236}">
                <a16:creationId xmlns:a16="http://schemas.microsoft.com/office/drawing/2014/main" id="{80E1E8D5-2162-4EF8-A818-793E62A05FC3}"/>
              </a:ext>
            </a:extLst>
          </p:cNvPr>
          <p:cNvSpPr>
            <a:spLocks noGrp="1"/>
          </p:cNvSpPr>
          <p:nvPr/>
        </p:nvSpPr>
        <p:spPr>
          <a:xfrm>
            <a:off x="5981700" y="2914650"/>
            <a:ext cx="361950" cy="571500"/>
          </a:xfrm>
          <a:prstGeom prst="rect">
            <a:avLst/>
          </a:prstGeom>
          <a:noFill/>
          <a:ln w="0">
            <a:noFill/>
            <a:prstDash val="solid"/>
          </a:ln>
        </p:spPr>
        <p:txBody>
          <a:bodyPr wrap="square" lIns="0" tIns="0" rIns="0" bIns="0" anchor="t">
            <a:normAutofit fontScale="96154"/>
          </a:bodyPr>
          <a:lstStyle>
            <a:defPPr algn="ctr">
              <a:defRPr sz="3900" b="1">
                <a:solidFill>
                  <a:srgbClr val="9AA8BA"/>
                </a:solidFill>
                <a:latin typeface="Arial"/>
                <a:ea typeface="Arial"/>
                <a:cs typeface="Arial"/>
              </a:defRPr>
            </a:defPPr>
          </a:lstStyle>
          <a:p>
            <a:pPr algn="ctr">
              <a:defRPr sz="3900" b="1">
                <a:solidFill>
                  <a:srgbClr val="9AA8BA"/>
                </a:solidFill>
                <a:latin typeface="Arial"/>
                <a:ea typeface="Arial"/>
                <a:cs typeface="Arial"/>
              </a:defRPr>
            </a:pPr>
            <a:r>
              <a:rPr sz="3900" b="1">
                <a:solidFill>
                  <a:srgbClr val="9AA8BA"/>
                </a:solidFill>
                <a:latin typeface="Arial"/>
                <a:ea typeface="Arial"/>
                <a:cs typeface="Arial"/>
              </a:rPr>
              <a:t>›</a:t>
            </a:r>
          </a:p>
        </p:txBody>
      </p:sp>
      <p:sp>
        <p:nvSpPr>
          <p:cNvPr id="22" name="Rectangle 21">
            <a:extLst>
              <a:ext uri="{FF2B5EF4-FFF2-40B4-BE49-F238E27FC236}">
                <a16:creationId xmlns:a16="http://schemas.microsoft.com/office/drawing/2014/main" id="{6F9B0226-C745-4C60-AA99-9B64A7B14CF4}"/>
              </a:ext>
            </a:extLst>
          </p:cNvPr>
          <p:cNvSpPr>
            <a:spLocks noGrp="1"/>
          </p:cNvSpPr>
          <p:nvPr/>
        </p:nvSpPr>
        <p:spPr>
          <a:xfrm>
            <a:off x="8896350" y="2914650"/>
            <a:ext cx="361950" cy="571500"/>
          </a:xfrm>
          <a:prstGeom prst="rect">
            <a:avLst/>
          </a:prstGeom>
          <a:noFill/>
          <a:ln w="0">
            <a:noFill/>
            <a:prstDash val="solid"/>
          </a:ln>
        </p:spPr>
        <p:txBody>
          <a:bodyPr wrap="square" lIns="0" tIns="0" rIns="0" bIns="0" anchor="t">
            <a:normAutofit fontScale="96154"/>
          </a:bodyPr>
          <a:lstStyle>
            <a:defPPr algn="ctr">
              <a:defRPr sz="3900" b="1">
                <a:solidFill>
                  <a:srgbClr val="9AA8BA"/>
                </a:solidFill>
                <a:latin typeface="Arial"/>
                <a:ea typeface="Arial"/>
                <a:cs typeface="Arial"/>
              </a:defRPr>
            </a:defPPr>
          </a:lstStyle>
          <a:p>
            <a:pPr algn="ctr">
              <a:defRPr sz="3900" b="1">
                <a:solidFill>
                  <a:srgbClr val="9AA8BA"/>
                </a:solidFill>
                <a:latin typeface="Arial"/>
                <a:ea typeface="Arial"/>
                <a:cs typeface="Arial"/>
              </a:defRPr>
            </a:pPr>
            <a:r>
              <a:rPr sz="3900" b="1">
                <a:solidFill>
                  <a:srgbClr val="9AA8BA"/>
                </a:solidFill>
                <a:latin typeface="Arial"/>
                <a:ea typeface="Arial"/>
                <a:cs typeface="Arial"/>
              </a:rPr>
              <a:t>›</a:t>
            </a:r>
          </a:p>
        </p:txBody>
      </p:sp>
      <p:sp>
        <p:nvSpPr>
          <p:cNvPr id="23" name="Rectangle 22">
            <a:extLst>
              <a:ext uri="{FF2B5EF4-FFF2-40B4-BE49-F238E27FC236}">
                <a16:creationId xmlns:a16="http://schemas.microsoft.com/office/drawing/2014/main" id="{23F6D163-B14D-4D67-B93D-55F0A0944488}"/>
              </a:ext>
            </a:extLst>
          </p:cNvPr>
          <p:cNvSpPr>
            <a:spLocks noGrp="1"/>
          </p:cNvSpPr>
          <p:nvPr/>
        </p:nvSpPr>
        <p:spPr>
          <a:xfrm>
            <a:off x="609600" y="4714875"/>
            <a:ext cx="2667000" cy="266700"/>
          </a:xfrm>
          <a:prstGeom prst="rect">
            <a:avLst/>
          </a:prstGeom>
          <a:noFill/>
          <a:ln w="0">
            <a:noFill/>
            <a:prstDash val="solid"/>
          </a:ln>
        </p:spPr>
        <p:txBody>
          <a:bodyPr wrap="square" lIns="0" tIns="0" rIns="0" bIns="0" anchor="t">
            <a:normAutofit/>
          </a:bodyPr>
          <a:lstStyle>
            <a:defPPr algn="l">
              <a:defRPr sz="1200" b="1">
                <a:solidFill>
                  <a:srgbClr val="246BCE"/>
                </a:solidFill>
                <a:latin typeface="Arial"/>
                <a:ea typeface="Arial"/>
                <a:cs typeface="Arial"/>
              </a:defRPr>
            </a:defPPr>
          </a:lstStyle>
          <a:p>
            <a:pPr algn="l">
              <a:defRPr sz="1200" b="1">
                <a:solidFill>
                  <a:srgbClr val="246BCE"/>
                </a:solidFill>
                <a:latin typeface="Arial"/>
                <a:ea typeface="Arial"/>
                <a:cs typeface="Arial"/>
              </a:defRPr>
            </a:pPr>
            <a:r>
              <a:rPr sz="1200" b="1">
                <a:solidFill>
                  <a:srgbClr val="246BCE"/>
                </a:solidFill>
                <a:latin typeface="Arial"/>
                <a:ea typeface="Arial"/>
                <a:cs typeface="Arial"/>
              </a:rPr>
              <a:t>A student submits a form</a:t>
            </a:r>
          </a:p>
        </p:txBody>
      </p:sp>
      <p:sp>
        <p:nvSpPr>
          <p:cNvPr id="24" name="Rectangle 23">
            <a:extLst>
              <a:ext uri="{FF2B5EF4-FFF2-40B4-BE49-F238E27FC236}">
                <a16:creationId xmlns:a16="http://schemas.microsoft.com/office/drawing/2014/main" id="{A5EF60BA-0E8B-4582-BA0E-E0ADB830E10F}"/>
              </a:ext>
            </a:extLst>
          </p:cNvPr>
          <p:cNvSpPr>
            <a:spLocks noGrp="1"/>
          </p:cNvSpPr>
          <p:nvPr/>
        </p:nvSpPr>
        <p:spPr>
          <a:xfrm>
            <a:off x="3457575" y="4714875"/>
            <a:ext cx="3714750" cy="266700"/>
          </a:xfrm>
          <a:prstGeom prst="rect">
            <a:avLst/>
          </a:prstGeom>
          <a:noFill/>
          <a:ln w="0">
            <a:noFill/>
            <a:prstDash val="solid"/>
          </a:ln>
        </p:spPr>
        <p:txBody>
          <a:bodyPr wrap="square" lIns="0" tIns="0" rIns="0" bIns="0" anchor="t">
            <a:normAutofit/>
          </a:bodyPr>
          <a:lstStyle>
            <a:defPPr algn="l">
              <a:defRPr sz="1200" b="1">
                <a:solidFill>
                  <a:srgbClr val="7048E8"/>
                </a:solidFill>
                <a:latin typeface="Arial"/>
                <a:ea typeface="Arial"/>
                <a:cs typeface="Arial"/>
              </a:defRPr>
            </a:defPPr>
          </a:lstStyle>
          <a:p>
            <a:pPr algn="l">
              <a:defRPr sz="1200" b="1">
                <a:solidFill>
                  <a:srgbClr val="7048E8"/>
                </a:solidFill>
                <a:latin typeface="Arial"/>
                <a:ea typeface="Arial"/>
                <a:cs typeface="Arial"/>
              </a:defRPr>
            </a:pPr>
            <a:r>
              <a:rPr sz="1200" b="1">
                <a:solidFill>
                  <a:srgbClr val="7048E8"/>
                </a:solidFill>
                <a:latin typeface="Arial"/>
                <a:ea typeface="Arial"/>
                <a:cs typeface="Arial"/>
              </a:rPr>
              <a:t>Flask validates it and applies business rules</a:t>
            </a:r>
          </a:p>
        </p:txBody>
      </p:sp>
      <p:sp>
        <p:nvSpPr>
          <p:cNvPr id="25" name="Rectangle 24">
            <a:extLst>
              <a:ext uri="{FF2B5EF4-FFF2-40B4-BE49-F238E27FC236}">
                <a16:creationId xmlns:a16="http://schemas.microsoft.com/office/drawing/2014/main" id="{85BE78FD-58FC-4689-B5AF-C61209DEE3F3}"/>
              </a:ext>
            </a:extLst>
          </p:cNvPr>
          <p:cNvSpPr>
            <a:spLocks noGrp="1"/>
          </p:cNvSpPr>
          <p:nvPr/>
        </p:nvSpPr>
        <p:spPr>
          <a:xfrm>
            <a:off x="7410450" y="4714875"/>
            <a:ext cx="2952750" cy="266700"/>
          </a:xfrm>
          <a:prstGeom prst="rect">
            <a:avLst/>
          </a:prstGeom>
          <a:noFill/>
          <a:ln w="0">
            <a:noFill/>
            <a:prstDash val="solid"/>
          </a:ln>
        </p:spPr>
        <p:txBody>
          <a:bodyPr wrap="square" lIns="0" tIns="0" rIns="0" bIns="0" anchor="t">
            <a:normAutofit/>
          </a:bodyPr>
          <a:lstStyle>
            <a:defPPr algn="l">
              <a:defRPr sz="1200" b="1">
                <a:solidFill>
                  <a:srgbClr val="11A8A0"/>
                </a:solidFill>
                <a:latin typeface="Arial"/>
                <a:ea typeface="Arial"/>
                <a:cs typeface="Arial"/>
              </a:defRPr>
            </a:defPPr>
          </a:lstStyle>
          <a:p>
            <a:pPr algn="l">
              <a:defRPr sz="1200" b="1">
                <a:solidFill>
                  <a:srgbClr val="11A8A0"/>
                </a:solidFill>
                <a:latin typeface="Arial"/>
                <a:ea typeface="Arial"/>
                <a:cs typeface="Arial"/>
              </a:defRPr>
            </a:pPr>
            <a:r>
              <a:rPr sz="1200" b="1">
                <a:solidFill>
                  <a:srgbClr val="11A8A0"/>
                </a:solidFill>
                <a:latin typeface="Arial"/>
                <a:ea typeface="Arial"/>
                <a:cs typeface="Arial"/>
              </a:rPr>
              <a:t>MySQL stores the registration</a:t>
            </a:r>
          </a:p>
        </p:txBody>
      </p:sp>
      <p:sp>
        <p:nvSpPr>
          <p:cNvPr id="26" name="Rectangle 25">
            <a:extLst>
              <a:ext uri="{FF2B5EF4-FFF2-40B4-BE49-F238E27FC236}">
                <a16:creationId xmlns:a16="http://schemas.microsoft.com/office/drawing/2014/main" id="{30FE7F9C-FAFC-420D-9FEC-29958875DC8A}"/>
              </a:ext>
            </a:extLst>
          </p:cNvPr>
          <p:cNvSpPr>
            <a:spLocks noGrp="1"/>
          </p:cNvSpPr>
          <p:nvPr/>
        </p:nvSpPr>
        <p:spPr>
          <a:xfrm>
            <a:off x="609600" y="5295900"/>
            <a:ext cx="10972800" cy="9525"/>
          </a:xfrm>
          <a:prstGeom prst="rect">
            <a:avLst/>
          </a:prstGeom>
          <a:solidFill>
            <a:srgbClr val="DDE4EF"/>
          </a:solidFill>
          <a:ln w="0">
            <a:noFill/>
            <a:prstDash val="solid"/>
          </a:ln>
        </p:spPr>
      </p:sp>
      <p:sp>
        <p:nvSpPr>
          <p:cNvPr id="27" name="Rectangle 26">
            <a:extLst>
              <a:ext uri="{FF2B5EF4-FFF2-40B4-BE49-F238E27FC236}">
                <a16:creationId xmlns:a16="http://schemas.microsoft.com/office/drawing/2014/main" id="{8E617DB2-D1A4-4FCB-929F-3ED2483874C1}"/>
              </a:ext>
            </a:extLst>
          </p:cNvPr>
          <p:cNvSpPr>
            <a:spLocks noGrp="1"/>
          </p:cNvSpPr>
          <p:nvPr/>
        </p:nvSpPr>
        <p:spPr>
          <a:xfrm>
            <a:off x="609600" y="5486400"/>
            <a:ext cx="10572750" cy="476250"/>
          </a:xfrm>
          <a:prstGeom prst="rect">
            <a:avLst/>
          </a:prstGeom>
          <a:noFill/>
          <a:ln w="0">
            <a:noFill/>
            <a:prstDash val="solid"/>
          </a:ln>
        </p:spPr>
        <p:txBody>
          <a:bodyPr wrap="square" lIns="0" tIns="0" rIns="0" bIns="0" anchor="t">
            <a:normAutofit/>
          </a:bodyPr>
          <a:lstStyle>
            <a:defPPr algn="l">
              <a:defRPr sz="1350" b="0">
                <a:solidFill>
                  <a:srgbClr val="172C4B"/>
                </a:solidFill>
                <a:latin typeface="Arial"/>
                <a:ea typeface="Arial"/>
                <a:cs typeface="Arial"/>
              </a:defRPr>
            </a:defPPr>
          </a:lstStyle>
          <a:p>
            <a:pPr algn="l">
              <a:defRPr sz="1350" b="0">
                <a:solidFill>
                  <a:srgbClr val="172C4B"/>
                </a:solidFill>
                <a:latin typeface="Arial"/>
                <a:ea typeface="Arial"/>
                <a:cs typeface="Arial"/>
              </a:defRPr>
            </a:pPr>
            <a:r>
              <a:rPr sz="1350" b="0">
                <a:solidFill>
                  <a:srgbClr val="172C4B"/>
                </a:solidFill>
                <a:latin typeface="Arial"/>
                <a:ea typeface="Arial"/>
                <a:cs typeface="Arial"/>
              </a:rPr>
              <a:t>Event photo files live in the static uploads folder. MySQL stores each image filename with the event record.</a:t>
            </a:r>
          </a:p>
        </p:txBody>
      </p:sp>
    </p:spTree>
    <p:extLst>
      <p:ext uri="{BB962C8B-B14F-4D97-AF65-F5344CB8AC3E}">
        <p14:creationId xmlns:p14="http://schemas.microsoft.com/office/powerpoint/2010/main" val="33796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5E08A84-3F3A-4510-AA02-4AB3BF1B3AE4}"/>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08  DATABASE DESIGN</a:t>
            </a:r>
          </a:p>
        </p:txBody>
      </p:sp>
      <p:sp>
        <p:nvSpPr>
          <p:cNvPr id="2" name="Rectangle 1">
            <a:extLst>
              <a:ext uri="{FF2B5EF4-FFF2-40B4-BE49-F238E27FC236}">
                <a16:creationId xmlns:a16="http://schemas.microsoft.com/office/drawing/2014/main" id="{15AACD5C-0918-4C60-9292-BBF694B44BEB}"/>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Core MySQL data model</a:t>
            </a:r>
          </a:p>
        </p:txBody>
      </p:sp>
      <p:sp>
        <p:nvSpPr>
          <p:cNvPr id="3" name="Rectangle 2">
            <a:extLst>
              <a:ext uri="{FF2B5EF4-FFF2-40B4-BE49-F238E27FC236}">
                <a16:creationId xmlns:a16="http://schemas.microsoft.com/office/drawing/2014/main" id="{5E3D43B0-D427-4A4E-A487-EB2342CC79BF}"/>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Students and events connect through registrations. User records support admin sign-in</a:t>
            </a:r>
          </a:p>
        </p:txBody>
      </p:sp>
      <p:sp>
        <p:nvSpPr>
          <p:cNvPr id="4" name="Straight Connector 3">
            <a:extLst>
              <a:ext uri="{FF2B5EF4-FFF2-40B4-BE49-F238E27FC236}">
                <a16:creationId xmlns:a16="http://schemas.microsoft.com/office/drawing/2014/main" id="{315DF404-5217-4613-B628-F7D1012D773C}"/>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AFA25F62-D570-40FE-9293-AC2D6F96FF3C}"/>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E9366C9C-CBAA-4B39-88E8-A72383E6D73E}"/>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FBBF4E68-C3BC-4132-A3A4-6F9BE90EEA35}"/>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09</a:t>
            </a:r>
          </a:p>
        </p:txBody>
      </p:sp>
      <p:sp>
        <p:nvSpPr>
          <p:cNvPr id="8" name="Rectangle: Rounded Corners 7">
            <a:extLst>
              <a:ext uri="{FF2B5EF4-FFF2-40B4-BE49-F238E27FC236}">
                <a16:creationId xmlns:a16="http://schemas.microsoft.com/office/drawing/2014/main" id="{F8BC3C9B-1B71-4A74-8B30-48BDC48AEF5F}"/>
              </a:ext>
            </a:extLst>
          </p:cNvPr>
          <p:cNvSpPr>
            <a:spLocks noGrp="1"/>
          </p:cNvSpPr>
          <p:nvPr/>
        </p:nvSpPr>
        <p:spPr>
          <a:xfrm>
            <a:off x="609600" y="2171700"/>
            <a:ext cx="2857500" cy="1657350"/>
          </a:xfrm>
          <a:prstGeom prst="roundRect">
            <a:avLst>
              <a:gd name="adj" fmla="val 6897"/>
            </a:avLst>
          </a:prstGeom>
          <a:solidFill>
            <a:srgbClr val="FFFFFF"/>
          </a:solidFill>
          <a:ln w="9525">
            <a:solidFill>
              <a:srgbClr val="DDE4EF"/>
            </a:solidFill>
            <a:prstDash val="solid"/>
          </a:ln>
        </p:spPr>
      </p:sp>
      <p:sp>
        <p:nvSpPr>
          <p:cNvPr id="9" name="Rectangle 8">
            <a:extLst>
              <a:ext uri="{FF2B5EF4-FFF2-40B4-BE49-F238E27FC236}">
                <a16:creationId xmlns:a16="http://schemas.microsoft.com/office/drawing/2014/main" id="{1DDAF4DA-C25B-4E14-A9EF-D773726ED81E}"/>
              </a:ext>
            </a:extLst>
          </p:cNvPr>
          <p:cNvSpPr>
            <a:spLocks noGrp="1"/>
          </p:cNvSpPr>
          <p:nvPr/>
        </p:nvSpPr>
        <p:spPr>
          <a:xfrm>
            <a:off x="609600" y="2171700"/>
            <a:ext cx="2857500" cy="47625"/>
          </a:xfrm>
          <a:prstGeom prst="rect">
            <a:avLst/>
          </a:prstGeom>
          <a:solidFill>
            <a:srgbClr val="11A8A0"/>
          </a:solidFill>
          <a:ln w="0">
            <a:noFill/>
            <a:prstDash val="solid"/>
          </a:ln>
        </p:spPr>
      </p:sp>
      <p:sp>
        <p:nvSpPr>
          <p:cNvPr id="10" name="Rectangle 9">
            <a:extLst>
              <a:ext uri="{FF2B5EF4-FFF2-40B4-BE49-F238E27FC236}">
                <a16:creationId xmlns:a16="http://schemas.microsoft.com/office/drawing/2014/main" id="{D0715359-2CB6-48AC-B081-CF3F128AB539}"/>
              </a:ext>
            </a:extLst>
          </p:cNvPr>
          <p:cNvSpPr>
            <a:spLocks noGrp="1"/>
          </p:cNvSpPr>
          <p:nvPr/>
        </p:nvSpPr>
        <p:spPr>
          <a:xfrm>
            <a:off x="762000" y="2333625"/>
            <a:ext cx="2552700" cy="276225"/>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STUDENTS</a:t>
            </a:r>
          </a:p>
        </p:txBody>
      </p:sp>
      <p:sp>
        <p:nvSpPr>
          <p:cNvPr id="11" name="Rectangle 10">
            <a:extLst>
              <a:ext uri="{FF2B5EF4-FFF2-40B4-BE49-F238E27FC236}">
                <a16:creationId xmlns:a16="http://schemas.microsoft.com/office/drawing/2014/main" id="{7202353E-D22B-41F3-AB60-280BE6D46A4C}"/>
              </a:ext>
            </a:extLst>
          </p:cNvPr>
          <p:cNvSpPr>
            <a:spLocks noGrp="1"/>
          </p:cNvSpPr>
          <p:nvPr/>
        </p:nvSpPr>
        <p:spPr>
          <a:xfrm>
            <a:off x="762000" y="2714625"/>
            <a:ext cx="2552700" cy="99060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id · primary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student_no · unique</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full_name · email</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department</a:t>
            </a:r>
          </a:p>
        </p:txBody>
      </p:sp>
      <p:sp>
        <p:nvSpPr>
          <p:cNvPr id="12" name="Rectangle: Rounded Corners 11">
            <a:extLst>
              <a:ext uri="{FF2B5EF4-FFF2-40B4-BE49-F238E27FC236}">
                <a16:creationId xmlns:a16="http://schemas.microsoft.com/office/drawing/2014/main" id="{2CB350A4-2A9D-4195-8477-4EF9B80B46CD}"/>
              </a:ext>
            </a:extLst>
          </p:cNvPr>
          <p:cNvSpPr>
            <a:spLocks noGrp="1"/>
          </p:cNvSpPr>
          <p:nvPr/>
        </p:nvSpPr>
        <p:spPr>
          <a:xfrm>
            <a:off x="4667250" y="2171700"/>
            <a:ext cx="2857500" cy="1657350"/>
          </a:xfrm>
          <a:prstGeom prst="roundRect">
            <a:avLst>
              <a:gd name="adj" fmla="val 6897"/>
            </a:avLst>
          </a:prstGeom>
          <a:solidFill>
            <a:srgbClr val="FFFFFF"/>
          </a:solidFill>
          <a:ln w="9525">
            <a:solidFill>
              <a:srgbClr val="DDE4EF"/>
            </a:solidFill>
            <a:prstDash val="solid"/>
          </a:ln>
        </p:spPr>
      </p:sp>
      <p:sp>
        <p:nvSpPr>
          <p:cNvPr id="13" name="Rectangle 12">
            <a:extLst>
              <a:ext uri="{FF2B5EF4-FFF2-40B4-BE49-F238E27FC236}">
                <a16:creationId xmlns:a16="http://schemas.microsoft.com/office/drawing/2014/main" id="{8821AF77-4281-4237-9DE8-B102069E38CC}"/>
              </a:ext>
            </a:extLst>
          </p:cNvPr>
          <p:cNvSpPr>
            <a:spLocks noGrp="1"/>
          </p:cNvSpPr>
          <p:nvPr/>
        </p:nvSpPr>
        <p:spPr>
          <a:xfrm>
            <a:off x="4667250" y="2171700"/>
            <a:ext cx="2857500" cy="47625"/>
          </a:xfrm>
          <a:prstGeom prst="rect">
            <a:avLst/>
          </a:prstGeom>
          <a:solidFill>
            <a:srgbClr val="F4BD54"/>
          </a:solidFill>
          <a:ln w="0">
            <a:noFill/>
            <a:prstDash val="solid"/>
          </a:ln>
        </p:spPr>
      </p:sp>
      <p:sp>
        <p:nvSpPr>
          <p:cNvPr id="14" name="Rectangle 13">
            <a:extLst>
              <a:ext uri="{FF2B5EF4-FFF2-40B4-BE49-F238E27FC236}">
                <a16:creationId xmlns:a16="http://schemas.microsoft.com/office/drawing/2014/main" id="{C78FEF8D-5900-4D64-91BF-9452C77C4321}"/>
              </a:ext>
            </a:extLst>
          </p:cNvPr>
          <p:cNvSpPr>
            <a:spLocks noGrp="1"/>
          </p:cNvSpPr>
          <p:nvPr/>
        </p:nvSpPr>
        <p:spPr>
          <a:xfrm>
            <a:off x="4819650" y="2333625"/>
            <a:ext cx="2552700" cy="276225"/>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REGISTRATIONS</a:t>
            </a:r>
          </a:p>
        </p:txBody>
      </p:sp>
      <p:sp>
        <p:nvSpPr>
          <p:cNvPr id="15" name="Rectangle 14">
            <a:extLst>
              <a:ext uri="{FF2B5EF4-FFF2-40B4-BE49-F238E27FC236}">
                <a16:creationId xmlns:a16="http://schemas.microsoft.com/office/drawing/2014/main" id="{00E33735-6A4C-4DB7-A697-7F17287FBE83}"/>
              </a:ext>
            </a:extLst>
          </p:cNvPr>
          <p:cNvSpPr>
            <a:spLocks noGrp="1"/>
          </p:cNvSpPr>
          <p:nvPr/>
        </p:nvSpPr>
        <p:spPr>
          <a:xfrm>
            <a:off x="4819650" y="2714625"/>
            <a:ext cx="2552700" cy="99060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id · primary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student_id · foreign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event_id · foreign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registered_at</a:t>
            </a:r>
          </a:p>
        </p:txBody>
      </p:sp>
      <p:sp>
        <p:nvSpPr>
          <p:cNvPr id="16" name="Rectangle: Rounded Corners 15">
            <a:extLst>
              <a:ext uri="{FF2B5EF4-FFF2-40B4-BE49-F238E27FC236}">
                <a16:creationId xmlns:a16="http://schemas.microsoft.com/office/drawing/2014/main" id="{39B33FE4-3415-4B5A-BB29-3156AEE7D5A3}"/>
              </a:ext>
            </a:extLst>
          </p:cNvPr>
          <p:cNvSpPr>
            <a:spLocks noGrp="1"/>
          </p:cNvSpPr>
          <p:nvPr/>
        </p:nvSpPr>
        <p:spPr>
          <a:xfrm>
            <a:off x="8724900" y="2171700"/>
            <a:ext cx="2857500" cy="1657350"/>
          </a:xfrm>
          <a:prstGeom prst="roundRect">
            <a:avLst>
              <a:gd name="adj" fmla="val 6897"/>
            </a:avLst>
          </a:prstGeom>
          <a:solidFill>
            <a:srgbClr val="FFFFFF"/>
          </a:solidFill>
          <a:ln w="9525">
            <a:solidFill>
              <a:srgbClr val="DDE4EF"/>
            </a:solidFill>
            <a:prstDash val="solid"/>
          </a:ln>
        </p:spPr>
      </p:sp>
      <p:sp>
        <p:nvSpPr>
          <p:cNvPr id="17" name="Rectangle 16">
            <a:extLst>
              <a:ext uri="{FF2B5EF4-FFF2-40B4-BE49-F238E27FC236}">
                <a16:creationId xmlns:a16="http://schemas.microsoft.com/office/drawing/2014/main" id="{B46C4DE8-1567-4637-BD7D-CC1F78A72A85}"/>
              </a:ext>
            </a:extLst>
          </p:cNvPr>
          <p:cNvSpPr>
            <a:spLocks noGrp="1"/>
          </p:cNvSpPr>
          <p:nvPr/>
        </p:nvSpPr>
        <p:spPr>
          <a:xfrm>
            <a:off x="8724900" y="2171700"/>
            <a:ext cx="2857500" cy="47625"/>
          </a:xfrm>
          <a:prstGeom prst="rect">
            <a:avLst/>
          </a:prstGeom>
          <a:solidFill>
            <a:srgbClr val="246BCE"/>
          </a:solidFill>
          <a:ln w="0">
            <a:noFill/>
            <a:prstDash val="solid"/>
          </a:ln>
        </p:spPr>
      </p:sp>
      <p:sp>
        <p:nvSpPr>
          <p:cNvPr id="18" name="Rectangle 17">
            <a:extLst>
              <a:ext uri="{FF2B5EF4-FFF2-40B4-BE49-F238E27FC236}">
                <a16:creationId xmlns:a16="http://schemas.microsoft.com/office/drawing/2014/main" id="{AA1763D3-1108-441C-AD56-7AA75ED33D89}"/>
              </a:ext>
            </a:extLst>
          </p:cNvPr>
          <p:cNvSpPr>
            <a:spLocks noGrp="1"/>
          </p:cNvSpPr>
          <p:nvPr/>
        </p:nvSpPr>
        <p:spPr>
          <a:xfrm>
            <a:off x="8877300" y="2333625"/>
            <a:ext cx="2552700" cy="276225"/>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EVENTS</a:t>
            </a:r>
          </a:p>
        </p:txBody>
      </p:sp>
      <p:sp>
        <p:nvSpPr>
          <p:cNvPr id="19" name="Rectangle 18">
            <a:extLst>
              <a:ext uri="{FF2B5EF4-FFF2-40B4-BE49-F238E27FC236}">
                <a16:creationId xmlns:a16="http://schemas.microsoft.com/office/drawing/2014/main" id="{01373FDB-AE54-4DE9-B2C6-C30EBA880F9F}"/>
              </a:ext>
            </a:extLst>
          </p:cNvPr>
          <p:cNvSpPr>
            <a:spLocks noGrp="1"/>
          </p:cNvSpPr>
          <p:nvPr/>
        </p:nvSpPr>
        <p:spPr>
          <a:xfrm>
            <a:off x="8877300" y="2714625"/>
            <a:ext cx="2552700" cy="99060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id · primary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title · category · venue</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event_date · capacity · status</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image_filename</a:t>
            </a:r>
          </a:p>
        </p:txBody>
      </p:sp>
      <p:sp>
        <p:nvSpPr>
          <p:cNvPr id="20" name="Rectangle 19">
            <a:extLst>
              <a:ext uri="{FF2B5EF4-FFF2-40B4-BE49-F238E27FC236}">
                <a16:creationId xmlns:a16="http://schemas.microsoft.com/office/drawing/2014/main" id="{0A144045-18F2-42F6-AF54-9213C5A6E40A}"/>
              </a:ext>
            </a:extLst>
          </p:cNvPr>
          <p:cNvSpPr>
            <a:spLocks noGrp="1"/>
          </p:cNvSpPr>
          <p:nvPr/>
        </p:nvSpPr>
        <p:spPr>
          <a:xfrm>
            <a:off x="3581400" y="4038600"/>
            <a:ext cx="3390900" cy="247650"/>
          </a:xfrm>
          <a:prstGeom prst="rect">
            <a:avLst/>
          </a:prstGeom>
          <a:noFill/>
          <a:ln w="0">
            <a:noFill/>
            <a:prstDash val="solid"/>
          </a:ln>
        </p:spPr>
        <p:txBody>
          <a:bodyPr wrap="square" lIns="0" tIns="0" rIns="0" bIns="0" anchor="t">
            <a:normAutofit/>
          </a:bodyPr>
          <a:lstStyle>
            <a:defPPr algn="ctr">
              <a:defRPr sz="1200" b="1">
                <a:solidFill>
                  <a:srgbClr val="11A8A0"/>
                </a:solidFill>
                <a:latin typeface="Arial"/>
                <a:ea typeface="Arial"/>
                <a:cs typeface="Arial"/>
              </a:defRPr>
            </a:defPPr>
          </a:lstStyle>
          <a:p>
            <a:pPr algn="ctr">
              <a:defRPr sz="1200" b="1">
                <a:solidFill>
                  <a:srgbClr val="11A8A0"/>
                </a:solidFill>
                <a:latin typeface="Arial"/>
                <a:ea typeface="Arial"/>
                <a:cs typeface="Arial"/>
              </a:defRPr>
            </a:pPr>
            <a:r>
              <a:rPr sz="1200" b="1">
                <a:solidFill>
                  <a:srgbClr val="11A8A0"/>
                </a:solidFill>
                <a:latin typeface="Arial"/>
                <a:ea typeface="Arial"/>
                <a:cs typeface="Arial"/>
              </a:rPr>
              <a:t>1 student  →  many registrations</a:t>
            </a:r>
          </a:p>
        </p:txBody>
      </p:sp>
      <p:sp>
        <p:nvSpPr>
          <p:cNvPr id="21" name="Rectangle 20">
            <a:extLst>
              <a:ext uri="{FF2B5EF4-FFF2-40B4-BE49-F238E27FC236}">
                <a16:creationId xmlns:a16="http://schemas.microsoft.com/office/drawing/2014/main" id="{D4F5AB79-3FA7-412F-8555-3A8099D58883}"/>
              </a:ext>
            </a:extLst>
          </p:cNvPr>
          <p:cNvSpPr>
            <a:spLocks noGrp="1"/>
          </p:cNvSpPr>
          <p:nvPr/>
        </p:nvSpPr>
        <p:spPr>
          <a:xfrm>
            <a:off x="7124700" y="4038600"/>
            <a:ext cx="3429000" cy="247650"/>
          </a:xfrm>
          <a:prstGeom prst="rect">
            <a:avLst/>
          </a:prstGeom>
          <a:noFill/>
          <a:ln w="0">
            <a:noFill/>
            <a:prstDash val="solid"/>
          </a:ln>
        </p:spPr>
        <p:txBody>
          <a:bodyPr wrap="square" lIns="0" tIns="0" rIns="0" bIns="0" anchor="t">
            <a:normAutofit/>
          </a:bodyPr>
          <a:lstStyle>
            <a:defPPr algn="ctr">
              <a:defRPr sz="1200" b="1">
                <a:solidFill>
                  <a:srgbClr val="246BCE"/>
                </a:solidFill>
                <a:latin typeface="Arial"/>
                <a:ea typeface="Arial"/>
                <a:cs typeface="Arial"/>
              </a:defRPr>
            </a:defPPr>
          </a:lstStyle>
          <a:p>
            <a:pPr algn="ctr">
              <a:defRPr sz="1200" b="1">
                <a:solidFill>
                  <a:srgbClr val="246BCE"/>
                </a:solidFill>
                <a:latin typeface="Arial"/>
                <a:ea typeface="Arial"/>
                <a:cs typeface="Arial"/>
              </a:defRPr>
            </a:pPr>
            <a:r>
              <a:rPr sz="1200" b="1">
                <a:solidFill>
                  <a:srgbClr val="246BCE"/>
                </a:solidFill>
                <a:latin typeface="Arial"/>
                <a:ea typeface="Arial"/>
                <a:cs typeface="Arial"/>
              </a:rPr>
              <a:t>many registrations  ←  1 event</a:t>
            </a:r>
          </a:p>
        </p:txBody>
      </p:sp>
      <p:sp>
        <p:nvSpPr>
          <p:cNvPr id="22" name="Rectangle: Rounded Corners 21">
            <a:extLst>
              <a:ext uri="{FF2B5EF4-FFF2-40B4-BE49-F238E27FC236}">
                <a16:creationId xmlns:a16="http://schemas.microsoft.com/office/drawing/2014/main" id="{0C4AC469-6AC5-42F8-83AB-5BD09E2C3288}"/>
              </a:ext>
            </a:extLst>
          </p:cNvPr>
          <p:cNvSpPr>
            <a:spLocks noGrp="1"/>
          </p:cNvSpPr>
          <p:nvPr/>
        </p:nvSpPr>
        <p:spPr>
          <a:xfrm>
            <a:off x="609600" y="4657725"/>
            <a:ext cx="3524250" cy="1352550"/>
          </a:xfrm>
          <a:prstGeom prst="roundRect">
            <a:avLst>
              <a:gd name="adj" fmla="val 8451"/>
            </a:avLst>
          </a:prstGeom>
          <a:solidFill>
            <a:srgbClr val="FFFFFF"/>
          </a:solidFill>
          <a:ln w="9525">
            <a:solidFill>
              <a:srgbClr val="DDE4EF"/>
            </a:solidFill>
            <a:prstDash val="solid"/>
          </a:ln>
        </p:spPr>
      </p:sp>
      <p:sp>
        <p:nvSpPr>
          <p:cNvPr id="23" name="Rectangle 22">
            <a:extLst>
              <a:ext uri="{FF2B5EF4-FFF2-40B4-BE49-F238E27FC236}">
                <a16:creationId xmlns:a16="http://schemas.microsoft.com/office/drawing/2014/main" id="{1FEB8A98-3169-4AFB-A7E2-374DFD63BBB7}"/>
              </a:ext>
            </a:extLst>
          </p:cNvPr>
          <p:cNvSpPr>
            <a:spLocks noGrp="1"/>
          </p:cNvSpPr>
          <p:nvPr/>
        </p:nvSpPr>
        <p:spPr>
          <a:xfrm>
            <a:off x="609600" y="4657725"/>
            <a:ext cx="3524250" cy="47625"/>
          </a:xfrm>
          <a:prstGeom prst="rect">
            <a:avLst/>
          </a:prstGeom>
          <a:solidFill>
            <a:srgbClr val="7048E8"/>
          </a:solidFill>
          <a:ln w="0">
            <a:noFill/>
            <a:prstDash val="solid"/>
          </a:ln>
        </p:spPr>
      </p:sp>
      <p:sp>
        <p:nvSpPr>
          <p:cNvPr id="24" name="Rectangle 23">
            <a:extLst>
              <a:ext uri="{FF2B5EF4-FFF2-40B4-BE49-F238E27FC236}">
                <a16:creationId xmlns:a16="http://schemas.microsoft.com/office/drawing/2014/main" id="{0EA47917-FC9A-4068-8834-6087CC1B6F24}"/>
              </a:ext>
            </a:extLst>
          </p:cNvPr>
          <p:cNvSpPr>
            <a:spLocks noGrp="1"/>
          </p:cNvSpPr>
          <p:nvPr/>
        </p:nvSpPr>
        <p:spPr>
          <a:xfrm>
            <a:off x="762000" y="4819650"/>
            <a:ext cx="3219450" cy="276225"/>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USERS</a:t>
            </a:r>
          </a:p>
        </p:txBody>
      </p:sp>
      <p:sp>
        <p:nvSpPr>
          <p:cNvPr id="25" name="Rectangle 24">
            <a:extLst>
              <a:ext uri="{FF2B5EF4-FFF2-40B4-BE49-F238E27FC236}">
                <a16:creationId xmlns:a16="http://schemas.microsoft.com/office/drawing/2014/main" id="{F923E0E0-B730-4712-B423-4346BE3D74EC}"/>
              </a:ext>
            </a:extLst>
          </p:cNvPr>
          <p:cNvSpPr>
            <a:spLocks noGrp="1"/>
          </p:cNvSpPr>
          <p:nvPr/>
        </p:nvSpPr>
        <p:spPr>
          <a:xfrm>
            <a:off x="762000" y="5200650"/>
            <a:ext cx="3219450" cy="68580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id · primary key</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username · unique</a:t>
            </a:r>
          </a:p>
          <a:p>
            <a:pPr algn="l">
              <a:lnSpc>
                <a:spcPct val="110000"/>
              </a:lnSpc>
              <a:buNone/>
              <a:defRPr sz="1200" b="0">
                <a:solidFill>
                  <a:srgbClr val="68778D"/>
                </a:solidFill>
                <a:latin typeface="Arial"/>
                <a:ea typeface="Arial"/>
                <a:cs typeface="Arial"/>
              </a:defRPr>
            </a:pPr>
            <a:r>
              <a:rPr sz="1200" b="0">
                <a:solidFill>
                  <a:srgbClr val="68778D"/>
                </a:solidFill>
                <a:latin typeface="Arial"/>
                <a:ea typeface="Arial"/>
                <a:cs typeface="Arial"/>
              </a:rPr>
              <a:t>password_hash · role</a:t>
            </a:r>
          </a:p>
        </p:txBody>
      </p:sp>
      <p:sp>
        <p:nvSpPr>
          <p:cNvPr id="26" name="Rectangle 25">
            <a:extLst>
              <a:ext uri="{FF2B5EF4-FFF2-40B4-BE49-F238E27FC236}">
                <a16:creationId xmlns:a16="http://schemas.microsoft.com/office/drawing/2014/main" id="{FED70FD2-7D2E-4B8B-B9A1-A37A8014C1A2}"/>
              </a:ext>
            </a:extLst>
          </p:cNvPr>
          <p:cNvSpPr>
            <a:spLocks noGrp="1"/>
          </p:cNvSpPr>
          <p:nvPr/>
        </p:nvSpPr>
        <p:spPr>
          <a:xfrm>
            <a:off x="4514850" y="4991100"/>
            <a:ext cx="6724650" cy="523875"/>
          </a:xfrm>
          <a:prstGeom prst="rect">
            <a:avLst/>
          </a:prstGeom>
          <a:noFill/>
          <a:ln w="0">
            <a:noFill/>
            <a:prstDash val="solid"/>
          </a:ln>
        </p:spPr>
        <p:txBody>
          <a:bodyPr wrap="square" lIns="0" tIns="0" rIns="0" bIns="0" anchor="t">
            <a:normAutofit/>
          </a:bodyPr>
          <a:lstStyle>
            <a:defPPr algn="l">
              <a:defRPr sz="1425" b="1">
                <a:solidFill>
                  <a:srgbClr val="172C4B"/>
                </a:solidFill>
                <a:latin typeface="Arial"/>
                <a:ea typeface="Arial"/>
                <a:cs typeface="Arial"/>
              </a:defRPr>
            </a:defPPr>
          </a:lstStyle>
          <a:p>
            <a:pPr algn="l">
              <a:defRPr sz="1425" b="1">
                <a:solidFill>
                  <a:srgbClr val="172C4B"/>
                </a:solidFill>
                <a:latin typeface="Arial"/>
                <a:ea typeface="Arial"/>
                <a:cs typeface="Arial"/>
              </a:defRPr>
            </a:pPr>
            <a:r>
              <a:rPr sz="1425" b="1">
                <a:solidFill>
                  <a:srgbClr val="172C4B"/>
                </a:solidFill>
                <a:latin typeface="Arial"/>
                <a:ea typeface="Arial"/>
                <a:cs typeface="Arial"/>
              </a:rPr>
              <a:t>Admin login records only. All admins share the same event and registration data.</a:t>
            </a:r>
          </a:p>
        </p:txBody>
      </p:sp>
      <p:sp>
        <p:nvSpPr>
          <p:cNvPr id="27" name="Rectangle 26">
            <a:extLst>
              <a:ext uri="{FF2B5EF4-FFF2-40B4-BE49-F238E27FC236}">
                <a16:creationId xmlns:a16="http://schemas.microsoft.com/office/drawing/2014/main" id="{FBF1C6ED-1E2F-4ED9-A00E-929C8B2B1A43}"/>
              </a:ext>
            </a:extLst>
          </p:cNvPr>
          <p:cNvSpPr>
            <a:spLocks noGrp="1"/>
          </p:cNvSpPr>
          <p:nvPr/>
        </p:nvSpPr>
        <p:spPr>
          <a:xfrm>
            <a:off x="609600" y="6096000"/>
            <a:ext cx="10972800" cy="209550"/>
          </a:xfrm>
          <a:prstGeom prst="rect">
            <a:avLst/>
          </a:prstGeom>
          <a:noFill/>
          <a:ln w="0">
            <a:noFill/>
            <a:prstDash val="solid"/>
          </a:ln>
        </p:spPr>
        <p:txBody>
          <a:bodyPr wrap="square" lIns="0" tIns="0" rIns="0" bIns="0" anchor="t">
            <a:normAutofit/>
          </a:bodyPr>
          <a:lstStyle>
            <a:defPPr algn="l">
              <a:defRPr sz="1125" b="1">
                <a:solidFill>
                  <a:srgbClr val="172C4B"/>
                </a:solidFill>
                <a:latin typeface="Arial"/>
                <a:ea typeface="Arial"/>
                <a:cs typeface="Arial"/>
              </a:defRPr>
            </a:defPPr>
          </a:lstStyle>
          <a:p>
            <a:pPr algn="l">
              <a:defRPr sz="1125" b="1">
                <a:solidFill>
                  <a:srgbClr val="172C4B"/>
                </a:solidFill>
                <a:latin typeface="Arial"/>
                <a:ea typeface="Arial"/>
                <a:cs typeface="Arial"/>
              </a:defRPr>
            </a:pPr>
            <a:r>
              <a:rPr sz="1125" b="1">
                <a:solidFill>
                  <a:srgbClr val="172C4B"/>
                </a:solidFill>
                <a:latin typeface="Arial"/>
                <a:ea typeface="Arial"/>
                <a:cs typeface="Arial"/>
              </a:rPr>
              <a:t>Unique key on (student_id, event_id) prevents duplicate sign-ups for the same event.</a:t>
            </a:r>
          </a:p>
        </p:txBody>
      </p:sp>
    </p:spTree>
    <p:extLst>
      <p:ext uri="{BB962C8B-B14F-4D97-AF65-F5344CB8AC3E}">
        <p14:creationId xmlns:p14="http://schemas.microsoft.com/office/powerpoint/2010/main" val="2080577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485B57B-6B3A-4693-B512-5D7088842F9E}"/>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09  EVENT EXPERIENCE</a:t>
            </a:r>
          </a:p>
        </p:txBody>
      </p:sp>
      <p:sp>
        <p:nvSpPr>
          <p:cNvPr id="2" name="Rectangle 1">
            <a:extLst>
              <a:ext uri="{FF2B5EF4-FFF2-40B4-BE49-F238E27FC236}">
                <a16:creationId xmlns:a16="http://schemas.microsoft.com/office/drawing/2014/main" id="{0E87ABAA-976B-44F9-AF80-1EBDC6EBCC13}"/>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Event pages combine useful details and imagery</a:t>
            </a:r>
          </a:p>
        </p:txBody>
      </p:sp>
      <p:sp>
        <p:nvSpPr>
          <p:cNvPr id="3" name="Rectangle 2">
            <a:extLst>
              <a:ext uri="{FF2B5EF4-FFF2-40B4-BE49-F238E27FC236}">
                <a16:creationId xmlns:a16="http://schemas.microsoft.com/office/drawing/2014/main" id="{12DC68A8-4964-46AC-ADA1-28B91168F574}"/>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Administrators can publish event information and upload a photo for students to discover</a:t>
            </a:r>
          </a:p>
        </p:txBody>
      </p:sp>
      <p:sp>
        <p:nvSpPr>
          <p:cNvPr id="4" name="Straight Connector 3">
            <a:extLst>
              <a:ext uri="{FF2B5EF4-FFF2-40B4-BE49-F238E27FC236}">
                <a16:creationId xmlns:a16="http://schemas.microsoft.com/office/drawing/2014/main" id="{B8F96ED9-58B6-4A0C-B366-0F9630474D0A}"/>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8756AA22-5BC8-440D-A769-4DFE0EA23A57}"/>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E8B9ED96-4ED0-4565-B8CF-F0898067B9DB}"/>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1BF6466D-9F9C-4A85-B9FB-C9E89FAC3623}"/>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10</a:t>
            </a:r>
          </a:p>
        </p:txBody>
      </p:sp>
      <p:sp>
        <p:nvSpPr>
          <p:cNvPr id="8" name="Rectangle 7">
            <a:extLst>
              <a:ext uri="{FF2B5EF4-FFF2-40B4-BE49-F238E27FC236}">
                <a16:creationId xmlns:a16="http://schemas.microsoft.com/office/drawing/2014/main" id="{A3DDD68E-5616-4EAA-829E-8135F8407146}"/>
              </a:ext>
            </a:extLst>
          </p:cNvPr>
          <p:cNvSpPr>
            <a:spLocks noGrp="1"/>
          </p:cNvSpPr>
          <p:nvPr/>
        </p:nvSpPr>
        <p:spPr>
          <a:xfrm>
            <a:off x="609600" y="2124075"/>
            <a:ext cx="28575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EVENT RECORD</a:t>
            </a:r>
          </a:p>
        </p:txBody>
      </p:sp>
      <p:sp>
        <p:nvSpPr>
          <p:cNvPr id="9" name="Rectangle 8">
            <a:extLst>
              <a:ext uri="{FF2B5EF4-FFF2-40B4-BE49-F238E27FC236}">
                <a16:creationId xmlns:a16="http://schemas.microsoft.com/office/drawing/2014/main" id="{21396583-1FD8-4F21-8E21-20DDB6E3ACC9}"/>
              </a:ext>
            </a:extLst>
          </p:cNvPr>
          <p:cNvSpPr>
            <a:spLocks noGrp="1"/>
          </p:cNvSpPr>
          <p:nvPr/>
        </p:nvSpPr>
        <p:spPr>
          <a:xfrm>
            <a:off x="609600" y="2476500"/>
            <a:ext cx="4476750" cy="838200"/>
          </a:xfrm>
          <a:prstGeom prst="rect">
            <a:avLst/>
          </a:prstGeom>
          <a:noFill/>
          <a:ln w="0">
            <a:noFill/>
            <a:prstDash val="solid"/>
          </a:ln>
        </p:spPr>
        <p:txBody>
          <a:bodyPr wrap="square" lIns="0" tIns="0" rIns="0" bIns="0" anchor="t">
            <a:normAutofit fontScale="97778"/>
          </a:bodyPr>
          <a:lstStyle>
            <a:defPPr algn="l">
              <a:defRPr sz="1875" b="1">
                <a:solidFill>
                  <a:srgbClr val="102B4D"/>
                </a:solidFill>
                <a:latin typeface="Arial"/>
                <a:ea typeface="Arial"/>
                <a:cs typeface="Arial"/>
              </a:defRPr>
            </a:defPPr>
          </a:lstStyle>
          <a:p>
            <a:pPr algn="l">
              <a:defRPr sz="1875" b="1">
                <a:solidFill>
                  <a:srgbClr val="102B4D"/>
                </a:solidFill>
                <a:latin typeface="Arial"/>
                <a:ea typeface="Arial"/>
                <a:cs typeface="Arial"/>
              </a:defRPr>
            </a:pPr>
            <a:r>
              <a:rPr sz="1875" b="1">
                <a:solidFill>
                  <a:srgbClr val="102B4D"/>
                </a:solidFill>
                <a:latin typeface="Arial"/>
                <a:ea typeface="Arial"/>
                <a:cs typeface="Arial"/>
              </a:rPr>
              <a:t>Title, category, description, venue, date, capacity, and status describe each event.</a:t>
            </a:r>
          </a:p>
        </p:txBody>
      </p:sp>
      <p:sp>
        <p:nvSpPr>
          <p:cNvPr id="10" name="Rectangle 9">
            <a:extLst>
              <a:ext uri="{FF2B5EF4-FFF2-40B4-BE49-F238E27FC236}">
                <a16:creationId xmlns:a16="http://schemas.microsoft.com/office/drawing/2014/main" id="{8645D704-19FE-4C12-BF53-ED928C9DB606}"/>
              </a:ext>
            </a:extLst>
          </p:cNvPr>
          <p:cNvSpPr>
            <a:spLocks noGrp="1"/>
          </p:cNvSpPr>
          <p:nvPr/>
        </p:nvSpPr>
        <p:spPr>
          <a:xfrm>
            <a:off x="609600" y="3619500"/>
            <a:ext cx="4476750" cy="714375"/>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Published events appear on the public home page. Draft, completed, and cancelled statuses support administration.</a:t>
            </a:r>
          </a:p>
        </p:txBody>
      </p:sp>
      <p:sp>
        <p:nvSpPr>
          <p:cNvPr id="11" name="Rectangle 10">
            <a:extLst>
              <a:ext uri="{FF2B5EF4-FFF2-40B4-BE49-F238E27FC236}">
                <a16:creationId xmlns:a16="http://schemas.microsoft.com/office/drawing/2014/main" id="{5A1F2CC1-2C76-41C9-8960-2596A932DFCC}"/>
              </a:ext>
            </a:extLst>
          </p:cNvPr>
          <p:cNvSpPr>
            <a:spLocks noGrp="1"/>
          </p:cNvSpPr>
          <p:nvPr/>
        </p:nvSpPr>
        <p:spPr>
          <a:xfrm>
            <a:off x="609600" y="4724400"/>
            <a:ext cx="2857500" cy="190500"/>
          </a:xfrm>
          <a:prstGeom prst="rect">
            <a:avLst/>
          </a:prstGeom>
          <a:noFill/>
          <a:ln w="0">
            <a:noFill/>
            <a:prstDash val="solid"/>
          </a:ln>
        </p:spPr>
        <p:txBody>
          <a:bodyPr wrap="square" lIns="0" tIns="0" rIns="0" bIns="0" anchor="t">
            <a:normAutofit/>
          </a:bodyPr>
          <a:lstStyle>
            <a:defPPr algn="l">
              <a:defRPr sz="975" b="1">
                <a:solidFill>
                  <a:srgbClr val="11A8A0"/>
                </a:solidFill>
                <a:latin typeface="Arial"/>
                <a:ea typeface="Arial"/>
                <a:cs typeface="Arial"/>
              </a:defRPr>
            </a:defPPr>
          </a:lstStyle>
          <a:p>
            <a:pPr algn="l">
              <a:defRPr sz="975" b="1">
                <a:solidFill>
                  <a:srgbClr val="11A8A0"/>
                </a:solidFill>
                <a:latin typeface="Arial"/>
                <a:ea typeface="Arial"/>
                <a:cs typeface="Arial"/>
              </a:defRPr>
            </a:pPr>
            <a:r>
              <a:rPr sz="975" b="1">
                <a:solidFill>
                  <a:srgbClr val="11A8A0"/>
                </a:solidFill>
                <a:latin typeface="Arial"/>
                <a:ea typeface="Arial"/>
                <a:cs typeface="Arial"/>
              </a:rPr>
              <a:t>PHOTO UPLOAD</a:t>
            </a:r>
          </a:p>
        </p:txBody>
      </p:sp>
      <p:sp>
        <p:nvSpPr>
          <p:cNvPr id="12" name="Rectangle 11">
            <a:extLst>
              <a:ext uri="{FF2B5EF4-FFF2-40B4-BE49-F238E27FC236}">
                <a16:creationId xmlns:a16="http://schemas.microsoft.com/office/drawing/2014/main" id="{52615BD0-6757-4D67-BA2F-63095A18939D}"/>
              </a:ext>
            </a:extLst>
          </p:cNvPr>
          <p:cNvSpPr>
            <a:spLocks noGrp="1"/>
          </p:cNvSpPr>
          <p:nvPr/>
        </p:nvSpPr>
        <p:spPr>
          <a:xfrm>
            <a:off x="609600" y="5038725"/>
            <a:ext cx="4000500" cy="285750"/>
          </a:xfrm>
          <a:prstGeom prst="rect">
            <a:avLst/>
          </a:prstGeom>
          <a:noFill/>
          <a:ln w="0">
            <a:noFill/>
            <a:prstDash val="solid"/>
          </a:ln>
        </p:spPr>
        <p:txBody>
          <a:bodyPr wrap="square" lIns="0" tIns="0" rIns="0" bIns="0" anchor="t">
            <a:normAutofit/>
          </a:bodyPr>
          <a:lstStyle>
            <a:defPPr algn="l">
              <a:defRPr sz="1425" b="1">
                <a:solidFill>
                  <a:srgbClr val="172C4B"/>
                </a:solidFill>
                <a:latin typeface="Arial"/>
                <a:ea typeface="Arial"/>
                <a:cs typeface="Arial"/>
              </a:defRPr>
            </a:defPPr>
          </a:lstStyle>
          <a:p>
            <a:pPr algn="l">
              <a:defRPr sz="1425" b="1">
                <a:solidFill>
                  <a:srgbClr val="172C4B"/>
                </a:solidFill>
                <a:latin typeface="Arial"/>
                <a:ea typeface="Arial"/>
                <a:cs typeface="Arial"/>
              </a:defRPr>
            </a:pPr>
            <a:r>
              <a:rPr sz="1425" b="1">
                <a:solidFill>
                  <a:srgbClr val="172C4B"/>
                </a:solidFill>
                <a:latin typeface="Arial"/>
                <a:ea typeface="Arial"/>
                <a:cs typeface="Arial"/>
              </a:rPr>
              <a:t>JPG · JPEG · PNG · WEBP</a:t>
            </a:r>
          </a:p>
        </p:txBody>
      </p:sp>
      <p:sp>
        <p:nvSpPr>
          <p:cNvPr id="13" name="Rectangle 12">
            <a:extLst>
              <a:ext uri="{FF2B5EF4-FFF2-40B4-BE49-F238E27FC236}">
                <a16:creationId xmlns:a16="http://schemas.microsoft.com/office/drawing/2014/main" id="{61B494B2-A160-4E79-8F43-0276293BA983}"/>
              </a:ext>
            </a:extLst>
          </p:cNvPr>
          <p:cNvSpPr>
            <a:spLocks noGrp="1"/>
          </p:cNvSpPr>
          <p:nvPr/>
        </p:nvSpPr>
        <p:spPr>
          <a:xfrm>
            <a:off x="609600" y="5410200"/>
            <a:ext cx="4476750" cy="476250"/>
          </a:xfrm>
          <a:prstGeom prst="rect">
            <a:avLst/>
          </a:prstGeom>
          <a:noFill/>
          <a:ln w="0">
            <a:noFill/>
            <a:prstDash val="solid"/>
          </a:ln>
        </p:spPr>
        <p:txBody>
          <a:bodyPr wrap="square" lIns="0" tIns="0" rIns="0" bIns="0" anchor="t">
            <a:normAutofit/>
          </a:bodyPr>
          <a:lstStyle>
            <a:defPPr algn="l">
              <a:defRPr sz="1200" b="0">
                <a:solidFill>
                  <a:srgbClr val="68778D"/>
                </a:solidFill>
                <a:latin typeface="Arial"/>
                <a:ea typeface="Arial"/>
                <a:cs typeface="Arial"/>
              </a:defRPr>
            </a:defPPr>
          </a:lstStyle>
          <a:p>
            <a:pPr algn="l">
              <a:defRPr sz="1200" b="0">
                <a:solidFill>
                  <a:srgbClr val="68778D"/>
                </a:solidFill>
                <a:latin typeface="Arial"/>
                <a:ea typeface="Arial"/>
                <a:cs typeface="Arial"/>
              </a:defRPr>
            </a:pPr>
            <a:r>
              <a:rPr sz="1200" b="0">
                <a:solidFill>
                  <a:srgbClr val="68778D"/>
                </a:solidFill>
                <a:latin typeface="Arial"/>
                <a:ea typeface="Arial"/>
                <a:cs typeface="Arial"/>
              </a:rPr>
              <a:t>The app limits uploads to 5 MB and stores the saved filename on the event record.</a:t>
            </a:r>
          </a:p>
        </p:txBody>
      </p:sp>
      <p:pic>
        <p:nvPicPr>
          <p:cNvPr id="14" name="Picture 13">
            <a:extLst>
              <a:ext uri="{FF2B5EF4-FFF2-40B4-BE49-F238E27FC236}">
                <a16:creationId xmlns:a16="http://schemas.microsoft.com/office/drawing/2014/main" id="{3267B978-A383-4F11-BD92-CD7F6D1C8C34}"/>
              </a:ext>
            </a:extLst>
          </p:cNvPr>
          <p:cNvPicPr>
            <a:picLocks noChangeAspect="1"/>
          </p:cNvPicPr>
          <p:nvPr/>
        </p:nvPicPr>
        <p:blipFill>
          <a:blip r:embed="rId4"/>
          <a:srcRect l="2000" t="1000" r="2000" b="16000"/>
          <a:stretch/>
        </p:blipFill>
        <p:spPr>
          <a:xfrm>
            <a:off x="5657850" y="2095500"/>
            <a:ext cx="1809750" cy="3619500"/>
          </a:xfrm>
          <a:prstGeom prst="roundRect">
            <a:avLst>
              <a:gd name="adj" fmla="val 8421"/>
            </a:avLst>
          </a:prstGeom>
        </p:spPr>
      </p:pic>
      <p:pic>
        <p:nvPicPr>
          <p:cNvPr id="15" name="Picture 14">
            <a:extLst>
              <a:ext uri="{FF2B5EF4-FFF2-40B4-BE49-F238E27FC236}">
                <a16:creationId xmlns:a16="http://schemas.microsoft.com/office/drawing/2014/main" id="{017C0149-9C55-4C65-862B-CD32BEFBEA4C}"/>
              </a:ext>
            </a:extLst>
          </p:cNvPr>
          <p:cNvPicPr>
            <a:picLocks noChangeAspect="1"/>
          </p:cNvPicPr>
          <p:nvPr/>
        </p:nvPicPr>
        <p:blipFill>
          <a:blip r:embed="rId5"/>
          <a:srcRect l="2000" t="1000" r="2000" b="16000"/>
          <a:stretch/>
        </p:blipFill>
        <p:spPr>
          <a:xfrm>
            <a:off x="7667625" y="2095500"/>
            <a:ext cx="1809750" cy="3619500"/>
          </a:xfrm>
          <a:prstGeom prst="roundRect">
            <a:avLst>
              <a:gd name="adj" fmla="val 8421"/>
            </a:avLst>
          </a:prstGeom>
        </p:spPr>
      </p:pic>
      <p:pic>
        <p:nvPicPr>
          <p:cNvPr id="16" name="Picture 15">
            <a:extLst>
              <a:ext uri="{FF2B5EF4-FFF2-40B4-BE49-F238E27FC236}">
                <a16:creationId xmlns:a16="http://schemas.microsoft.com/office/drawing/2014/main" id="{8D10B14C-FA41-4DEF-9CFE-709CEC1A6BFB}"/>
              </a:ext>
            </a:extLst>
          </p:cNvPr>
          <p:cNvPicPr>
            <a:picLocks noChangeAspect="1"/>
          </p:cNvPicPr>
          <p:nvPr/>
        </p:nvPicPr>
        <p:blipFill>
          <a:blip r:embed="rId6"/>
          <a:srcRect l="2000" t="1000" r="2000" b="16000"/>
          <a:stretch/>
        </p:blipFill>
        <p:spPr>
          <a:xfrm>
            <a:off x="9677400" y="2095500"/>
            <a:ext cx="1809750" cy="3619500"/>
          </a:xfrm>
          <a:prstGeom prst="roundRect">
            <a:avLst>
              <a:gd name="adj" fmla="val 8421"/>
            </a:avLst>
          </a:prstGeom>
        </p:spPr>
      </p:pic>
    </p:spTree>
    <p:extLst>
      <p:ext uri="{BB962C8B-B14F-4D97-AF65-F5344CB8AC3E}">
        <p14:creationId xmlns:p14="http://schemas.microsoft.com/office/powerpoint/2010/main" val="1153611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90C0D1A-E80C-4496-99E8-3E33C3977210}"/>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10  PYTHON REPORTING</a:t>
            </a:r>
          </a:p>
        </p:txBody>
      </p:sp>
      <p:sp>
        <p:nvSpPr>
          <p:cNvPr id="2" name="Rectangle 1">
            <a:extLst>
              <a:ext uri="{FF2B5EF4-FFF2-40B4-BE49-F238E27FC236}">
                <a16:creationId xmlns:a16="http://schemas.microsoft.com/office/drawing/2014/main" id="{C5E7D227-EE3A-4DAC-8E54-94C4B1979B17}"/>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Registration counts and participant reports</a:t>
            </a:r>
          </a:p>
        </p:txBody>
      </p:sp>
      <p:sp>
        <p:nvSpPr>
          <p:cNvPr id="3" name="Rectangle 2">
            <a:extLst>
              <a:ext uri="{FF2B5EF4-FFF2-40B4-BE49-F238E27FC236}">
                <a16:creationId xmlns:a16="http://schemas.microsoft.com/office/drawing/2014/main" id="{7A4ED472-CFAD-4FE5-9EC6-A2E400971EA1}"/>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Python queries MySQL to summarize registrations by event and provide participant details</a:t>
            </a:r>
          </a:p>
        </p:txBody>
      </p:sp>
      <p:sp>
        <p:nvSpPr>
          <p:cNvPr id="4" name="Straight Connector 3">
            <a:extLst>
              <a:ext uri="{FF2B5EF4-FFF2-40B4-BE49-F238E27FC236}">
                <a16:creationId xmlns:a16="http://schemas.microsoft.com/office/drawing/2014/main" id="{8A65A605-3A36-4962-A47A-DC9F46640416}"/>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F4995107-F444-41D7-B663-57773B554E64}"/>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68B3C48B-7426-434B-AB0C-E1AA05365870}"/>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43399072-5B41-43D7-BCAC-69C06A7339BD}"/>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11</a:t>
            </a:r>
          </a:p>
        </p:txBody>
      </p:sp>
      <p:sp>
        <p:nvSpPr>
          <p:cNvPr id="8" name="Rectangle 7">
            <a:extLst>
              <a:ext uri="{FF2B5EF4-FFF2-40B4-BE49-F238E27FC236}">
                <a16:creationId xmlns:a16="http://schemas.microsoft.com/office/drawing/2014/main" id="{9AD72673-B16E-4E0F-ACF0-9D55D975F3E3}"/>
              </a:ext>
            </a:extLst>
          </p:cNvPr>
          <p:cNvSpPr>
            <a:spLocks noGrp="1"/>
          </p:cNvSpPr>
          <p:nvPr/>
        </p:nvSpPr>
        <p:spPr>
          <a:xfrm>
            <a:off x="609600" y="2152650"/>
            <a:ext cx="2857500" cy="190500"/>
          </a:xfrm>
          <a:prstGeom prst="rect">
            <a:avLst/>
          </a:prstGeom>
          <a:noFill/>
          <a:ln w="0">
            <a:noFill/>
            <a:prstDash val="solid"/>
          </a:ln>
        </p:spPr>
        <p:txBody>
          <a:bodyPr wrap="square" lIns="0" tIns="0" rIns="0" bIns="0" anchor="t">
            <a:normAutofit/>
          </a:bodyPr>
          <a:lstStyle>
            <a:defPPr algn="l">
              <a:defRPr sz="975" b="1">
                <a:solidFill>
                  <a:srgbClr val="246BCE"/>
                </a:solidFill>
                <a:latin typeface="Arial"/>
                <a:ea typeface="Arial"/>
                <a:cs typeface="Arial"/>
              </a:defRPr>
            </a:defPPr>
          </a:lstStyle>
          <a:p>
            <a:pPr algn="l">
              <a:defRPr sz="975" b="1">
                <a:solidFill>
                  <a:srgbClr val="246BCE"/>
                </a:solidFill>
                <a:latin typeface="Arial"/>
                <a:ea typeface="Arial"/>
                <a:cs typeface="Arial"/>
              </a:defRPr>
            </a:pPr>
            <a:r>
              <a:rPr sz="975" b="1">
                <a:solidFill>
                  <a:srgbClr val="246BCE"/>
                </a:solidFill>
                <a:latin typeface="Arial"/>
                <a:ea typeface="Arial"/>
                <a:cs typeface="Arial"/>
              </a:rPr>
              <a:t>CSV SUMMARY</a:t>
            </a:r>
          </a:p>
        </p:txBody>
      </p:sp>
      <p:sp>
        <p:nvSpPr>
          <p:cNvPr id="9" name="Rectangle 8">
            <a:extLst>
              <a:ext uri="{FF2B5EF4-FFF2-40B4-BE49-F238E27FC236}">
                <a16:creationId xmlns:a16="http://schemas.microsoft.com/office/drawing/2014/main" id="{C91E7EFE-CE12-495C-9B38-0B1163DA7A99}"/>
              </a:ext>
            </a:extLst>
          </p:cNvPr>
          <p:cNvSpPr>
            <a:spLocks noGrp="1"/>
          </p:cNvSpPr>
          <p:nvPr/>
        </p:nvSpPr>
        <p:spPr>
          <a:xfrm>
            <a:off x="609600" y="2524125"/>
            <a:ext cx="4095750" cy="400050"/>
          </a:xfrm>
          <a:prstGeom prst="rect">
            <a:avLst/>
          </a:prstGeom>
          <a:noFill/>
          <a:ln w="0">
            <a:noFill/>
            <a:prstDash val="solid"/>
          </a:ln>
        </p:spPr>
        <p:txBody>
          <a:bodyPr wrap="square" lIns="0" tIns="0" rIns="0" bIns="0" anchor="t">
            <a:normAutofit/>
          </a:bodyPr>
          <a:lstStyle>
            <a:defPPr algn="l">
              <a:defRPr sz="2025" b="1">
                <a:solidFill>
                  <a:srgbClr val="102B4D"/>
                </a:solidFill>
                <a:latin typeface="Arial"/>
                <a:ea typeface="Arial"/>
                <a:cs typeface="Arial"/>
              </a:defRPr>
            </a:defPPr>
          </a:lstStyle>
          <a:p>
            <a:pPr algn="l">
              <a:defRPr sz="2025" b="1">
                <a:solidFill>
                  <a:srgbClr val="102B4D"/>
                </a:solidFill>
                <a:latin typeface="Arial"/>
                <a:ea typeface="Arial"/>
                <a:cs typeface="Arial"/>
              </a:defRPr>
            </a:pPr>
            <a:r>
              <a:rPr sz="2025" b="1">
                <a:solidFill>
                  <a:srgbClr val="102B4D"/>
                </a:solidFill>
                <a:latin typeface="Arial"/>
                <a:ea typeface="Arial"/>
                <a:cs typeface="Arial"/>
              </a:rPr>
              <a:t>The report includes</a:t>
            </a:r>
          </a:p>
        </p:txBody>
      </p:sp>
      <p:sp>
        <p:nvSpPr>
          <p:cNvPr id="10" name="Rectangle 9">
            <a:extLst>
              <a:ext uri="{FF2B5EF4-FFF2-40B4-BE49-F238E27FC236}">
                <a16:creationId xmlns:a16="http://schemas.microsoft.com/office/drawing/2014/main" id="{FF2D9E13-E736-4CAA-B985-D85DD43485F1}"/>
              </a:ext>
            </a:extLst>
          </p:cNvPr>
          <p:cNvSpPr>
            <a:spLocks noGrp="1"/>
          </p:cNvSpPr>
          <p:nvPr/>
        </p:nvSpPr>
        <p:spPr>
          <a:xfrm>
            <a:off x="609600" y="3105150"/>
            <a:ext cx="95250" cy="95250"/>
          </a:xfrm>
          <a:prstGeom prst="rect">
            <a:avLst/>
          </a:prstGeom>
          <a:solidFill>
            <a:srgbClr val="246BCE"/>
          </a:solidFill>
          <a:ln w="0">
            <a:noFill/>
            <a:prstDash val="solid"/>
          </a:ln>
        </p:spPr>
      </p:sp>
      <p:sp>
        <p:nvSpPr>
          <p:cNvPr id="11" name="Rectangle 10">
            <a:extLst>
              <a:ext uri="{FF2B5EF4-FFF2-40B4-BE49-F238E27FC236}">
                <a16:creationId xmlns:a16="http://schemas.microsoft.com/office/drawing/2014/main" id="{A448C629-95DD-43C9-934D-3058C3E3308F}"/>
              </a:ext>
            </a:extLst>
          </p:cNvPr>
          <p:cNvSpPr>
            <a:spLocks noGrp="1"/>
          </p:cNvSpPr>
          <p:nvPr/>
        </p:nvSpPr>
        <p:spPr>
          <a:xfrm>
            <a:off x="866775" y="3028950"/>
            <a:ext cx="3619500" cy="285750"/>
          </a:xfrm>
          <a:prstGeom prst="rect">
            <a:avLst/>
          </a:prstGeom>
          <a:noFill/>
          <a:ln w="0">
            <a:noFill/>
            <a:prstDash val="solid"/>
          </a:ln>
        </p:spPr>
        <p:txBody>
          <a:bodyPr wrap="square" lIns="0" tIns="0" rIns="0" bIns="0" anchor="t">
            <a:normAutofit/>
          </a:bodyPr>
          <a:lstStyle>
            <a:defPPr algn="l">
              <a:defRPr sz="1500" b="0">
                <a:solidFill>
                  <a:srgbClr val="172C4B"/>
                </a:solidFill>
                <a:latin typeface="Arial"/>
                <a:ea typeface="Arial"/>
                <a:cs typeface="Arial"/>
              </a:defRPr>
            </a:defPPr>
          </a:lstStyle>
          <a:p>
            <a:pPr algn="l">
              <a:defRPr sz="1500" b="0">
                <a:solidFill>
                  <a:srgbClr val="172C4B"/>
                </a:solidFill>
                <a:latin typeface="Arial"/>
                <a:ea typeface="Arial"/>
                <a:cs typeface="Arial"/>
              </a:defRPr>
            </a:pPr>
            <a:r>
              <a:rPr sz="1500" b="0">
                <a:solidFill>
                  <a:srgbClr val="172C4B"/>
                </a:solidFill>
                <a:latin typeface="Arial"/>
                <a:ea typeface="Arial"/>
                <a:cs typeface="Arial"/>
              </a:rPr>
              <a:t>Event title</a:t>
            </a:r>
          </a:p>
        </p:txBody>
      </p:sp>
      <p:sp>
        <p:nvSpPr>
          <p:cNvPr id="12" name="Rectangle 11">
            <a:extLst>
              <a:ext uri="{FF2B5EF4-FFF2-40B4-BE49-F238E27FC236}">
                <a16:creationId xmlns:a16="http://schemas.microsoft.com/office/drawing/2014/main" id="{259F3C6B-47C1-498B-9914-9D2554028EA0}"/>
              </a:ext>
            </a:extLst>
          </p:cNvPr>
          <p:cNvSpPr>
            <a:spLocks noGrp="1"/>
          </p:cNvSpPr>
          <p:nvPr/>
        </p:nvSpPr>
        <p:spPr>
          <a:xfrm>
            <a:off x="609600" y="3552825"/>
            <a:ext cx="95250" cy="95250"/>
          </a:xfrm>
          <a:prstGeom prst="rect">
            <a:avLst/>
          </a:prstGeom>
          <a:solidFill>
            <a:srgbClr val="7048E8"/>
          </a:solidFill>
          <a:ln w="0">
            <a:noFill/>
            <a:prstDash val="solid"/>
          </a:ln>
        </p:spPr>
      </p:sp>
      <p:sp>
        <p:nvSpPr>
          <p:cNvPr id="13" name="Rectangle 12">
            <a:extLst>
              <a:ext uri="{FF2B5EF4-FFF2-40B4-BE49-F238E27FC236}">
                <a16:creationId xmlns:a16="http://schemas.microsoft.com/office/drawing/2014/main" id="{DC1BE11E-3C0D-4FDF-A873-2C6F2DF9F97D}"/>
              </a:ext>
            </a:extLst>
          </p:cNvPr>
          <p:cNvSpPr>
            <a:spLocks noGrp="1"/>
          </p:cNvSpPr>
          <p:nvPr/>
        </p:nvSpPr>
        <p:spPr>
          <a:xfrm>
            <a:off x="866775" y="3476625"/>
            <a:ext cx="3619500" cy="285750"/>
          </a:xfrm>
          <a:prstGeom prst="rect">
            <a:avLst/>
          </a:prstGeom>
          <a:noFill/>
          <a:ln w="0">
            <a:noFill/>
            <a:prstDash val="solid"/>
          </a:ln>
        </p:spPr>
        <p:txBody>
          <a:bodyPr wrap="square" lIns="0" tIns="0" rIns="0" bIns="0" anchor="t">
            <a:normAutofit/>
          </a:bodyPr>
          <a:lstStyle>
            <a:defPPr algn="l">
              <a:defRPr sz="1500" b="0">
                <a:solidFill>
                  <a:srgbClr val="172C4B"/>
                </a:solidFill>
                <a:latin typeface="Arial"/>
                <a:ea typeface="Arial"/>
                <a:cs typeface="Arial"/>
              </a:defRPr>
            </a:defPPr>
          </a:lstStyle>
          <a:p>
            <a:pPr algn="l">
              <a:defRPr sz="1500" b="0">
                <a:solidFill>
                  <a:srgbClr val="172C4B"/>
                </a:solidFill>
                <a:latin typeface="Arial"/>
                <a:ea typeface="Arial"/>
                <a:cs typeface="Arial"/>
              </a:defRPr>
            </a:pPr>
            <a:r>
              <a:rPr sz="1500" b="0">
                <a:solidFill>
                  <a:srgbClr val="172C4B"/>
                </a:solidFill>
                <a:latin typeface="Arial"/>
                <a:ea typeface="Arial"/>
                <a:cs typeface="Arial"/>
              </a:rPr>
              <a:t>Category</a:t>
            </a:r>
          </a:p>
        </p:txBody>
      </p:sp>
      <p:sp>
        <p:nvSpPr>
          <p:cNvPr id="14" name="Rectangle 13">
            <a:extLst>
              <a:ext uri="{FF2B5EF4-FFF2-40B4-BE49-F238E27FC236}">
                <a16:creationId xmlns:a16="http://schemas.microsoft.com/office/drawing/2014/main" id="{07D32A65-8405-4945-9707-48B9BDA090F5}"/>
              </a:ext>
            </a:extLst>
          </p:cNvPr>
          <p:cNvSpPr>
            <a:spLocks noGrp="1"/>
          </p:cNvSpPr>
          <p:nvPr/>
        </p:nvSpPr>
        <p:spPr>
          <a:xfrm>
            <a:off x="609600" y="4000500"/>
            <a:ext cx="95250" cy="95250"/>
          </a:xfrm>
          <a:prstGeom prst="rect">
            <a:avLst/>
          </a:prstGeom>
          <a:solidFill>
            <a:srgbClr val="11A8A0"/>
          </a:solidFill>
          <a:ln w="0">
            <a:noFill/>
            <a:prstDash val="solid"/>
          </a:ln>
        </p:spPr>
      </p:sp>
      <p:sp>
        <p:nvSpPr>
          <p:cNvPr id="15" name="Rectangle 14">
            <a:extLst>
              <a:ext uri="{FF2B5EF4-FFF2-40B4-BE49-F238E27FC236}">
                <a16:creationId xmlns:a16="http://schemas.microsoft.com/office/drawing/2014/main" id="{FE73905B-52F0-419F-BF35-0170487E7ED1}"/>
              </a:ext>
            </a:extLst>
          </p:cNvPr>
          <p:cNvSpPr>
            <a:spLocks noGrp="1"/>
          </p:cNvSpPr>
          <p:nvPr/>
        </p:nvSpPr>
        <p:spPr>
          <a:xfrm>
            <a:off x="866775" y="3924300"/>
            <a:ext cx="3619500" cy="285750"/>
          </a:xfrm>
          <a:prstGeom prst="rect">
            <a:avLst/>
          </a:prstGeom>
          <a:noFill/>
          <a:ln w="0">
            <a:noFill/>
            <a:prstDash val="solid"/>
          </a:ln>
        </p:spPr>
        <p:txBody>
          <a:bodyPr wrap="square" lIns="0" tIns="0" rIns="0" bIns="0" anchor="t">
            <a:normAutofit/>
          </a:bodyPr>
          <a:lstStyle>
            <a:defPPr algn="l">
              <a:defRPr sz="1500" b="0">
                <a:solidFill>
                  <a:srgbClr val="172C4B"/>
                </a:solidFill>
                <a:latin typeface="Arial"/>
                <a:ea typeface="Arial"/>
                <a:cs typeface="Arial"/>
              </a:defRPr>
            </a:defPPr>
          </a:lstStyle>
          <a:p>
            <a:pPr algn="l">
              <a:defRPr sz="1500" b="0">
                <a:solidFill>
                  <a:srgbClr val="172C4B"/>
                </a:solidFill>
                <a:latin typeface="Arial"/>
                <a:ea typeface="Arial"/>
                <a:cs typeface="Arial"/>
              </a:defRPr>
            </a:pPr>
            <a:r>
              <a:rPr sz="1500" b="0">
                <a:solidFill>
                  <a:srgbClr val="172C4B"/>
                </a:solidFill>
                <a:latin typeface="Arial"/>
                <a:ea typeface="Arial"/>
                <a:cs typeface="Arial"/>
              </a:rPr>
              <a:t>Event date</a:t>
            </a:r>
          </a:p>
        </p:txBody>
      </p:sp>
      <p:sp>
        <p:nvSpPr>
          <p:cNvPr id="16" name="Rectangle 15">
            <a:extLst>
              <a:ext uri="{FF2B5EF4-FFF2-40B4-BE49-F238E27FC236}">
                <a16:creationId xmlns:a16="http://schemas.microsoft.com/office/drawing/2014/main" id="{E2BF74CA-D491-4289-9A91-43EB8236C8C9}"/>
              </a:ext>
            </a:extLst>
          </p:cNvPr>
          <p:cNvSpPr>
            <a:spLocks noGrp="1"/>
          </p:cNvSpPr>
          <p:nvPr/>
        </p:nvSpPr>
        <p:spPr>
          <a:xfrm>
            <a:off x="609600" y="4448175"/>
            <a:ext cx="95250" cy="95250"/>
          </a:xfrm>
          <a:prstGeom prst="rect">
            <a:avLst/>
          </a:prstGeom>
          <a:solidFill>
            <a:srgbClr val="F4BD54"/>
          </a:solidFill>
          <a:ln w="0">
            <a:noFill/>
            <a:prstDash val="solid"/>
          </a:ln>
        </p:spPr>
      </p:sp>
      <p:sp>
        <p:nvSpPr>
          <p:cNvPr id="17" name="Rectangle 16">
            <a:extLst>
              <a:ext uri="{FF2B5EF4-FFF2-40B4-BE49-F238E27FC236}">
                <a16:creationId xmlns:a16="http://schemas.microsoft.com/office/drawing/2014/main" id="{6D5D08CD-9AEF-41D5-B28C-DED6C99845F6}"/>
              </a:ext>
            </a:extLst>
          </p:cNvPr>
          <p:cNvSpPr>
            <a:spLocks noGrp="1"/>
          </p:cNvSpPr>
          <p:nvPr/>
        </p:nvSpPr>
        <p:spPr>
          <a:xfrm>
            <a:off x="866775" y="4371975"/>
            <a:ext cx="3619500" cy="285750"/>
          </a:xfrm>
          <a:prstGeom prst="rect">
            <a:avLst/>
          </a:prstGeom>
          <a:noFill/>
          <a:ln w="0">
            <a:noFill/>
            <a:prstDash val="solid"/>
          </a:ln>
        </p:spPr>
        <p:txBody>
          <a:bodyPr wrap="square" lIns="0" tIns="0" rIns="0" bIns="0" anchor="t">
            <a:normAutofit/>
          </a:bodyPr>
          <a:lstStyle>
            <a:defPPr algn="l">
              <a:defRPr sz="1500" b="0">
                <a:solidFill>
                  <a:srgbClr val="172C4B"/>
                </a:solidFill>
                <a:latin typeface="Arial"/>
                <a:ea typeface="Arial"/>
                <a:cs typeface="Arial"/>
              </a:defRPr>
            </a:defPPr>
          </a:lstStyle>
          <a:p>
            <a:pPr algn="l">
              <a:defRPr sz="1500" b="0">
                <a:solidFill>
                  <a:srgbClr val="172C4B"/>
                </a:solidFill>
                <a:latin typeface="Arial"/>
                <a:ea typeface="Arial"/>
                <a:cs typeface="Arial"/>
              </a:defRPr>
            </a:pPr>
            <a:r>
              <a:rPr sz="1500" b="0">
                <a:solidFill>
                  <a:srgbClr val="172C4B"/>
                </a:solidFill>
                <a:latin typeface="Arial"/>
                <a:ea typeface="Arial"/>
                <a:cs typeface="Arial"/>
              </a:rPr>
              <a:t>Status</a:t>
            </a:r>
          </a:p>
        </p:txBody>
      </p:sp>
      <p:sp>
        <p:nvSpPr>
          <p:cNvPr id="18" name="Rectangle 17">
            <a:extLst>
              <a:ext uri="{FF2B5EF4-FFF2-40B4-BE49-F238E27FC236}">
                <a16:creationId xmlns:a16="http://schemas.microsoft.com/office/drawing/2014/main" id="{5380C63F-4164-42DD-AB6B-183FDC4A98EA}"/>
              </a:ext>
            </a:extLst>
          </p:cNvPr>
          <p:cNvSpPr>
            <a:spLocks noGrp="1"/>
          </p:cNvSpPr>
          <p:nvPr/>
        </p:nvSpPr>
        <p:spPr>
          <a:xfrm>
            <a:off x="609600" y="4895850"/>
            <a:ext cx="95250" cy="95250"/>
          </a:xfrm>
          <a:prstGeom prst="rect">
            <a:avLst/>
          </a:prstGeom>
          <a:solidFill>
            <a:srgbClr val="246BCE"/>
          </a:solidFill>
          <a:ln w="0">
            <a:noFill/>
            <a:prstDash val="solid"/>
          </a:ln>
        </p:spPr>
      </p:sp>
      <p:sp>
        <p:nvSpPr>
          <p:cNvPr id="19" name="Rectangle 18">
            <a:extLst>
              <a:ext uri="{FF2B5EF4-FFF2-40B4-BE49-F238E27FC236}">
                <a16:creationId xmlns:a16="http://schemas.microsoft.com/office/drawing/2014/main" id="{2424DBAE-6283-421A-9FF1-7DF2C4F98489}"/>
              </a:ext>
            </a:extLst>
          </p:cNvPr>
          <p:cNvSpPr>
            <a:spLocks noGrp="1"/>
          </p:cNvSpPr>
          <p:nvPr/>
        </p:nvSpPr>
        <p:spPr>
          <a:xfrm>
            <a:off x="866775" y="4819650"/>
            <a:ext cx="3619500" cy="285750"/>
          </a:xfrm>
          <a:prstGeom prst="rect">
            <a:avLst/>
          </a:prstGeom>
          <a:noFill/>
          <a:ln w="0">
            <a:noFill/>
            <a:prstDash val="solid"/>
          </a:ln>
        </p:spPr>
        <p:txBody>
          <a:bodyPr wrap="square" lIns="0" tIns="0" rIns="0" bIns="0" anchor="t">
            <a:normAutofit/>
          </a:bodyPr>
          <a:lstStyle>
            <a:defPPr algn="l">
              <a:defRPr sz="1500" b="0">
                <a:solidFill>
                  <a:srgbClr val="172C4B"/>
                </a:solidFill>
                <a:latin typeface="Arial"/>
                <a:ea typeface="Arial"/>
                <a:cs typeface="Arial"/>
              </a:defRPr>
            </a:defPPr>
          </a:lstStyle>
          <a:p>
            <a:pPr algn="l">
              <a:defRPr sz="1500" b="0">
                <a:solidFill>
                  <a:srgbClr val="172C4B"/>
                </a:solidFill>
                <a:latin typeface="Arial"/>
                <a:ea typeface="Arial"/>
                <a:cs typeface="Arial"/>
              </a:defRPr>
            </a:pPr>
            <a:r>
              <a:rPr sz="1500" b="0">
                <a:solidFill>
                  <a:srgbClr val="172C4B"/>
                </a:solidFill>
                <a:latin typeface="Arial"/>
                <a:ea typeface="Arial"/>
                <a:cs typeface="Arial"/>
              </a:rPr>
              <a:t>Registration count</a:t>
            </a:r>
          </a:p>
        </p:txBody>
      </p:sp>
      <p:sp>
        <p:nvSpPr>
          <p:cNvPr id="20" name="Straight Connector 19">
            <a:extLst>
              <a:ext uri="{FF2B5EF4-FFF2-40B4-BE49-F238E27FC236}">
                <a16:creationId xmlns:a16="http://schemas.microsoft.com/office/drawing/2014/main" id="{D4F867E2-567A-4D95-B3CE-B16802D30190}"/>
              </a:ext>
            </a:extLst>
          </p:cNvPr>
          <p:cNvSpPr>
            <a:spLocks noGrp="1"/>
          </p:cNvSpPr>
          <p:nvPr/>
        </p:nvSpPr>
        <p:spPr>
          <a:xfrm>
            <a:off x="5410200" y="2114550"/>
            <a:ext cx="9525" cy="3429000"/>
          </a:xfrm>
          <a:prstGeom prst="line">
            <a:avLst/>
          </a:prstGeom>
          <a:noFill/>
          <a:ln w="19050">
            <a:solidFill>
              <a:srgbClr val="DDE4EF"/>
            </a:solidFill>
            <a:prstDash val="solid"/>
          </a:ln>
        </p:spPr>
      </p:sp>
      <p:sp>
        <p:nvSpPr>
          <p:cNvPr id="21" name="Rectangle 20">
            <a:extLst>
              <a:ext uri="{FF2B5EF4-FFF2-40B4-BE49-F238E27FC236}">
                <a16:creationId xmlns:a16="http://schemas.microsoft.com/office/drawing/2014/main" id="{855314C1-788C-4767-841C-3365E97E2812}"/>
              </a:ext>
            </a:extLst>
          </p:cNvPr>
          <p:cNvSpPr>
            <a:spLocks noGrp="1"/>
          </p:cNvSpPr>
          <p:nvPr/>
        </p:nvSpPr>
        <p:spPr>
          <a:xfrm>
            <a:off x="6000750" y="2152650"/>
            <a:ext cx="4762500" cy="190500"/>
          </a:xfrm>
          <a:prstGeom prst="rect">
            <a:avLst/>
          </a:prstGeom>
          <a:noFill/>
          <a:ln w="0">
            <a:noFill/>
            <a:prstDash val="solid"/>
          </a:ln>
        </p:spPr>
        <p:txBody>
          <a:bodyPr wrap="square" lIns="0" tIns="0" rIns="0" bIns="0" anchor="t">
            <a:normAutofit/>
          </a:bodyPr>
          <a:lstStyle>
            <a:defPPr algn="l">
              <a:defRPr sz="975" b="1">
                <a:solidFill>
                  <a:srgbClr val="11A8A0"/>
                </a:solidFill>
                <a:latin typeface="Arial"/>
                <a:ea typeface="Arial"/>
                <a:cs typeface="Arial"/>
              </a:defRPr>
            </a:defPPr>
          </a:lstStyle>
          <a:p>
            <a:pPr algn="l">
              <a:defRPr sz="975" b="1">
                <a:solidFill>
                  <a:srgbClr val="11A8A0"/>
                </a:solidFill>
                <a:latin typeface="Arial"/>
                <a:ea typeface="Arial"/>
                <a:cs typeface="Arial"/>
              </a:defRPr>
            </a:pPr>
            <a:r>
              <a:rPr sz="975" b="1">
                <a:solidFill>
                  <a:srgbClr val="11A8A0"/>
                </a:solidFill>
                <a:latin typeface="Arial"/>
                <a:ea typeface="Arial"/>
                <a:cs typeface="Arial"/>
              </a:rPr>
              <a:t>PARTICIPANT VIEW</a:t>
            </a:r>
          </a:p>
        </p:txBody>
      </p:sp>
      <p:sp>
        <p:nvSpPr>
          <p:cNvPr id="22" name="Rectangle 21">
            <a:extLst>
              <a:ext uri="{FF2B5EF4-FFF2-40B4-BE49-F238E27FC236}">
                <a16:creationId xmlns:a16="http://schemas.microsoft.com/office/drawing/2014/main" id="{5FC3D7E8-DB94-4927-9675-7B4638D3792F}"/>
              </a:ext>
            </a:extLst>
          </p:cNvPr>
          <p:cNvSpPr>
            <a:spLocks noGrp="1"/>
          </p:cNvSpPr>
          <p:nvPr/>
        </p:nvSpPr>
        <p:spPr>
          <a:xfrm>
            <a:off x="6000750" y="2571750"/>
            <a:ext cx="5095875" cy="1143000"/>
          </a:xfrm>
          <a:prstGeom prst="rect">
            <a:avLst/>
          </a:prstGeom>
          <a:noFill/>
          <a:ln w="0">
            <a:noFill/>
            <a:prstDash val="solid"/>
          </a:ln>
        </p:spPr>
        <p:txBody>
          <a:bodyPr wrap="square" lIns="0" tIns="0" rIns="0" bIns="0" anchor="t">
            <a:normAutofit/>
          </a:bodyPr>
          <a:lstStyle>
            <a:defPPr algn="l">
              <a:defRPr sz="1800" b="1">
                <a:solidFill>
                  <a:srgbClr val="102B4D"/>
                </a:solidFill>
                <a:latin typeface="Arial"/>
                <a:ea typeface="Arial"/>
                <a:cs typeface="Arial"/>
              </a:defRPr>
            </a:defPPr>
          </a:lstStyle>
          <a:p>
            <a:pPr algn="l">
              <a:defRPr sz="1800" b="1">
                <a:solidFill>
                  <a:srgbClr val="102B4D"/>
                </a:solidFill>
                <a:latin typeface="Arial"/>
                <a:ea typeface="Arial"/>
                <a:cs typeface="Arial"/>
              </a:defRPr>
            </a:pPr>
            <a:r>
              <a:rPr sz="1800" b="1">
                <a:solidFill>
                  <a:srgbClr val="102B4D"/>
                </a:solidFill>
                <a:latin typeface="Arial"/>
                <a:ea typeface="Arial"/>
                <a:cs typeface="Arial"/>
              </a:rPr>
              <a:t>For each event, admins can open a participant list showing student number, name, email, department, and registration time.</a:t>
            </a:r>
          </a:p>
        </p:txBody>
      </p:sp>
      <p:sp>
        <p:nvSpPr>
          <p:cNvPr id="23" name="Rectangle 22">
            <a:extLst>
              <a:ext uri="{FF2B5EF4-FFF2-40B4-BE49-F238E27FC236}">
                <a16:creationId xmlns:a16="http://schemas.microsoft.com/office/drawing/2014/main" id="{55A53CB4-DFEE-4F13-891F-53BAF20D561D}"/>
              </a:ext>
            </a:extLst>
          </p:cNvPr>
          <p:cNvSpPr>
            <a:spLocks noGrp="1"/>
          </p:cNvSpPr>
          <p:nvPr/>
        </p:nvSpPr>
        <p:spPr>
          <a:xfrm>
            <a:off x="6000750" y="4095750"/>
            <a:ext cx="5095875" cy="68580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Python builds the CSV response. Spreadsheet software can open the downloaded file for sorting and review.</a:t>
            </a:r>
          </a:p>
        </p:txBody>
      </p:sp>
      <p:sp>
        <p:nvSpPr>
          <p:cNvPr id="24" name="Rectangle 23">
            <a:extLst>
              <a:ext uri="{FF2B5EF4-FFF2-40B4-BE49-F238E27FC236}">
                <a16:creationId xmlns:a16="http://schemas.microsoft.com/office/drawing/2014/main" id="{6E75955D-CDD3-4837-A771-3F1D1F607DEB}"/>
              </a:ext>
            </a:extLst>
          </p:cNvPr>
          <p:cNvSpPr>
            <a:spLocks noGrp="1"/>
          </p:cNvSpPr>
          <p:nvPr/>
        </p:nvSpPr>
        <p:spPr>
          <a:xfrm>
            <a:off x="609600" y="5619750"/>
            <a:ext cx="10477500" cy="304800"/>
          </a:xfrm>
          <a:prstGeom prst="rect">
            <a:avLst/>
          </a:prstGeom>
          <a:noFill/>
          <a:ln w="0">
            <a:noFill/>
            <a:prstDash val="solid"/>
          </a:ln>
        </p:spPr>
        <p:txBody>
          <a:bodyPr wrap="square" lIns="0" tIns="0" rIns="0" bIns="0" anchor="t">
            <a:normAutofit/>
          </a:bodyPr>
          <a:lstStyle>
            <a:defPPr algn="l">
              <a:defRPr sz="1275" b="1">
                <a:solidFill>
                  <a:srgbClr val="7048E8"/>
                </a:solidFill>
                <a:latin typeface="Arial"/>
                <a:ea typeface="Arial"/>
                <a:cs typeface="Arial"/>
              </a:defRPr>
            </a:defPPr>
          </a:lstStyle>
          <a:p>
            <a:pPr algn="l">
              <a:defRPr sz="1275" b="1">
                <a:solidFill>
                  <a:srgbClr val="7048E8"/>
                </a:solidFill>
                <a:latin typeface="Arial"/>
                <a:ea typeface="Arial"/>
                <a:cs typeface="Arial"/>
              </a:defRPr>
            </a:pPr>
            <a:r>
              <a:rPr sz="1275" b="1">
                <a:solidFill>
                  <a:srgbClr val="7048E8"/>
                </a:solidFill>
                <a:latin typeface="Arial"/>
                <a:ea typeface="Arial"/>
                <a:cs typeface="Arial"/>
              </a:rPr>
              <a:t>Registration count = number of registration rows for the event</a:t>
            </a:r>
          </a:p>
        </p:txBody>
      </p:sp>
    </p:spTree>
    <p:extLst>
      <p:ext uri="{BB962C8B-B14F-4D97-AF65-F5344CB8AC3E}">
        <p14:creationId xmlns:p14="http://schemas.microsoft.com/office/powerpoint/2010/main" val="135755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40D9553-DBAF-432B-9EFC-A0AB98B7B153}"/>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11  VALIDATION AND SAFEGUARDS</a:t>
            </a:r>
          </a:p>
        </p:txBody>
      </p:sp>
      <p:sp>
        <p:nvSpPr>
          <p:cNvPr id="2" name="Rectangle 1">
            <a:extLst>
              <a:ext uri="{FF2B5EF4-FFF2-40B4-BE49-F238E27FC236}">
                <a16:creationId xmlns:a16="http://schemas.microsoft.com/office/drawing/2014/main" id="{D01303BA-7FEB-4FFD-9D7A-875EED5A5190}"/>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Rules that protect the data</a:t>
            </a:r>
          </a:p>
        </p:txBody>
      </p:sp>
      <p:sp>
        <p:nvSpPr>
          <p:cNvPr id="3" name="Rectangle 2">
            <a:extLst>
              <a:ext uri="{FF2B5EF4-FFF2-40B4-BE49-F238E27FC236}">
                <a16:creationId xmlns:a16="http://schemas.microsoft.com/office/drawing/2014/main" id="{1698A839-FA9C-4064-974F-96B591F936FE}"/>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The current application applies checks at the form, route, and database levels</a:t>
            </a:r>
          </a:p>
        </p:txBody>
      </p:sp>
      <p:sp>
        <p:nvSpPr>
          <p:cNvPr id="4" name="Straight Connector 3">
            <a:extLst>
              <a:ext uri="{FF2B5EF4-FFF2-40B4-BE49-F238E27FC236}">
                <a16:creationId xmlns:a16="http://schemas.microsoft.com/office/drawing/2014/main" id="{6179776C-3928-4BE2-96E5-7C00BB9EE3F9}"/>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CFB28F9D-6FE2-4A3E-A8D5-513785B17909}"/>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88F44D2C-4729-4F83-8289-7F413D6CD4BC}"/>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54ABFBB4-B772-4D98-9F9D-DB5FA2E4DE13}"/>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12</a:t>
            </a:r>
          </a:p>
        </p:txBody>
      </p:sp>
      <p:sp>
        <p:nvSpPr>
          <p:cNvPr id="8" name="Rectangle 7">
            <a:extLst>
              <a:ext uri="{FF2B5EF4-FFF2-40B4-BE49-F238E27FC236}">
                <a16:creationId xmlns:a16="http://schemas.microsoft.com/office/drawing/2014/main" id="{3ECB83C9-9ED6-49CE-8D4C-8C0E066C216B}"/>
              </a:ext>
            </a:extLst>
          </p:cNvPr>
          <p:cNvSpPr>
            <a:spLocks noGrp="1"/>
          </p:cNvSpPr>
          <p:nvPr/>
        </p:nvSpPr>
        <p:spPr>
          <a:xfrm>
            <a:off x="609600" y="2143125"/>
            <a:ext cx="38100" cy="438150"/>
          </a:xfrm>
          <a:prstGeom prst="rect">
            <a:avLst/>
          </a:prstGeom>
          <a:solidFill>
            <a:srgbClr val="7048E8"/>
          </a:solidFill>
          <a:ln w="0">
            <a:noFill/>
            <a:prstDash val="solid"/>
          </a:ln>
        </p:spPr>
      </p:sp>
      <p:sp>
        <p:nvSpPr>
          <p:cNvPr id="9" name="Rectangle 8">
            <a:extLst>
              <a:ext uri="{FF2B5EF4-FFF2-40B4-BE49-F238E27FC236}">
                <a16:creationId xmlns:a16="http://schemas.microsoft.com/office/drawing/2014/main" id="{A86579C6-5E26-4E29-9BBC-FBC6A2FBA5EB}"/>
              </a:ext>
            </a:extLst>
          </p:cNvPr>
          <p:cNvSpPr>
            <a:spLocks noGrp="1"/>
          </p:cNvSpPr>
          <p:nvPr/>
        </p:nvSpPr>
        <p:spPr>
          <a:xfrm>
            <a:off x="847725" y="2114550"/>
            <a:ext cx="2476500" cy="304800"/>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Admin access</a:t>
            </a:r>
          </a:p>
        </p:txBody>
      </p:sp>
      <p:sp>
        <p:nvSpPr>
          <p:cNvPr id="10" name="Rectangle 9">
            <a:extLst>
              <a:ext uri="{FF2B5EF4-FFF2-40B4-BE49-F238E27FC236}">
                <a16:creationId xmlns:a16="http://schemas.microsoft.com/office/drawing/2014/main" id="{885A4042-B02B-4F95-A3C5-A58055F74782}"/>
              </a:ext>
            </a:extLst>
          </p:cNvPr>
          <p:cNvSpPr>
            <a:spLocks noGrp="1"/>
          </p:cNvSpPr>
          <p:nvPr/>
        </p:nvSpPr>
        <p:spPr>
          <a:xfrm>
            <a:off x="3476625" y="2114550"/>
            <a:ext cx="762000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Protected routes require an admin session.</a:t>
            </a:r>
          </a:p>
        </p:txBody>
      </p:sp>
      <p:sp>
        <p:nvSpPr>
          <p:cNvPr id="11" name="Rectangle 10">
            <a:extLst>
              <a:ext uri="{FF2B5EF4-FFF2-40B4-BE49-F238E27FC236}">
                <a16:creationId xmlns:a16="http://schemas.microsoft.com/office/drawing/2014/main" id="{71C47644-F5E0-4DF4-8029-0E8E0F89AB76}"/>
              </a:ext>
            </a:extLst>
          </p:cNvPr>
          <p:cNvSpPr>
            <a:spLocks noGrp="1"/>
          </p:cNvSpPr>
          <p:nvPr/>
        </p:nvSpPr>
        <p:spPr>
          <a:xfrm>
            <a:off x="609600" y="2876550"/>
            <a:ext cx="38100" cy="438150"/>
          </a:xfrm>
          <a:prstGeom prst="rect">
            <a:avLst/>
          </a:prstGeom>
          <a:solidFill>
            <a:srgbClr val="246BCE"/>
          </a:solidFill>
          <a:ln w="0">
            <a:noFill/>
            <a:prstDash val="solid"/>
          </a:ln>
        </p:spPr>
      </p:sp>
      <p:sp>
        <p:nvSpPr>
          <p:cNvPr id="12" name="Rectangle 11">
            <a:extLst>
              <a:ext uri="{FF2B5EF4-FFF2-40B4-BE49-F238E27FC236}">
                <a16:creationId xmlns:a16="http://schemas.microsoft.com/office/drawing/2014/main" id="{91C77869-E1D6-4F43-A015-1A78BDBF30E3}"/>
              </a:ext>
            </a:extLst>
          </p:cNvPr>
          <p:cNvSpPr>
            <a:spLocks noGrp="1"/>
          </p:cNvSpPr>
          <p:nvPr/>
        </p:nvSpPr>
        <p:spPr>
          <a:xfrm>
            <a:off x="847725" y="2847975"/>
            <a:ext cx="2476500" cy="304800"/>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Password storage</a:t>
            </a:r>
          </a:p>
        </p:txBody>
      </p:sp>
      <p:sp>
        <p:nvSpPr>
          <p:cNvPr id="13" name="Rectangle 12">
            <a:extLst>
              <a:ext uri="{FF2B5EF4-FFF2-40B4-BE49-F238E27FC236}">
                <a16:creationId xmlns:a16="http://schemas.microsoft.com/office/drawing/2014/main" id="{F122F7AC-1543-431B-B63C-9E2A39C9BC18}"/>
              </a:ext>
            </a:extLst>
          </p:cNvPr>
          <p:cNvSpPr>
            <a:spLocks noGrp="1"/>
          </p:cNvSpPr>
          <p:nvPr/>
        </p:nvSpPr>
        <p:spPr>
          <a:xfrm>
            <a:off x="3476625" y="2847975"/>
            <a:ext cx="762000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Admin passwords are stored as Werkzeug password hashes.</a:t>
            </a:r>
          </a:p>
        </p:txBody>
      </p:sp>
      <p:sp>
        <p:nvSpPr>
          <p:cNvPr id="14" name="Rectangle 13">
            <a:extLst>
              <a:ext uri="{FF2B5EF4-FFF2-40B4-BE49-F238E27FC236}">
                <a16:creationId xmlns:a16="http://schemas.microsoft.com/office/drawing/2014/main" id="{C4DAC0A4-B6A3-4311-B8AD-BA4F970F2998}"/>
              </a:ext>
            </a:extLst>
          </p:cNvPr>
          <p:cNvSpPr>
            <a:spLocks noGrp="1"/>
          </p:cNvSpPr>
          <p:nvPr/>
        </p:nvSpPr>
        <p:spPr>
          <a:xfrm>
            <a:off x="609600" y="3609975"/>
            <a:ext cx="38100" cy="438150"/>
          </a:xfrm>
          <a:prstGeom prst="rect">
            <a:avLst/>
          </a:prstGeom>
          <a:solidFill>
            <a:srgbClr val="11A8A0"/>
          </a:solidFill>
          <a:ln w="0">
            <a:noFill/>
            <a:prstDash val="solid"/>
          </a:ln>
        </p:spPr>
      </p:sp>
      <p:sp>
        <p:nvSpPr>
          <p:cNvPr id="15" name="Rectangle 14">
            <a:extLst>
              <a:ext uri="{FF2B5EF4-FFF2-40B4-BE49-F238E27FC236}">
                <a16:creationId xmlns:a16="http://schemas.microsoft.com/office/drawing/2014/main" id="{0A0C19A3-5CA3-4EC6-A7B5-78EAC751B854}"/>
              </a:ext>
            </a:extLst>
          </p:cNvPr>
          <p:cNvSpPr>
            <a:spLocks noGrp="1"/>
          </p:cNvSpPr>
          <p:nvPr/>
        </p:nvSpPr>
        <p:spPr>
          <a:xfrm>
            <a:off x="847725" y="3581400"/>
            <a:ext cx="2476500" cy="304800"/>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Duplicate prevention</a:t>
            </a:r>
          </a:p>
        </p:txBody>
      </p:sp>
      <p:sp>
        <p:nvSpPr>
          <p:cNvPr id="16" name="Rectangle 15">
            <a:extLst>
              <a:ext uri="{FF2B5EF4-FFF2-40B4-BE49-F238E27FC236}">
                <a16:creationId xmlns:a16="http://schemas.microsoft.com/office/drawing/2014/main" id="{2EF6BA0F-6F38-4FFC-A442-20500D6D6095}"/>
              </a:ext>
            </a:extLst>
          </p:cNvPr>
          <p:cNvSpPr>
            <a:spLocks noGrp="1"/>
          </p:cNvSpPr>
          <p:nvPr/>
        </p:nvSpPr>
        <p:spPr>
          <a:xfrm>
            <a:off x="3476625" y="3581400"/>
            <a:ext cx="762000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A unique student-event key rejects repeated registration.</a:t>
            </a:r>
          </a:p>
        </p:txBody>
      </p:sp>
      <p:sp>
        <p:nvSpPr>
          <p:cNvPr id="17" name="Rectangle 16">
            <a:extLst>
              <a:ext uri="{FF2B5EF4-FFF2-40B4-BE49-F238E27FC236}">
                <a16:creationId xmlns:a16="http://schemas.microsoft.com/office/drawing/2014/main" id="{DA7454AB-CB0E-4C5C-B0F3-BADE80063A32}"/>
              </a:ext>
            </a:extLst>
          </p:cNvPr>
          <p:cNvSpPr>
            <a:spLocks noGrp="1"/>
          </p:cNvSpPr>
          <p:nvPr/>
        </p:nvSpPr>
        <p:spPr>
          <a:xfrm>
            <a:off x="609600" y="4343400"/>
            <a:ext cx="38100" cy="438150"/>
          </a:xfrm>
          <a:prstGeom prst="rect">
            <a:avLst/>
          </a:prstGeom>
          <a:solidFill>
            <a:srgbClr val="F4BD54"/>
          </a:solidFill>
          <a:ln w="0">
            <a:noFill/>
            <a:prstDash val="solid"/>
          </a:ln>
        </p:spPr>
      </p:sp>
      <p:sp>
        <p:nvSpPr>
          <p:cNvPr id="18" name="Rectangle 17">
            <a:extLst>
              <a:ext uri="{FF2B5EF4-FFF2-40B4-BE49-F238E27FC236}">
                <a16:creationId xmlns:a16="http://schemas.microsoft.com/office/drawing/2014/main" id="{C02043CB-9C52-43EA-BDEB-25BA40F9D5E3}"/>
              </a:ext>
            </a:extLst>
          </p:cNvPr>
          <p:cNvSpPr>
            <a:spLocks noGrp="1"/>
          </p:cNvSpPr>
          <p:nvPr/>
        </p:nvSpPr>
        <p:spPr>
          <a:xfrm>
            <a:off x="847725" y="4314825"/>
            <a:ext cx="2476500" cy="304800"/>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Capacity check</a:t>
            </a:r>
          </a:p>
        </p:txBody>
      </p:sp>
      <p:sp>
        <p:nvSpPr>
          <p:cNvPr id="19" name="Rectangle 18">
            <a:extLst>
              <a:ext uri="{FF2B5EF4-FFF2-40B4-BE49-F238E27FC236}">
                <a16:creationId xmlns:a16="http://schemas.microsoft.com/office/drawing/2014/main" id="{11E0EFF7-3FE8-471D-A463-2F2C9629B359}"/>
              </a:ext>
            </a:extLst>
          </p:cNvPr>
          <p:cNvSpPr>
            <a:spLocks noGrp="1"/>
          </p:cNvSpPr>
          <p:nvPr/>
        </p:nvSpPr>
        <p:spPr>
          <a:xfrm>
            <a:off x="3476625" y="4314825"/>
            <a:ext cx="762000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Registration checks event capacity before inserting.</a:t>
            </a:r>
          </a:p>
        </p:txBody>
      </p:sp>
      <p:sp>
        <p:nvSpPr>
          <p:cNvPr id="20" name="Rectangle 19">
            <a:extLst>
              <a:ext uri="{FF2B5EF4-FFF2-40B4-BE49-F238E27FC236}">
                <a16:creationId xmlns:a16="http://schemas.microsoft.com/office/drawing/2014/main" id="{8B905E3D-5902-41E4-B135-68871863749A}"/>
              </a:ext>
            </a:extLst>
          </p:cNvPr>
          <p:cNvSpPr>
            <a:spLocks noGrp="1"/>
          </p:cNvSpPr>
          <p:nvPr/>
        </p:nvSpPr>
        <p:spPr>
          <a:xfrm>
            <a:off x="609600" y="5076825"/>
            <a:ext cx="38100" cy="438150"/>
          </a:xfrm>
          <a:prstGeom prst="rect">
            <a:avLst/>
          </a:prstGeom>
          <a:solidFill>
            <a:srgbClr val="C44B57"/>
          </a:solidFill>
          <a:ln w="0">
            <a:noFill/>
            <a:prstDash val="solid"/>
          </a:ln>
        </p:spPr>
      </p:sp>
      <p:sp>
        <p:nvSpPr>
          <p:cNvPr id="21" name="Rectangle 20">
            <a:extLst>
              <a:ext uri="{FF2B5EF4-FFF2-40B4-BE49-F238E27FC236}">
                <a16:creationId xmlns:a16="http://schemas.microsoft.com/office/drawing/2014/main" id="{1172935B-1F6B-4C77-8F4B-1E838ABD548D}"/>
              </a:ext>
            </a:extLst>
          </p:cNvPr>
          <p:cNvSpPr>
            <a:spLocks noGrp="1"/>
          </p:cNvSpPr>
          <p:nvPr/>
        </p:nvSpPr>
        <p:spPr>
          <a:xfrm>
            <a:off x="847725" y="5048250"/>
            <a:ext cx="2476500" cy="304800"/>
          </a:xfrm>
          <a:prstGeom prst="rect">
            <a:avLst/>
          </a:prstGeom>
          <a:noFill/>
          <a:ln w="0">
            <a:noFill/>
            <a:prstDash val="solid"/>
          </a:ln>
        </p:spPr>
        <p:txBody>
          <a:bodyPr wrap="square" lIns="0" tIns="0" rIns="0" bIns="0" anchor="t">
            <a:normAutofit/>
          </a:bodyPr>
          <a:lstStyle>
            <a:defPPr algn="l">
              <a:defRPr sz="1575" b="1">
                <a:solidFill>
                  <a:srgbClr val="102B4D"/>
                </a:solidFill>
                <a:latin typeface="Arial"/>
                <a:ea typeface="Arial"/>
                <a:cs typeface="Arial"/>
              </a:defRPr>
            </a:defPPr>
          </a:lstStyle>
          <a:p>
            <a:pPr algn="l">
              <a:defRPr sz="1575" b="1">
                <a:solidFill>
                  <a:srgbClr val="102B4D"/>
                </a:solidFill>
                <a:latin typeface="Arial"/>
                <a:ea typeface="Arial"/>
                <a:cs typeface="Arial"/>
              </a:defRPr>
            </a:pPr>
            <a:r>
              <a:rPr sz="1575" b="1">
                <a:solidFill>
                  <a:srgbClr val="102B4D"/>
                </a:solidFill>
                <a:latin typeface="Arial"/>
                <a:ea typeface="Arial"/>
                <a:cs typeface="Arial"/>
              </a:rPr>
              <a:t>Image validation</a:t>
            </a:r>
          </a:p>
        </p:txBody>
      </p:sp>
      <p:sp>
        <p:nvSpPr>
          <p:cNvPr id="22" name="Rectangle 21">
            <a:extLst>
              <a:ext uri="{FF2B5EF4-FFF2-40B4-BE49-F238E27FC236}">
                <a16:creationId xmlns:a16="http://schemas.microsoft.com/office/drawing/2014/main" id="{C49875D7-73A9-4F4D-B1C2-1EEBBD5D6989}"/>
              </a:ext>
            </a:extLst>
          </p:cNvPr>
          <p:cNvSpPr>
            <a:spLocks noGrp="1"/>
          </p:cNvSpPr>
          <p:nvPr/>
        </p:nvSpPr>
        <p:spPr>
          <a:xfrm>
            <a:off x="3476625" y="5048250"/>
            <a:ext cx="7620000" cy="40005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Allowed image types are checked and file size is limited.</a:t>
            </a:r>
          </a:p>
        </p:txBody>
      </p:sp>
    </p:spTree>
    <p:extLst>
      <p:ext uri="{BB962C8B-B14F-4D97-AF65-F5344CB8AC3E}">
        <p14:creationId xmlns:p14="http://schemas.microsoft.com/office/powerpoint/2010/main" val="792966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E8FA85A-7BC9-4285-8C75-8640CCB8EBC5}"/>
              </a:ext>
            </a:extLst>
          </p:cNvPr>
          <p:cNvSpPr>
            <a:spLocks noGrp="1"/>
          </p:cNvSpPr>
          <p:nvPr/>
        </p:nvSpPr>
        <p:spPr>
          <a:xfrm>
            <a:off x="609600" y="361950"/>
            <a:ext cx="7239000" cy="190500"/>
          </a:xfrm>
          <a:prstGeom prst="rect">
            <a:avLst/>
          </a:prstGeom>
          <a:noFill/>
          <a:ln w="0">
            <a:noFill/>
            <a:prstDash val="solid"/>
          </a:ln>
        </p:spPr>
        <p:txBody>
          <a:bodyPr wrap="square" lIns="0" tIns="0" rIns="0" bIns="0" anchor="t">
            <a:normAutofit/>
          </a:bodyPr>
          <a:lstStyle>
            <a:defPPr algn="l">
              <a:defRPr sz="975" b="1">
                <a:solidFill>
                  <a:srgbClr val="7048E8"/>
                </a:solidFill>
                <a:latin typeface="Arial"/>
                <a:ea typeface="Arial"/>
                <a:cs typeface="Arial"/>
              </a:defRPr>
            </a:defPPr>
          </a:lstStyle>
          <a:p>
            <a:pPr algn="l">
              <a:defRPr sz="975" b="1">
                <a:solidFill>
                  <a:srgbClr val="7048E8"/>
                </a:solidFill>
                <a:latin typeface="Arial"/>
                <a:ea typeface="Arial"/>
                <a:cs typeface="Arial"/>
              </a:defRPr>
            </a:pPr>
            <a:r>
              <a:rPr sz="975" b="1">
                <a:solidFill>
                  <a:srgbClr val="7048E8"/>
                </a:solidFill>
                <a:latin typeface="Arial"/>
                <a:ea typeface="Arial"/>
                <a:cs typeface="Arial"/>
              </a:rPr>
              <a:t>12  FUTURE SCOPE</a:t>
            </a:r>
          </a:p>
        </p:txBody>
      </p:sp>
      <p:sp>
        <p:nvSpPr>
          <p:cNvPr id="2" name="Rectangle 1">
            <a:extLst>
              <a:ext uri="{FF2B5EF4-FFF2-40B4-BE49-F238E27FC236}">
                <a16:creationId xmlns:a16="http://schemas.microsoft.com/office/drawing/2014/main" id="{ED1C3567-C2C5-4669-8A9E-AC4D77C3BE88}"/>
              </a:ext>
            </a:extLst>
          </p:cNvPr>
          <p:cNvSpPr>
            <a:spLocks noGrp="1"/>
          </p:cNvSpPr>
          <p:nvPr/>
        </p:nvSpPr>
        <p:spPr>
          <a:xfrm>
            <a:off x="609600" y="657225"/>
            <a:ext cx="10934700" cy="552450"/>
          </a:xfrm>
          <a:prstGeom prst="rect">
            <a:avLst/>
          </a:prstGeom>
          <a:noFill/>
          <a:ln w="0">
            <a:noFill/>
            <a:prstDash val="solid"/>
          </a:ln>
        </p:spPr>
        <p:txBody>
          <a:bodyPr wrap="square" lIns="0" tIns="0" rIns="0" bIns="0" anchor="t">
            <a:normAutofit/>
          </a:bodyPr>
          <a:lstStyle>
            <a:defPPr algn="l">
              <a:defRPr sz="3150" b="1">
                <a:solidFill>
                  <a:srgbClr val="102B4D"/>
                </a:solidFill>
                <a:latin typeface="Arial"/>
                <a:ea typeface="Arial"/>
                <a:cs typeface="Arial"/>
              </a:defRPr>
            </a:defPPr>
          </a:lstStyle>
          <a:p>
            <a:pPr algn="l">
              <a:defRPr sz="3150" b="1">
                <a:solidFill>
                  <a:srgbClr val="102B4D"/>
                </a:solidFill>
                <a:latin typeface="Arial"/>
                <a:ea typeface="Arial"/>
                <a:cs typeface="Arial"/>
              </a:defRPr>
            </a:pPr>
            <a:r>
              <a:rPr sz="3150" b="1">
                <a:solidFill>
                  <a:srgbClr val="102B4D"/>
                </a:solidFill>
                <a:latin typeface="Arial"/>
                <a:ea typeface="Arial"/>
                <a:cs typeface="Arial"/>
              </a:rPr>
              <a:t>Possible next improvements</a:t>
            </a:r>
          </a:p>
        </p:txBody>
      </p:sp>
      <p:sp>
        <p:nvSpPr>
          <p:cNvPr id="3" name="Rectangle 2">
            <a:extLst>
              <a:ext uri="{FF2B5EF4-FFF2-40B4-BE49-F238E27FC236}">
                <a16:creationId xmlns:a16="http://schemas.microsoft.com/office/drawing/2014/main" id="{DB5CD223-37B8-4990-A992-BC3F4428017B}"/>
              </a:ext>
            </a:extLst>
          </p:cNvPr>
          <p:cNvSpPr>
            <a:spLocks noGrp="1"/>
          </p:cNvSpPr>
          <p:nvPr/>
        </p:nvSpPr>
        <p:spPr>
          <a:xfrm>
            <a:off x="609600" y="1257300"/>
            <a:ext cx="10572750" cy="361950"/>
          </a:xfrm>
          <a:prstGeom prst="rect">
            <a:avLst/>
          </a:prstGeom>
          <a:noFill/>
          <a:ln w="0">
            <a:noFill/>
            <a:prstDash val="solid"/>
          </a:ln>
        </p:spPr>
        <p:txBody>
          <a:bodyPr wrap="square" lIns="0" tIns="0" rIns="0" bIns="0" anchor="t">
            <a:normAutofit/>
          </a:bodyPr>
          <a:lstStyle>
            <a:defPPr algn="l">
              <a:defRPr sz="1425" b="0">
                <a:solidFill>
                  <a:srgbClr val="68778D"/>
                </a:solidFill>
                <a:latin typeface="Arial"/>
                <a:ea typeface="Arial"/>
                <a:cs typeface="Arial"/>
              </a:defRPr>
            </a:defPPr>
          </a:lstStyle>
          <a:p>
            <a:pPr algn="l">
              <a:defRPr sz="1425" b="0">
                <a:solidFill>
                  <a:srgbClr val="68778D"/>
                </a:solidFill>
                <a:latin typeface="Arial"/>
                <a:ea typeface="Arial"/>
                <a:cs typeface="Arial"/>
              </a:defRPr>
            </a:pPr>
            <a:r>
              <a:rPr sz="1425" b="0">
                <a:solidFill>
                  <a:srgbClr val="68778D"/>
                </a:solidFill>
                <a:latin typeface="Arial"/>
                <a:ea typeface="Arial"/>
                <a:cs typeface="Arial"/>
              </a:rPr>
              <a:t>These ideas extend the current project without changing its core event workflow</a:t>
            </a:r>
          </a:p>
        </p:txBody>
      </p:sp>
      <p:sp>
        <p:nvSpPr>
          <p:cNvPr id="4" name="Straight Connector 3">
            <a:extLst>
              <a:ext uri="{FF2B5EF4-FFF2-40B4-BE49-F238E27FC236}">
                <a16:creationId xmlns:a16="http://schemas.microsoft.com/office/drawing/2014/main" id="{95D85F20-1577-456B-B129-A6E217AD7A82}"/>
              </a:ext>
            </a:extLst>
          </p:cNvPr>
          <p:cNvSpPr>
            <a:spLocks noGrp="1"/>
          </p:cNvSpPr>
          <p:nvPr/>
        </p:nvSpPr>
        <p:spPr>
          <a:xfrm>
            <a:off x="609600" y="6410325"/>
            <a:ext cx="10972800" cy="9525"/>
          </a:xfrm>
          <a:prstGeom prst="line">
            <a:avLst/>
          </a:prstGeom>
          <a:noFill/>
          <a:ln w="9525">
            <a:solidFill>
              <a:srgbClr val="DDE4EF"/>
            </a:solidFill>
            <a:prstDash val="solid"/>
          </a:ln>
        </p:spPr>
      </p:sp>
      <p:pic>
        <p:nvPicPr>
          <p:cNvPr id="5" name="Picture 4">
            <a:extLst>
              <a:ext uri="{FF2B5EF4-FFF2-40B4-BE49-F238E27FC236}">
                <a16:creationId xmlns:a16="http://schemas.microsoft.com/office/drawing/2014/main" id="{1F1C6D7A-EA00-4E7E-A2B6-AC48E2DFEE4B}"/>
              </a:ext>
            </a:extLst>
          </p:cNvPr>
          <p:cNvPicPr>
            <a:picLocks noChangeAspect="1"/>
          </p:cNvPicPr>
          <p:nvPr/>
        </p:nvPicPr>
        <p:blipFill>
          <a:blip r:embed="rId3"/>
          <a:stretch/>
        </p:blipFill>
        <p:spPr>
          <a:xfrm>
            <a:off x="632871" y="6524625"/>
            <a:ext cx="182059" cy="228600"/>
          </a:xfrm>
          <a:prstGeom prst="rect">
            <a:avLst/>
          </a:prstGeom>
        </p:spPr>
      </p:pic>
      <p:sp>
        <p:nvSpPr>
          <p:cNvPr id="6" name="Rectangle 5">
            <a:extLst>
              <a:ext uri="{FF2B5EF4-FFF2-40B4-BE49-F238E27FC236}">
                <a16:creationId xmlns:a16="http://schemas.microsoft.com/office/drawing/2014/main" id="{F28428FE-2FBE-4973-B541-B80AF4564CC6}"/>
              </a:ext>
            </a:extLst>
          </p:cNvPr>
          <p:cNvSpPr>
            <a:spLocks noGrp="1"/>
          </p:cNvSpPr>
          <p:nvPr/>
        </p:nvSpPr>
        <p:spPr>
          <a:xfrm>
            <a:off x="942975" y="6553200"/>
            <a:ext cx="5143500" cy="171450"/>
          </a:xfrm>
          <a:prstGeom prst="rect">
            <a:avLst/>
          </a:prstGeom>
          <a:noFill/>
          <a:ln w="0">
            <a:noFill/>
            <a:prstDash val="solid"/>
          </a:ln>
        </p:spPr>
        <p:txBody>
          <a:bodyPr wrap="square" lIns="0" tIns="0" rIns="0" bIns="0" anchor="ctr">
            <a:normAutofit/>
          </a:bodyPr>
          <a:lstStyle>
            <a:defPPr algn="l">
              <a:defRPr sz="900" b="1">
                <a:solidFill>
                  <a:srgbClr val="718096"/>
                </a:solidFill>
                <a:latin typeface="Arial"/>
                <a:ea typeface="Arial"/>
                <a:cs typeface="Arial"/>
              </a:defRPr>
            </a:defPPr>
          </a:lstStyle>
          <a:p>
            <a:pPr algn="l">
              <a:defRPr sz="900" b="1">
                <a:solidFill>
                  <a:srgbClr val="718096"/>
                </a:solidFill>
                <a:latin typeface="Arial"/>
                <a:ea typeface="Arial"/>
                <a:cs typeface="Arial"/>
              </a:defRPr>
            </a:pPr>
            <a:r>
              <a:rPr sz="900" b="1">
                <a:solidFill>
                  <a:srgbClr val="718096"/>
                </a:solidFill>
                <a:latin typeface="Arial"/>
                <a:ea typeface="Arial"/>
                <a:cs typeface="Arial"/>
              </a:rPr>
              <a:t>COLLEGE EVENT MANAGEMENT SYSTEM</a:t>
            </a:r>
          </a:p>
        </p:txBody>
      </p:sp>
      <p:sp>
        <p:nvSpPr>
          <p:cNvPr id="7" name="Rectangle 6">
            <a:extLst>
              <a:ext uri="{FF2B5EF4-FFF2-40B4-BE49-F238E27FC236}">
                <a16:creationId xmlns:a16="http://schemas.microsoft.com/office/drawing/2014/main" id="{00B05AC7-A6B9-4D08-AA66-38CAFF55B113}"/>
              </a:ext>
            </a:extLst>
          </p:cNvPr>
          <p:cNvSpPr>
            <a:spLocks noGrp="1"/>
          </p:cNvSpPr>
          <p:nvPr/>
        </p:nvSpPr>
        <p:spPr>
          <a:xfrm>
            <a:off x="11144250" y="6534150"/>
            <a:ext cx="438150" cy="190500"/>
          </a:xfrm>
          <a:prstGeom prst="rect">
            <a:avLst/>
          </a:prstGeom>
          <a:noFill/>
          <a:ln w="0">
            <a:noFill/>
            <a:prstDash val="solid"/>
          </a:ln>
        </p:spPr>
        <p:txBody>
          <a:bodyPr wrap="square" lIns="0" tIns="0" rIns="0" bIns="0" anchor="ctr">
            <a:normAutofit/>
          </a:bodyPr>
          <a:lstStyle>
            <a:defPPr algn="r">
              <a:defRPr sz="975" b="1">
                <a:solidFill>
                  <a:srgbClr val="246BCE"/>
                </a:solidFill>
                <a:latin typeface="Arial"/>
                <a:ea typeface="Arial"/>
                <a:cs typeface="Arial"/>
              </a:defRPr>
            </a:defPPr>
          </a:lstStyle>
          <a:p>
            <a:pPr algn="r">
              <a:defRPr sz="975" b="1">
                <a:solidFill>
                  <a:srgbClr val="246BCE"/>
                </a:solidFill>
                <a:latin typeface="Arial"/>
                <a:ea typeface="Arial"/>
                <a:cs typeface="Arial"/>
              </a:defRPr>
            </a:pPr>
            <a:r>
              <a:rPr sz="975" b="1">
                <a:solidFill>
                  <a:srgbClr val="246BCE"/>
                </a:solidFill>
                <a:latin typeface="Arial"/>
                <a:ea typeface="Arial"/>
                <a:cs typeface="Arial"/>
              </a:rPr>
              <a:t>13</a:t>
            </a:r>
          </a:p>
        </p:txBody>
      </p:sp>
      <p:sp>
        <p:nvSpPr>
          <p:cNvPr id="8" name="Rectangle 7">
            <a:extLst>
              <a:ext uri="{FF2B5EF4-FFF2-40B4-BE49-F238E27FC236}">
                <a16:creationId xmlns:a16="http://schemas.microsoft.com/office/drawing/2014/main" id="{B4B2FD14-789D-4111-9E1F-51D40CACDB8D}"/>
              </a:ext>
            </a:extLst>
          </p:cNvPr>
          <p:cNvSpPr>
            <a:spLocks noGrp="1"/>
          </p:cNvSpPr>
          <p:nvPr/>
        </p:nvSpPr>
        <p:spPr>
          <a:xfrm>
            <a:off x="609600" y="2190750"/>
            <a:ext cx="514350" cy="342900"/>
          </a:xfrm>
          <a:prstGeom prst="rect">
            <a:avLst/>
          </a:prstGeom>
          <a:noFill/>
          <a:ln w="0">
            <a:noFill/>
            <a:prstDash val="solid"/>
          </a:ln>
        </p:spPr>
        <p:txBody>
          <a:bodyPr wrap="square" lIns="0" tIns="0" rIns="0" bIns="0" anchor="t">
            <a:normAutofit/>
          </a:bodyPr>
          <a:lstStyle>
            <a:defPPr algn="l">
              <a:defRPr sz="1575" b="1">
                <a:solidFill>
                  <a:srgbClr val="246BCE"/>
                </a:solidFill>
                <a:latin typeface="Arial"/>
                <a:ea typeface="Arial"/>
                <a:cs typeface="Arial"/>
              </a:defRPr>
            </a:defPPr>
          </a:lstStyle>
          <a:p>
            <a:pPr algn="l">
              <a:defRPr sz="1575" b="1">
                <a:solidFill>
                  <a:srgbClr val="246BCE"/>
                </a:solidFill>
                <a:latin typeface="Arial"/>
                <a:ea typeface="Arial"/>
                <a:cs typeface="Arial"/>
              </a:defRPr>
            </a:pPr>
            <a:r>
              <a:rPr sz="1575" b="1">
                <a:solidFill>
                  <a:srgbClr val="246BCE"/>
                </a:solidFill>
                <a:latin typeface="Arial"/>
                <a:ea typeface="Arial"/>
                <a:cs typeface="Arial"/>
              </a:rPr>
              <a:t>01</a:t>
            </a:r>
          </a:p>
        </p:txBody>
      </p:sp>
      <p:sp>
        <p:nvSpPr>
          <p:cNvPr id="9" name="Rectangle 8">
            <a:extLst>
              <a:ext uri="{FF2B5EF4-FFF2-40B4-BE49-F238E27FC236}">
                <a16:creationId xmlns:a16="http://schemas.microsoft.com/office/drawing/2014/main" id="{9F34BC51-C0E7-466B-B5AA-70829E954224}"/>
              </a:ext>
            </a:extLst>
          </p:cNvPr>
          <p:cNvSpPr>
            <a:spLocks noGrp="1"/>
          </p:cNvSpPr>
          <p:nvPr/>
        </p:nvSpPr>
        <p:spPr>
          <a:xfrm>
            <a:off x="1304925" y="2190750"/>
            <a:ext cx="2762250" cy="304800"/>
          </a:xfrm>
          <a:prstGeom prst="rect">
            <a:avLst/>
          </a:prstGeom>
          <a:noFill/>
          <a:ln w="0">
            <a:noFill/>
            <a:prstDash val="solid"/>
          </a:ln>
        </p:spPr>
        <p:txBody>
          <a:bodyPr wrap="square" lIns="0" tIns="0" rIns="0" bIns="0" anchor="t">
            <a:normAutofit/>
          </a:bodyPr>
          <a:lstStyle>
            <a:defPPr algn="l">
              <a:defRPr sz="1725" b="1">
                <a:solidFill>
                  <a:srgbClr val="102B4D"/>
                </a:solidFill>
                <a:latin typeface="Arial"/>
                <a:ea typeface="Arial"/>
                <a:cs typeface="Arial"/>
              </a:defRPr>
            </a:defPPr>
          </a:lstStyle>
          <a:p>
            <a:pPr algn="l">
              <a:defRPr sz="1725" b="1">
                <a:solidFill>
                  <a:srgbClr val="102B4D"/>
                </a:solidFill>
                <a:latin typeface="Arial"/>
                <a:ea typeface="Arial"/>
                <a:cs typeface="Arial"/>
              </a:defRPr>
            </a:pPr>
            <a:r>
              <a:rPr sz="1725" b="1">
                <a:solidFill>
                  <a:srgbClr val="102B4D"/>
                </a:solidFill>
                <a:latin typeface="Arial"/>
                <a:ea typeface="Arial"/>
                <a:cs typeface="Arial"/>
              </a:rPr>
              <a:t>Student accounts</a:t>
            </a:r>
          </a:p>
        </p:txBody>
      </p:sp>
      <p:sp>
        <p:nvSpPr>
          <p:cNvPr id="10" name="Rectangle 9">
            <a:extLst>
              <a:ext uri="{FF2B5EF4-FFF2-40B4-BE49-F238E27FC236}">
                <a16:creationId xmlns:a16="http://schemas.microsoft.com/office/drawing/2014/main" id="{716C4F89-FE02-458C-8D06-8B02BBE20FF4}"/>
              </a:ext>
            </a:extLst>
          </p:cNvPr>
          <p:cNvSpPr>
            <a:spLocks noGrp="1"/>
          </p:cNvSpPr>
          <p:nvPr/>
        </p:nvSpPr>
        <p:spPr>
          <a:xfrm>
            <a:off x="4095750" y="2190750"/>
            <a:ext cx="6667500" cy="45720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Let students view their registrations and cancel when allowed.</a:t>
            </a:r>
          </a:p>
        </p:txBody>
      </p:sp>
      <p:sp>
        <p:nvSpPr>
          <p:cNvPr id="11" name="Straight Connector 10">
            <a:extLst>
              <a:ext uri="{FF2B5EF4-FFF2-40B4-BE49-F238E27FC236}">
                <a16:creationId xmlns:a16="http://schemas.microsoft.com/office/drawing/2014/main" id="{B0460562-2535-42E8-9677-011AB7A66000}"/>
              </a:ext>
            </a:extLst>
          </p:cNvPr>
          <p:cNvSpPr>
            <a:spLocks noGrp="1"/>
          </p:cNvSpPr>
          <p:nvPr/>
        </p:nvSpPr>
        <p:spPr>
          <a:xfrm>
            <a:off x="1304925" y="2771775"/>
            <a:ext cx="9525000" cy="9525"/>
          </a:xfrm>
          <a:prstGeom prst="line">
            <a:avLst/>
          </a:prstGeom>
          <a:noFill/>
          <a:ln w="9525">
            <a:solidFill>
              <a:srgbClr val="DDE4EF"/>
            </a:solidFill>
            <a:prstDash val="solid"/>
          </a:ln>
        </p:spPr>
      </p:sp>
      <p:sp>
        <p:nvSpPr>
          <p:cNvPr id="12" name="Rectangle 11">
            <a:extLst>
              <a:ext uri="{FF2B5EF4-FFF2-40B4-BE49-F238E27FC236}">
                <a16:creationId xmlns:a16="http://schemas.microsoft.com/office/drawing/2014/main" id="{C45E9FE7-AB99-41C9-BAF0-399DD39696B3}"/>
              </a:ext>
            </a:extLst>
          </p:cNvPr>
          <p:cNvSpPr>
            <a:spLocks noGrp="1"/>
          </p:cNvSpPr>
          <p:nvPr/>
        </p:nvSpPr>
        <p:spPr>
          <a:xfrm>
            <a:off x="609600" y="3057525"/>
            <a:ext cx="514350" cy="342900"/>
          </a:xfrm>
          <a:prstGeom prst="rect">
            <a:avLst/>
          </a:prstGeom>
          <a:noFill/>
          <a:ln w="0">
            <a:noFill/>
            <a:prstDash val="solid"/>
          </a:ln>
        </p:spPr>
        <p:txBody>
          <a:bodyPr wrap="square" lIns="0" tIns="0" rIns="0" bIns="0" anchor="t">
            <a:normAutofit/>
          </a:bodyPr>
          <a:lstStyle>
            <a:defPPr algn="l">
              <a:defRPr sz="1575" b="1">
                <a:solidFill>
                  <a:srgbClr val="7048E8"/>
                </a:solidFill>
                <a:latin typeface="Arial"/>
                <a:ea typeface="Arial"/>
                <a:cs typeface="Arial"/>
              </a:defRPr>
            </a:defPPr>
          </a:lstStyle>
          <a:p>
            <a:pPr algn="l">
              <a:defRPr sz="1575" b="1">
                <a:solidFill>
                  <a:srgbClr val="7048E8"/>
                </a:solidFill>
                <a:latin typeface="Arial"/>
                <a:ea typeface="Arial"/>
                <a:cs typeface="Arial"/>
              </a:defRPr>
            </a:pPr>
            <a:r>
              <a:rPr sz="1575" b="1">
                <a:solidFill>
                  <a:srgbClr val="7048E8"/>
                </a:solidFill>
                <a:latin typeface="Arial"/>
                <a:ea typeface="Arial"/>
                <a:cs typeface="Arial"/>
              </a:rPr>
              <a:t>02</a:t>
            </a:r>
          </a:p>
        </p:txBody>
      </p:sp>
      <p:sp>
        <p:nvSpPr>
          <p:cNvPr id="13" name="Rectangle 12">
            <a:extLst>
              <a:ext uri="{FF2B5EF4-FFF2-40B4-BE49-F238E27FC236}">
                <a16:creationId xmlns:a16="http://schemas.microsoft.com/office/drawing/2014/main" id="{9BFF130F-3B86-4F16-8FB6-725C0F46096E}"/>
              </a:ext>
            </a:extLst>
          </p:cNvPr>
          <p:cNvSpPr>
            <a:spLocks noGrp="1"/>
          </p:cNvSpPr>
          <p:nvPr/>
        </p:nvSpPr>
        <p:spPr>
          <a:xfrm>
            <a:off x="1304925" y="3057525"/>
            <a:ext cx="2762250" cy="304800"/>
          </a:xfrm>
          <a:prstGeom prst="rect">
            <a:avLst/>
          </a:prstGeom>
          <a:noFill/>
          <a:ln w="0">
            <a:noFill/>
            <a:prstDash val="solid"/>
          </a:ln>
        </p:spPr>
        <p:txBody>
          <a:bodyPr wrap="square" lIns="0" tIns="0" rIns="0" bIns="0" anchor="t">
            <a:normAutofit/>
          </a:bodyPr>
          <a:lstStyle>
            <a:defPPr algn="l">
              <a:defRPr sz="1725" b="1">
                <a:solidFill>
                  <a:srgbClr val="102B4D"/>
                </a:solidFill>
                <a:latin typeface="Arial"/>
                <a:ea typeface="Arial"/>
                <a:cs typeface="Arial"/>
              </a:defRPr>
            </a:defPPr>
          </a:lstStyle>
          <a:p>
            <a:pPr algn="l">
              <a:defRPr sz="1725" b="1">
                <a:solidFill>
                  <a:srgbClr val="102B4D"/>
                </a:solidFill>
                <a:latin typeface="Arial"/>
                <a:ea typeface="Arial"/>
                <a:cs typeface="Arial"/>
              </a:defRPr>
            </a:pPr>
            <a:r>
              <a:rPr sz="1725" b="1">
                <a:solidFill>
                  <a:srgbClr val="102B4D"/>
                </a:solidFill>
                <a:latin typeface="Arial"/>
                <a:ea typeface="Arial"/>
                <a:cs typeface="Arial"/>
              </a:rPr>
              <a:t>Email updates</a:t>
            </a:r>
          </a:p>
        </p:txBody>
      </p:sp>
      <p:sp>
        <p:nvSpPr>
          <p:cNvPr id="14" name="Rectangle 13">
            <a:extLst>
              <a:ext uri="{FF2B5EF4-FFF2-40B4-BE49-F238E27FC236}">
                <a16:creationId xmlns:a16="http://schemas.microsoft.com/office/drawing/2014/main" id="{7DEC7469-A3E5-4E79-8912-58666D1AB6AB}"/>
              </a:ext>
            </a:extLst>
          </p:cNvPr>
          <p:cNvSpPr>
            <a:spLocks noGrp="1"/>
          </p:cNvSpPr>
          <p:nvPr/>
        </p:nvSpPr>
        <p:spPr>
          <a:xfrm>
            <a:off x="4095750" y="3057525"/>
            <a:ext cx="6667500" cy="45720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Send confirmation and schedule-change messages.</a:t>
            </a:r>
          </a:p>
        </p:txBody>
      </p:sp>
      <p:sp>
        <p:nvSpPr>
          <p:cNvPr id="15" name="Straight Connector 14">
            <a:extLst>
              <a:ext uri="{FF2B5EF4-FFF2-40B4-BE49-F238E27FC236}">
                <a16:creationId xmlns:a16="http://schemas.microsoft.com/office/drawing/2014/main" id="{53B86A63-6A80-4669-92F3-ACD7E8C5EFA9}"/>
              </a:ext>
            </a:extLst>
          </p:cNvPr>
          <p:cNvSpPr>
            <a:spLocks noGrp="1"/>
          </p:cNvSpPr>
          <p:nvPr/>
        </p:nvSpPr>
        <p:spPr>
          <a:xfrm>
            <a:off x="1304925" y="3638550"/>
            <a:ext cx="9525000" cy="9525"/>
          </a:xfrm>
          <a:prstGeom prst="line">
            <a:avLst/>
          </a:prstGeom>
          <a:noFill/>
          <a:ln w="9525">
            <a:solidFill>
              <a:srgbClr val="DDE4EF"/>
            </a:solidFill>
            <a:prstDash val="solid"/>
          </a:ln>
        </p:spPr>
      </p:sp>
      <p:sp>
        <p:nvSpPr>
          <p:cNvPr id="16" name="Rectangle 15">
            <a:extLst>
              <a:ext uri="{FF2B5EF4-FFF2-40B4-BE49-F238E27FC236}">
                <a16:creationId xmlns:a16="http://schemas.microsoft.com/office/drawing/2014/main" id="{D04497FB-B6D0-4DBF-B2A8-66D871964312}"/>
              </a:ext>
            </a:extLst>
          </p:cNvPr>
          <p:cNvSpPr>
            <a:spLocks noGrp="1"/>
          </p:cNvSpPr>
          <p:nvPr/>
        </p:nvSpPr>
        <p:spPr>
          <a:xfrm>
            <a:off x="609600" y="3924300"/>
            <a:ext cx="514350" cy="342900"/>
          </a:xfrm>
          <a:prstGeom prst="rect">
            <a:avLst/>
          </a:prstGeom>
          <a:noFill/>
          <a:ln w="0">
            <a:noFill/>
            <a:prstDash val="solid"/>
          </a:ln>
        </p:spPr>
        <p:txBody>
          <a:bodyPr wrap="square" lIns="0" tIns="0" rIns="0" bIns="0" anchor="t">
            <a:normAutofit/>
          </a:bodyPr>
          <a:lstStyle>
            <a:defPPr algn="l">
              <a:defRPr sz="1575" b="1">
                <a:solidFill>
                  <a:srgbClr val="11A8A0"/>
                </a:solidFill>
                <a:latin typeface="Arial"/>
                <a:ea typeface="Arial"/>
                <a:cs typeface="Arial"/>
              </a:defRPr>
            </a:defPPr>
          </a:lstStyle>
          <a:p>
            <a:pPr algn="l">
              <a:defRPr sz="1575" b="1">
                <a:solidFill>
                  <a:srgbClr val="11A8A0"/>
                </a:solidFill>
                <a:latin typeface="Arial"/>
                <a:ea typeface="Arial"/>
                <a:cs typeface="Arial"/>
              </a:defRPr>
            </a:pPr>
            <a:r>
              <a:rPr sz="1575" b="1">
                <a:solidFill>
                  <a:srgbClr val="11A8A0"/>
                </a:solidFill>
                <a:latin typeface="Arial"/>
                <a:ea typeface="Arial"/>
                <a:cs typeface="Arial"/>
              </a:rPr>
              <a:t>03</a:t>
            </a:r>
          </a:p>
        </p:txBody>
      </p:sp>
      <p:sp>
        <p:nvSpPr>
          <p:cNvPr id="17" name="Rectangle 16">
            <a:extLst>
              <a:ext uri="{FF2B5EF4-FFF2-40B4-BE49-F238E27FC236}">
                <a16:creationId xmlns:a16="http://schemas.microsoft.com/office/drawing/2014/main" id="{118AB165-2FD8-4C14-98C4-A7A31BED8CBB}"/>
              </a:ext>
            </a:extLst>
          </p:cNvPr>
          <p:cNvSpPr>
            <a:spLocks noGrp="1"/>
          </p:cNvSpPr>
          <p:nvPr/>
        </p:nvSpPr>
        <p:spPr>
          <a:xfrm>
            <a:off x="1304925" y="3924300"/>
            <a:ext cx="2762250" cy="304800"/>
          </a:xfrm>
          <a:prstGeom prst="rect">
            <a:avLst/>
          </a:prstGeom>
          <a:noFill/>
          <a:ln w="0">
            <a:noFill/>
            <a:prstDash val="solid"/>
          </a:ln>
        </p:spPr>
        <p:txBody>
          <a:bodyPr wrap="square" lIns="0" tIns="0" rIns="0" bIns="0" anchor="t">
            <a:normAutofit/>
          </a:bodyPr>
          <a:lstStyle>
            <a:defPPr algn="l">
              <a:defRPr sz="1725" b="1">
                <a:solidFill>
                  <a:srgbClr val="102B4D"/>
                </a:solidFill>
                <a:latin typeface="Arial"/>
                <a:ea typeface="Arial"/>
                <a:cs typeface="Arial"/>
              </a:defRPr>
            </a:defPPr>
          </a:lstStyle>
          <a:p>
            <a:pPr algn="l">
              <a:defRPr sz="1725" b="1">
                <a:solidFill>
                  <a:srgbClr val="102B4D"/>
                </a:solidFill>
                <a:latin typeface="Arial"/>
                <a:ea typeface="Arial"/>
                <a:cs typeface="Arial"/>
              </a:defRPr>
            </a:pPr>
            <a:r>
              <a:rPr sz="1725" b="1">
                <a:solidFill>
                  <a:srgbClr val="102B4D"/>
                </a:solidFill>
                <a:latin typeface="Arial"/>
                <a:ea typeface="Arial"/>
                <a:cs typeface="Arial"/>
              </a:rPr>
              <a:t>More report filters</a:t>
            </a:r>
          </a:p>
        </p:txBody>
      </p:sp>
      <p:sp>
        <p:nvSpPr>
          <p:cNvPr id="18" name="Rectangle 17">
            <a:extLst>
              <a:ext uri="{FF2B5EF4-FFF2-40B4-BE49-F238E27FC236}">
                <a16:creationId xmlns:a16="http://schemas.microsoft.com/office/drawing/2014/main" id="{3ABCBC2C-30EE-42F9-9B3C-080CE44A47AA}"/>
              </a:ext>
            </a:extLst>
          </p:cNvPr>
          <p:cNvSpPr>
            <a:spLocks noGrp="1"/>
          </p:cNvSpPr>
          <p:nvPr/>
        </p:nvSpPr>
        <p:spPr>
          <a:xfrm>
            <a:off x="4095750" y="3924300"/>
            <a:ext cx="6667500" cy="45720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Filter summaries by date, category, or status.</a:t>
            </a:r>
          </a:p>
        </p:txBody>
      </p:sp>
      <p:sp>
        <p:nvSpPr>
          <p:cNvPr id="19" name="Straight Connector 18">
            <a:extLst>
              <a:ext uri="{FF2B5EF4-FFF2-40B4-BE49-F238E27FC236}">
                <a16:creationId xmlns:a16="http://schemas.microsoft.com/office/drawing/2014/main" id="{14BA4A3C-4E64-4A0F-8AE4-92DA45D4F196}"/>
              </a:ext>
            </a:extLst>
          </p:cNvPr>
          <p:cNvSpPr>
            <a:spLocks noGrp="1"/>
          </p:cNvSpPr>
          <p:nvPr/>
        </p:nvSpPr>
        <p:spPr>
          <a:xfrm>
            <a:off x="1304925" y="4505325"/>
            <a:ext cx="9525000" cy="9525"/>
          </a:xfrm>
          <a:prstGeom prst="line">
            <a:avLst/>
          </a:prstGeom>
          <a:noFill/>
          <a:ln w="9525">
            <a:solidFill>
              <a:srgbClr val="DDE4EF"/>
            </a:solidFill>
            <a:prstDash val="solid"/>
          </a:ln>
        </p:spPr>
      </p:sp>
      <p:sp>
        <p:nvSpPr>
          <p:cNvPr id="20" name="Rectangle 19">
            <a:extLst>
              <a:ext uri="{FF2B5EF4-FFF2-40B4-BE49-F238E27FC236}">
                <a16:creationId xmlns:a16="http://schemas.microsoft.com/office/drawing/2014/main" id="{6F74406F-56A7-4C3B-982C-E810BEEFFCDF}"/>
              </a:ext>
            </a:extLst>
          </p:cNvPr>
          <p:cNvSpPr>
            <a:spLocks noGrp="1"/>
          </p:cNvSpPr>
          <p:nvPr/>
        </p:nvSpPr>
        <p:spPr>
          <a:xfrm>
            <a:off x="609600" y="4791075"/>
            <a:ext cx="514350" cy="342900"/>
          </a:xfrm>
          <a:prstGeom prst="rect">
            <a:avLst/>
          </a:prstGeom>
          <a:noFill/>
          <a:ln w="0">
            <a:noFill/>
            <a:prstDash val="solid"/>
          </a:ln>
        </p:spPr>
        <p:txBody>
          <a:bodyPr wrap="square" lIns="0" tIns="0" rIns="0" bIns="0" anchor="t">
            <a:normAutofit/>
          </a:bodyPr>
          <a:lstStyle>
            <a:defPPr algn="l">
              <a:defRPr sz="1575" b="1">
                <a:solidFill>
                  <a:srgbClr val="F4BD54"/>
                </a:solidFill>
                <a:latin typeface="Arial"/>
                <a:ea typeface="Arial"/>
                <a:cs typeface="Arial"/>
              </a:defRPr>
            </a:defPPr>
          </a:lstStyle>
          <a:p>
            <a:pPr algn="l">
              <a:defRPr sz="1575" b="1">
                <a:solidFill>
                  <a:srgbClr val="F4BD54"/>
                </a:solidFill>
                <a:latin typeface="Arial"/>
                <a:ea typeface="Arial"/>
                <a:cs typeface="Arial"/>
              </a:defRPr>
            </a:pPr>
            <a:r>
              <a:rPr sz="1575" b="1">
                <a:solidFill>
                  <a:srgbClr val="F4BD54"/>
                </a:solidFill>
                <a:latin typeface="Arial"/>
                <a:ea typeface="Arial"/>
                <a:cs typeface="Arial"/>
              </a:rPr>
              <a:t>04</a:t>
            </a:r>
          </a:p>
        </p:txBody>
      </p:sp>
      <p:sp>
        <p:nvSpPr>
          <p:cNvPr id="21" name="Rectangle 20">
            <a:extLst>
              <a:ext uri="{FF2B5EF4-FFF2-40B4-BE49-F238E27FC236}">
                <a16:creationId xmlns:a16="http://schemas.microsoft.com/office/drawing/2014/main" id="{25AB269D-A6A1-4096-946E-D9E91830858F}"/>
              </a:ext>
            </a:extLst>
          </p:cNvPr>
          <p:cNvSpPr>
            <a:spLocks noGrp="1"/>
          </p:cNvSpPr>
          <p:nvPr/>
        </p:nvSpPr>
        <p:spPr>
          <a:xfrm>
            <a:off x="1304925" y="4791075"/>
            <a:ext cx="2762250" cy="304800"/>
          </a:xfrm>
          <a:prstGeom prst="rect">
            <a:avLst/>
          </a:prstGeom>
          <a:noFill/>
          <a:ln w="0">
            <a:noFill/>
            <a:prstDash val="solid"/>
          </a:ln>
        </p:spPr>
        <p:txBody>
          <a:bodyPr wrap="square" lIns="0" tIns="0" rIns="0" bIns="0" anchor="t">
            <a:normAutofit/>
          </a:bodyPr>
          <a:lstStyle>
            <a:defPPr algn="l">
              <a:defRPr sz="1725" b="1">
                <a:solidFill>
                  <a:srgbClr val="102B4D"/>
                </a:solidFill>
                <a:latin typeface="Arial"/>
                <a:ea typeface="Arial"/>
                <a:cs typeface="Arial"/>
              </a:defRPr>
            </a:defPPr>
          </a:lstStyle>
          <a:p>
            <a:pPr algn="l">
              <a:defRPr sz="1725" b="1">
                <a:solidFill>
                  <a:srgbClr val="102B4D"/>
                </a:solidFill>
                <a:latin typeface="Arial"/>
                <a:ea typeface="Arial"/>
                <a:cs typeface="Arial"/>
              </a:defRPr>
            </a:pPr>
            <a:r>
              <a:rPr sz="1725" b="1">
                <a:solidFill>
                  <a:srgbClr val="102B4D"/>
                </a:solidFill>
                <a:latin typeface="Arial"/>
                <a:ea typeface="Arial"/>
                <a:cs typeface="Arial"/>
              </a:rPr>
              <a:t>Deployment</a:t>
            </a:r>
          </a:p>
        </p:txBody>
      </p:sp>
      <p:sp>
        <p:nvSpPr>
          <p:cNvPr id="22" name="Rectangle 21">
            <a:extLst>
              <a:ext uri="{FF2B5EF4-FFF2-40B4-BE49-F238E27FC236}">
                <a16:creationId xmlns:a16="http://schemas.microsoft.com/office/drawing/2014/main" id="{D6C22F24-CB41-4888-984E-0D2ACB4F4F1F}"/>
              </a:ext>
            </a:extLst>
          </p:cNvPr>
          <p:cNvSpPr>
            <a:spLocks noGrp="1"/>
          </p:cNvSpPr>
          <p:nvPr/>
        </p:nvSpPr>
        <p:spPr>
          <a:xfrm>
            <a:off x="4095750" y="4791075"/>
            <a:ext cx="6667500" cy="457200"/>
          </a:xfrm>
          <a:prstGeom prst="rect">
            <a:avLst/>
          </a:prstGeom>
          <a:noFill/>
          <a:ln w="0">
            <a:noFill/>
            <a:prstDash val="solid"/>
          </a:ln>
        </p:spPr>
        <p:txBody>
          <a:bodyPr wrap="square" lIns="0" tIns="0" rIns="0" bIns="0" anchor="t">
            <a:normAutofit/>
          </a:bodyPr>
          <a:lstStyle>
            <a:defPPr algn="l">
              <a:defRPr sz="1350" b="0">
                <a:solidFill>
                  <a:srgbClr val="68778D"/>
                </a:solidFill>
                <a:latin typeface="Arial"/>
                <a:ea typeface="Arial"/>
                <a:cs typeface="Arial"/>
              </a:defRPr>
            </a:defPPr>
          </a:lstStyle>
          <a:p>
            <a:pPr algn="l">
              <a:defRPr sz="1350" b="0">
                <a:solidFill>
                  <a:srgbClr val="68778D"/>
                </a:solidFill>
                <a:latin typeface="Arial"/>
                <a:ea typeface="Arial"/>
                <a:cs typeface="Arial"/>
              </a:defRPr>
            </a:pPr>
            <a:r>
              <a:rPr sz="1350" b="0">
                <a:solidFill>
                  <a:srgbClr val="68778D"/>
                </a:solidFill>
                <a:latin typeface="Arial"/>
                <a:ea typeface="Arial"/>
                <a:cs typeface="Arial"/>
              </a:rPr>
              <a:t>Publish the app with production settings and backups.</a:t>
            </a:r>
          </a:p>
        </p:txBody>
      </p:sp>
    </p:spTree>
    <p:extLst>
      <p:ext uri="{BB962C8B-B14F-4D97-AF65-F5344CB8AC3E}">
        <p14:creationId xmlns:p14="http://schemas.microsoft.com/office/powerpoint/2010/main" val="1202696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B4D"/>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EC2E6E9-6F08-46BA-9496-EF5201E37DD8}"/>
              </a:ext>
            </a:extLst>
          </p:cNvPr>
          <p:cNvPicPr>
            <a:picLocks noChangeAspect="1"/>
          </p:cNvPicPr>
          <p:nvPr/>
        </p:nvPicPr>
        <p:blipFill>
          <a:blip r:embed="rId3"/>
          <a:stretch/>
        </p:blipFill>
        <p:spPr>
          <a:xfrm>
            <a:off x="724927" y="590550"/>
            <a:ext cx="455147" cy="571500"/>
          </a:xfrm>
          <a:prstGeom prst="rect">
            <a:avLst/>
          </a:prstGeom>
        </p:spPr>
      </p:pic>
      <p:sp>
        <p:nvSpPr>
          <p:cNvPr id="2" name="Rectangle 1">
            <a:extLst>
              <a:ext uri="{FF2B5EF4-FFF2-40B4-BE49-F238E27FC236}">
                <a16:creationId xmlns:a16="http://schemas.microsoft.com/office/drawing/2014/main" id="{357EFD17-8439-4AC9-8D00-DA875E064721}"/>
              </a:ext>
            </a:extLst>
          </p:cNvPr>
          <p:cNvSpPr>
            <a:spLocks noGrp="1"/>
          </p:cNvSpPr>
          <p:nvPr/>
        </p:nvSpPr>
        <p:spPr>
          <a:xfrm>
            <a:off x="1428750" y="752475"/>
            <a:ext cx="4286250" cy="190500"/>
          </a:xfrm>
          <a:prstGeom prst="rect">
            <a:avLst/>
          </a:prstGeom>
          <a:noFill/>
          <a:ln w="0">
            <a:noFill/>
            <a:prstDash val="solid"/>
          </a:ln>
        </p:spPr>
        <p:txBody>
          <a:bodyPr wrap="square" lIns="0" tIns="0" rIns="0" bIns="0" anchor="t">
            <a:normAutofit/>
          </a:bodyPr>
          <a:lstStyle>
            <a:defPPr algn="l">
              <a:defRPr sz="1050" b="1">
                <a:solidFill>
                  <a:srgbClr val="C8D8F2"/>
                </a:solidFill>
                <a:latin typeface="Arial"/>
                <a:ea typeface="Arial"/>
                <a:cs typeface="Arial"/>
              </a:defRPr>
            </a:defPPr>
          </a:lstStyle>
          <a:p>
            <a:pPr algn="l">
              <a:defRPr sz="1050" b="1">
                <a:solidFill>
                  <a:srgbClr val="C8D8F2"/>
                </a:solidFill>
                <a:latin typeface="Arial"/>
                <a:ea typeface="Arial"/>
                <a:cs typeface="Arial"/>
              </a:defRPr>
            </a:pPr>
            <a:r>
              <a:rPr sz="1050" b="1">
                <a:solidFill>
                  <a:srgbClr val="C8D8F2"/>
                </a:solidFill>
                <a:latin typeface="Arial"/>
                <a:ea typeface="Arial"/>
                <a:cs typeface="Arial"/>
              </a:rPr>
              <a:t>JSPM UNIVERSITY PUNE</a:t>
            </a:r>
          </a:p>
        </p:txBody>
      </p:sp>
      <p:sp>
        <p:nvSpPr>
          <p:cNvPr id="3" name="Rectangle 2">
            <a:extLst>
              <a:ext uri="{FF2B5EF4-FFF2-40B4-BE49-F238E27FC236}">
                <a16:creationId xmlns:a16="http://schemas.microsoft.com/office/drawing/2014/main" id="{29C1F4B2-7832-4ED3-9FF3-0425ADEFBD5E}"/>
              </a:ext>
            </a:extLst>
          </p:cNvPr>
          <p:cNvSpPr>
            <a:spLocks noGrp="1"/>
          </p:cNvSpPr>
          <p:nvPr/>
        </p:nvSpPr>
        <p:spPr>
          <a:xfrm>
            <a:off x="666750" y="1924050"/>
            <a:ext cx="4000500" cy="228600"/>
          </a:xfrm>
          <a:prstGeom prst="rect">
            <a:avLst/>
          </a:prstGeom>
          <a:noFill/>
          <a:ln w="0">
            <a:noFill/>
            <a:prstDash val="solid"/>
          </a:ln>
        </p:spPr>
        <p:txBody>
          <a:bodyPr wrap="square" lIns="0" tIns="0" rIns="0" bIns="0" anchor="t">
            <a:normAutofit/>
          </a:bodyPr>
          <a:lstStyle>
            <a:defPPr algn="l">
              <a:defRPr sz="1050" b="1">
                <a:solidFill>
                  <a:srgbClr val="F4BD54"/>
                </a:solidFill>
                <a:latin typeface="Arial"/>
                <a:ea typeface="Arial"/>
                <a:cs typeface="Arial"/>
              </a:defRPr>
            </a:defPPr>
          </a:lstStyle>
          <a:p>
            <a:pPr algn="l">
              <a:defRPr sz="1050" b="1">
                <a:solidFill>
                  <a:srgbClr val="F4BD54"/>
                </a:solidFill>
                <a:latin typeface="Arial"/>
                <a:ea typeface="Arial"/>
                <a:cs typeface="Arial"/>
              </a:defRPr>
            </a:pPr>
            <a:r>
              <a:rPr sz="1050" b="1">
                <a:solidFill>
                  <a:srgbClr val="F4BD54"/>
                </a:solidFill>
                <a:latin typeface="Arial"/>
                <a:ea typeface="Arial"/>
                <a:cs typeface="Arial"/>
              </a:rPr>
              <a:t>CONCLUSION</a:t>
            </a:r>
          </a:p>
        </p:txBody>
      </p:sp>
      <p:sp>
        <p:nvSpPr>
          <p:cNvPr id="4" name="Rectangle 3">
            <a:extLst>
              <a:ext uri="{FF2B5EF4-FFF2-40B4-BE49-F238E27FC236}">
                <a16:creationId xmlns:a16="http://schemas.microsoft.com/office/drawing/2014/main" id="{B14A066F-73F4-472D-AD81-6B6DD4491796}"/>
              </a:ext>
            </a:extLst>
          </p:cNvPr>
          <p:cNvSpPr>
            <a:spLocks noGrp="1"/>
          </p:cNvSpPr>
          <p:nvPr/>
        </p:nvSpPr>
        <p:spPr>
          <a:xfrm>
            <a:off x="666750" y="2343150"/>
            <a:ext cx="6762750" cy="1428750"/>
          </a:xfrm>
          <a:prstGeom prst="rect">
            <a:avLst/>
          </a:prstGeom>
          <a:noFill/>
          <a:ln w="0">
            <a:noFill/>
            <a:prstDash val="solid"/>
          </a:ln>
        </p:spPr>
        <p:txBody>
          <a:bodyPr wrap="square" lIns="0" tIns="0" rIns="0" bIns="0" anchor="t">
            <a:normAutofit/>
          </a:bodyPr>
          <a:lstStyle>
            <a:defPPr algn="l">
              <a:defRPr sz="4050" b="1">
                <a:solidFill>
                  <a:srgbClr val="FFFFFF"/>
                </a:solidFill>
                <a:latin typeface="Arial"/>
                <a:ea typeface="Arial"/>
                <a:cs typeface="Arial"/>
              </a:defRPr>
            </a:defPPr>
          </a:lstStyle>
          <a:p>
            <a:pPr algn="l">
              <a:lnSpc>
                <a:spcPct val="98000"/>
              </a:lnSpc>
              <a:buNone/>
              <a:defRPr sz="4050" b="1">
                <a:solidFill>
                  <a:srgbClr val="FFFFFF"/>
                </a:solidFill>
                <a:latin typeface="Arial"/>
                <a:ea typeface="Arial"/>
                <a:cs typeface="Arial"/>
              </a:defRPr>
            </a:pPr>
            <a:r>
              <a:rPr sz="4050" b="1">
                <a:solidFill>
                  <a:srgbClr val="FFFFFF"/>
                </a:solidFill>
                <a:latin typeface="Arial"/>
                <a:ea typeface="Arial"/>
                <a:cs typeface="Arial"/>
              </a:rPr>
              <a:t>One platform for</a:t>
            </a:r>
          </a:p>
          <a:p>
            <a:pPr algn="l">
              <a:lnSpc>
                <a:spcPct val="98000"/>
              </a:lnSpc>
              <a:buNone/>
              <a:defRPr sz="4050" b="1">
                <a:solidFill>
                  <a:srgbClr val="FFFFFF"/>
                </a:solidFill>
                <a:latin typeface="Arial"/>
                <a:ea typeface="Arial"/>
                <a:cs typeface="Arial"/>
              </a:defRPr>
            </a:pPr>
            <a:r>
              <a:rPr sz="4050" b="1">
                <a:solidFill>
                  <a:srgbClr val="FFFFFF"/>
                </a:solidFill>
                <a:latin typeface="Arial"/>
                <a:ea typeface="Arial"/>
                <a:cs typeface="Arial"/>
              </a:rPr>
              <a:t>campus participation</a:t>
            </a:r>
          </a:p>
        </p:txBody>
      </p:sp>
      <p:sp>
        <p:nvSpPr>
          <p:cNvPr id="5" name="Rectangle 4">
            <a:extLst>
              <a:ext uri="{FF2B5EF4-FFF2-40B4-BE49-F238E27FC236}">
                <a16:creationId xmlns:a16="http://schemas.microsoft.com/office/drawing/2014/main" id="{429141C2-3EDF-4BBC-AC54-1995591F2341}"/>
              </a:ext>
            </a:extLst>
          </p:cNvPr>
          <p:cNvSpPr>
            <a:spLocks noGrp="1"/>
          </p:cNvSpPr>
          <p:nvPr/>
        </p:nvSpPr>
        <p:spPr>
          <a:xfrm>
            <a:off x="666750" y="4095750"/>
            <a:ext cx="6477000" cy="990600"/>
          </a:xfrm>
          <a:prstGeom prst="rect">
            <a:avLst/>
          </a:prstGeom>
          <a:noFill/>
          <a:ln w="0">
            <a:noFill/>
            <a:prstDash val="solid"/>
          </a:ln>
        </p:spPr>
        <p:txBody>
          <a:bodyPr wrap="square" lIns="0" tIns="0" rIns="0" bIns="0" anchor="t">
            <a:normAutofit/>
          </a:bodyPr>
          <a:lstStyle>
            <a:defPPr algn="l">
              <a:defRPr sz="1650" b="0">
                <a:solidFill>
                  <a:srgbClr val="D5E0EF"/>
                </a:solidFill>
                <a:latin typeface="Arial"/>
                <a:ea typeface="Arial"/>
                <a:cs typeface="Arial"/>
              </a:defRPr>
            </a:defPPr>
          </a:lstStyle>
          <a:p>
            <a:pPr algn="l">
              <a:defRPr sz="1650" b="0">
                <a:solidFill>
                  <a:srgbClr val="D5E0EF"/>
                </a:solidFill>
                <a:latin typeface="Arial"/>
                <a:ea typeface="Arial"/>
                <a:cs typeface="Arial"/>
              </a:defRPr>
            </a:pPr>
            <a:r>
              <a:rPr sz="1650" b="0">
                <a:solidFill>
                  <a:srgbClr val="D5E0EF"/>
                </a:solidFill>
                <a:latin typeface="Arial"/>
                <a:ea typeface="Arial"/>
                <a:cs typeface="Arial"/>
              </a:rPr>
              <a:t>The project organizes event discovery, student registration, admin management, participant lists, and registration reporting through a Flask and MySQL application.</a:t>
            </a:r>
          </a:p>
        </p:txBody>
      </p:sp>
      <p:sp>
        <p:nvSpPr>
          <p:cNvPr id="6" name="Rectangle 5">
            <a:extLst>
              <a:ext uri="{FF2B5EF4-FFF2-40B4-BE49-F238E27FC236}">
                <a16:creationId xmlns:a16="http://schemas.microsoft.com/office/drawing/2014/main" id="{6FB09D26-69BE-44BD-A543-0543FF79C132}"/>
              </a:ext>
            </a:extLst>
          </p:cNvPr>
          <p:cNvSpPr>
            <a:spLocks noGrp="1"/>
          </p:cNvSpPr>
          <p:nvPr/>
        </p:nvSpPr>
        <p:spPr>
          <a:xfrm>
            <a:off x="666750" y="5467350"/>
            <a:ext cx="666750" cy="47625"/>
          </a:xfrm>
          <a:prstGeom prst="rect">
            <a:avLst/>
          </a:prstGeom>
          <a:solidFill>
            <a:srgbClr val="11A8A0"/>
          </a:solidFill>
          <a:ln w="0">
            <a:noFill/>
            <a:prstDash val="solid"/>
          </a:ln>
        </p:spPr>
      </p:sp>
      <p:sp>
        <p:nvSpPr>
          <p:cNvPr id="7" name="Rectangle 6">
            <a:extLst>
              <a:ext uri="{FF2B5EF4-FFF2-40B4-BE49-F238E27FC236}">
                <a16:creationId xmlns:a16="http://schemas.microsoft.com/office/drawing/2014/main" id="{38E0A1A1-5725-4184-9A65-485D041C218C}"/>
              </a:ext>
            </a:extLst>
          </p:cNvPr>
          <p:cNvSpPr>
            <a:spLocks noGrp="1"/>
          </p:cNvSpPr>
          <p:nvPr/>
        </p:nvSpPr>
        <p:spPr>
          <a:xfrm>
            <a:off x="666750" y="5743575"/>
            <a:ext cx="3143250" cy="495300"/>
          </a:xfrm>
          <a:prstGeom prst="rect">
            <a:avLst/>
          </a:prstGeom>
          <a:noFill/>
          <a:ln w="0">
            <a:noFill/>
            <a:prstDash val="solid"/>
          </a:ln>
        </p:spPr>
        <p:txBody>
          <a:bodyPr wrap="square" lIns="0" tIns="0" rIns="0" bIns="0" anchor="t">
            <a:normAutofit/>
          </a:bodyPr>
          <a:lstStyle>
            <a:defPPr algn="l">
              <a:defRPr sz="2400" b="1">
                <a:solidFill>
                  <a:srgbClr val="FFFFFF"/>
                </a:solidFill>
                <a:latin typeface="Arial"/>
                <a:ea typeface="Arial"/>
                <a:cs typeface="Arial"/>
              </a:defRPr>
            </a:defPPr>
          </a:lstStyle>
          <a:p>
            <a:pPr algn="l">
              <a:defRPr sz="2400" b="1">
                <a:solidFill>
                  <a:srgbClr val="FFFFFF"/>
                </a:solidFill>
                <a:latin typeface="Arial"/>
                <a:ea typeface="Arial"/>
                <a:cs typeface="Arial"/>
              </a:defRPr>
            </a:pPr>
            <a:r>
              <a:rPr sz="2400" b="1">
                <a:solidFill>
                  <a:srgbClr val="FFFFFF"/>
                </a:solidFill>
                <a:latin typeface="Arial"/>
                <a:ea typeface="Arial"/>
                <a:cs typeface="Arial"/>
              </a:rPr>
              <a:t>Thank you</a:t>
            </a:r>
          </a:p>
        </p:txBody>
      </p:sp>
      <p:pic>
        <p:nvPicPr>
          <p:cNvPr id="9" name="Picture 8">
            <a:extLst>
              <a:ext uri="{FF2B5EF4-FFF2-40B4-BE49-F238E27FC236}">
                <a16:creationId xmlns:a16="http://schemas.microsoft.com/office/drawing/2014/main" id="{A05A365F-6604-43C7-B7B6-7F731CC01DED}"/>
              </a:ext>
            </a:extLst>
          </p:cNvPr>
          <p:cNvPicPr>
            <a:picLocks noChangeAspect="1"/>
          </p:cNvPicPr>
          <p:nvPr/>
        </p:nvPicPr>
        <p:blipFill>
          <a:blip r:embed="rId4"/>
          <a:srcRect l="28735" r="28735"/>
          <a:stretch>
            <a:fillRect/>
          </a:stretch>
        </p:blipFill>
        <p:spPr>
          <a:xfrm>
            <a:off x="7810500" y="0"/>
            <a:ext cx="4381500" cy="6858000"/>
          </a:xfrm>
          <a:prstGeom prst="rect">
            <a:avLst/>
          </a:prstGeom>
        </p:spPr>
      </p:pic>
      <p:sp>
        <p:nvSpPr>
          <p:cNvPr id="10" name="Rectangle 9">
            <a:extLst>
              <a:ext uri="{FF2B5EF4-FFF2-40B4-BE49-F238E27FC236}">
                <a16:creationId xmlns:a16="http://schemas.microsoft.com/office/drawing/2014/main" id="{922D6075-0821-4E08-9BE4-0CB5307BC19A}"/>
              </a:ext>
            </a:extLst>
          </p:cNvPr>
          <p:cNvSpPr>
            <a:spLocks noGrp="1"/>
          </p:cNvSpPr>
          <p:nvPr/>
        </p:nvSpPr>
        <p:spPr>
          <a:xfrm>
            <a:off x="7810500" y="0"/>
            <a:ext cx="4381500" cy="6858000"/>
          </a:xfrm>
          <a:prstGeom prst="rect">
            <a:avLst/>
          </a:prstGeom>
          <a:solidFill>
            <a:srgbClr val="102B4D">
              <a:alpha val="22000"/>
            </a:srgbClr>
          </a:solidFill>
          <a:ln w="0">
            <a:noFill/>
            <a:prstDash val="solid"/>
          </a:ln>
        </p:spPr>
      </p:sp>
      <p:sp>
        <p:nvSpPr>
          <p:cNvPr id="11" name="Straight Connector 10">
            <a:extLst>
              <a:ext uri="{FF2B5EF4-FFF2-40B4-BE49-F238E27FC236}">
                <a16:creationId xmlns:a16="http://schemas.microsoft.com/office/drawing/2014/main" id="{219EB71A-F247-418A-B023-3E367D2B4834}"/>
              </a:ext>
            </a:extLst>
          </p:cNvPr>
          <p:cNvSpPr>
            <a:spLocks noGrp="1"/>
          </p:cNvSpPr>
          <p:nvPr/>
        </p:nvSpPr>
        <p:spPr>
          <a:xfrm>
            <a:off x="666750" y="6410325"/>
            <a:ext cx="10858500" cy="9525"/>
          </a:xfrm>
          <a:prstGeom prst="line">
            <a:avLst/>
          </a:prstGeom>
          <a:noFill/>
          <a:ln w="9525">
            <a:solidFill>
              <a:srgbClr val="49617E"/>
            </a:solidFill>
            <a:prstDash val="solid"/>
          </a:ln>
        </p:spPr>
      </p:sp>
      <p:sp>
        <p:nvSpPr>
          <p:cNvPr id="12" name="Rectangle 11">
            <a:extLst>
              <a:ext uri="{FF2B5EF4-FFF2-40B4-BE49-F238E27FC236}">
                <a16:creationId xmlns:a16="http://schemas.microsoft.com/office/drawing/2014/main" id="{F04CB1DA-3A0D-4FF9-8723-35DD9EDCF9A6}"/>
              </a:ext>
            </a:extLst>
          </p:cNvPr>
          <p:cNvSpPr>
            <a:spLocks noGrp="1"/>
          </p:cNvSpPr>
          <p:nvPr/>
        </p:nvSpPr>
        <p:spPr>
          <a:xfrm>
            <a:off x="666750" y="6553200"/>
            <a:ext cx="6667500" cy="171450"/>
          </a:xfrm>
          <a:prstGeom prst="rect">
            <a:avLst/>
          </a:prstGeom>
          <a:noFill/>
          <a:ln w="0">
            <a:noFill/>
            <a:prstDash val="solid"/>
          </a:ln>
        </p:spPr>
        <p:txBody>
          <a:bodyPr wrap="square" lIns="0" tIns="0" rIns="0" bIns="0" anchor="ctr">
            <a:normAutofit/>
          </a:bodyPr>
          <a:lstStyle>
            <a:defPPr algn="l">
              <a:defRPr sz="900" b="1">
                <a:solidFill>
                  <a:srgbClr val="C8D8F2"/>
                </a:solidFill>
                <a:latin typeface="Arial"/>
                <a:ea typeface="Arial"/>
                <a:cs typeface="Arial"/>
              </a:defRPr>
            </a:defPPr>
          </a:lstStyle>
          <a:p>
            <a:pPr algn="l">
              <a:defRPr sz="900" b="1">
                <a:solidFill>
                  <a:srgbClr val="C8D8F2"/>
                </a:solidFill>
                <a:latin typeface="Arial"/>
                <a:ea typeface="Arial"/>
                <a:cs typeface="Arial"/>
              </a:defRPr>
            </a:pPr>
            <a:r>
              <a:rPr sz="900" b="1" dirty="0">
                <a:solidFill>
                  <a:srgbClr val="C8D8F2"/>
                </a:solidFill>
                <a:latin typeface="Arial"/>
                <a:ea typeface="Arial"/>
                <a:cs typeface="Arial"/>
              </a:rPr>
              <a:t>JSPM UNIVERSITY PUNE  ·  </a:t>
            </a:r>
          </a:p>
        </p:txBody>
      </p:sp>
      <p:sp>
        <p:nvSpPr>
          <p:cNvPr id="13" name="Rectangle 12">
            <a:extLst>
              <a:ext uri="{FF2B5EF4-FFF2-40B4-BE49-F238E27FC236}">
                <a16:creationId xmlns:a16="http://schemas.microsoft.com/office/drawing/2014/main" id="{89671B75-D6A1-4CFC-B7BE-8FAA8E3C1D17}"/>
              </a:ext>
            </a:extLst>
          </p:cNvPr>
          <p:cNvSpPr>
            <a:spLocks noGrp="1"/>
          </p:cNvSpPr>
          <p:nvPr/>
        </p:nvSpPr>
        <p:spPr>
          <a:xfrm>
            <a:off x="11144250" y="6534150"/>
            <a:ext cx="381000" cy="190500"/>
          </a:xfrm>
          <a:prstGeom prst="rect">
            <a:avLst/>
          </a:prstGeom>
          <a:noFill/>
          <a:ln w="0">
            <a:noFill/>
            <a:prstDash val="solid"/>
          </a:ln>
        </p:spPr>
        <p:txBody>
          <a:bodyPr wrap="square" lIns="0" tIns="0" rIns="0" bIns="0" anchor="ctr">
            <a:normAutofit/>
          </a:bodyPr>
          <a:lstStyle>
            <a:defPPr algn="r">
              <a:defRPr sz="975" b="1">
                <a:solidFill>
                  <a:srgbClr val="F4BD54"/>
                </a:solidFill>
                <a:latin typeface="Arial"/>
                <a:ea typeface="Arial"/>
                <a:cs typeface="Arial"/>
              </a:defRPr>
            </a:defPPr>
          </a:lstStyle>
          <a:p>
            <a:pPr algn="r">
              <a:defRPr sz="975" b="1">
                <a:solidFill>
                  <a:srgbClr val="F4BD54"/>
                </a:solidFill>
                <a:latin typeface="Arial"/>
                <a:ea typeface="Arial"/>
                <a:cs typeface="Arial"/>
              </a:defRPr>
            </a:pPr>
            <a:r>
              <a:rPr sz="975" b="1">
                <a:solidFill>
                  <a:srgbClr val="F4BD54"/>
                </a:solidFill>
                <a:latin typeface="Arial"/>
                <a:ea typeface="Arial"/>
                <a:cs typeface="Arial"/>
              </a:rPr>
              <a:t>14</a:t>
            </a:r>
          </a:p>
        </p:txBody>
      </p:sp>
    </p:spTree>
    <p:extLst>
      <p:ext uri="{BB962C8B-B14F-4D97-AF65-F5344CB8AC3E}">
        <p14:creationId xmlns:p14="http://schemas.microsoft.com/office/powerpoint/2010/main" val="18919375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1693</Words>
  <Application>Microsoft Office PowerPoint</Application>
  <DocSecurity>0</DocSecurity>
  <PresentationFormat>Widescreen</PresentationFormat>
  <Paragraphs>254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Aaryan Ghadge</cp:lastModifiedBy>
  <cp:revision>1</cp:revision>
  <dcterms:created xsi:type="dcterms:W3CDTF">2026-10-15T20:05:40Z</dcterms:created>
  <dcterms:modified xsi:type="dcterms:W3CDTF">2026-10-15T20:09:38Z</dcterms:modified>
</cp:coreProperties>
</file>